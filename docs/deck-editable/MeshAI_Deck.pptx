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TEAM MAYNARDS · IQOO HACKATHON 2026 · DEVELOPER TOOLS</a:t>
            </a:r>
          </a:p>
        </p:txBody>
      </p:sp>
      <p:sp>
        <p:nvSpPr>
          <p:cNvPr id="4" name="TextBox 3"/>
          <p:cNvSpPr txBox="1"/>
          <p:nvPr/>
        </p:nvSpPr>
        <p:spPr>
          <a:xfrm>
            <a:off x="566928" y="2286000"/>
            <a:ext cx="8229600" cy="1097280"/>
          </a:xfrm>
          <a:prstGeom prst="rect">
            <a:avLst/>
          </a:prstGeom>
          <a:noFill/>
        </p:spPr>
        <p:txBody>
          <a:bodyPr wrap="square" anchor="t" lIns="0" rIns="0" tIns="0" bIns="0">
            <a:spAutoFit/>
          </a:bodyPr>
          <a:lstStyle/>
          <a:p>
            <a:pPr algn="l">
              <a:spcAft>
                <a:spcPts val="600"/>
              </a:spcAft>
            </a:pPr>
            <a:r>
              <a:rPr sz="6600" b="1">
                <a:solidFill>
                  <a:srgbClr val="F0EFE9"/>
                </a:solidFill>
                <a:latin typeface="Segoe UI"/>
              </a:rPr>
              <a:t>MeshAI</a:t>
            </a:r>
          </a:p>
        </p:txBody>
      </p:sp>
      <p:sp>
        <p:nvSpPr>
          <p:cNvPr id="5" name="TextBox 4"/>
          <p:cNvSpPr txBox="1"/>
          <p:nvPr/>
        </p:nvSpPr>
        <p:spPr>
          <a:xfrm>
            <a:off x="566928" y="3429000"/>
            <a:ext cx="7863840" cy="914400"/>
          </a:xfrm>
          <a:prstGeom prst="rect">
            <a:avLst/>
          </a:prstGeom>
          <a:noFill/>
        </p:spPr>
        <p:txBody>
          <a:bodyPr wrap="square" anchor="t" lIns="0" rIns="0" tIns="0" bIns="0">
            <a:spAutoFit/>
          </a:bodyPr>
          <a:lstStyle/>
          <a:p>
            <a:pPr algn="l">
              <a:lnSpc>
                <a:spcPct val="125000"/>
              </a:lnSpc>
              <a:spcAft>
                <a:spcPts val="600"/>
              </a:spcAft>
            </a:pPr>
            <a:r>
              <a:rPr sz="2400" b="0">
                <a:solidFill>
                  <a:srgbClr val="F0EFE9"/>
                </a:solidFill>
                <a:latin typeface="Segoe UI"/>
              </a:rPr>
              <a:t>Run big models on the devices you already own.</a:t>
            </a:r>
          </a:p>
        </p:txBody>
      </p:sp>
      <p:sp>
        <p:nvSpPr>
          <p:cNvPr id="6" name="TextBox 5"/>
          <p:cNvSpPr txBox="1"/>
          <p:nvPr/>
        </p:nvSpPr>
        <p:spPr>
          <a:xfrm>
            <a:off x="566928" y="4343400"/>
            <a:ext cx="9144000" cy="365760"/>
          </a:xfrm>
          <a:prstGeom prst="rect">
            <a:avLst/>
          </a:prstGeom>
          <a:noFill/>
        </p:spPr>
        <p:txBody>
          <a:bodyPr wrap="square" anchor="t" lIns="0" rIns="0" tIns="0" bIns="0">
            <a:spAutoFit/>
          </a:bodyPr>
          <a:lstStyle/>
          <a:p>
            <a:pPr algn="l">
              <a:spcAft>
                <a:spcPts val="600"/>
              </a:spcAft>
            </a:pPr>
            <a:r>
              <a:rPr sz="1600" b="0">
                <a:solidFill>
                  <a:srgbClr val="A8ACA1"/>
                </a:solidFill>
                <a:latin typeface="Segoe UI"/>
              </a:rPr>
              <a:t>A 30B model across one laptop and two phones. No cloud. No internet.</a:t>
            </a:r>
          </a:p>
        </p:txBody>
      </p:sp>
      <p:sp>
        <p:nvSpPr>
          <p:cNvPr id="7" name="Rounded Rectangle 6"/>
          <p:cNvSpPr/>
          <p:nvPr/>
        </p:nvSpPr>
        <p:spPr>
          <a:xfrm>
            <a:off x="566928" y="4983480"/>
            <a:ext cx="2148840" cy="4572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102352"/>
            <a:ext cx="2148840" cy="274320"/>
          </a:xfrm>
          <a:prstGeom prst="rect">
            <a:avLst/>
          </a:prstGeom>
          <a:noFill/>
        </p:spPr>
        <p:txBody>
          <a:bodyPr wrap="square" anchor="t" lIns="0" rIns="0" tIns="0" bIns="0">
            <a:spAutoFit/>
          </a:bodyPr>
          <a:lstStyle/>
          <a:p>
            <a:pPr algn="ctr">
              <a:spcAft>
                <a:spcPts val="600"/>
              </a:spcAft>
            </a:pPr>
            <a:r>
              <a:rPr sz="1300" b="0">
                <a:solidFill>
                  <a:srgbClr val="5FD68A"/>
                </a:solidFill>
                <a:latin typeface="Consolas"/>
              </a:rPr>
              <a:t>ready in 70 s</a:t>
            </a:r>
          </a:p>
        </p:txBody>
      </p:sp>
      <p:sp>
        <p:nvSpPr>
          <p:cNvPr id="9" name="Rounded Rectangle 8"/>
          <p:cNvSpPr/>
          <p:nvPr/>
        </p:nvSpPr>
        <p:spPr>
          <a:xfrm>
            <a:off x="2898648" y="4983480"/>
            <a:ext cx="2148840" cy="4572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5102352"/>
            <a:ext cx="2148840" cy="274320"/>
          </a:xfrm>
          <a:prstGeom prst="rect">
            <a:avLst/>
          </a:prstGeom>
          <a:noFill/>
        </p:spPr>
        <p:txBody>
          <a:bodyPr wrap="square" anchor="t" lIns="0" rIns="0" tIns="0" bIns="0">
            <a:spAutoFit/>
          </a:bodyPr>
          <a:lstStyle/>
          <a:p>
            <a:pPr algn="ctr">
              <a:spcAft>
                <a:spcPts val="600"/>
              </a:spcAft>
            </a:pPr>
            <a:r>
              <a:rPr sz="1300" b="0">
                <a:solidFill>
                  <a:srgbClr val="A8ACA1"/>
                </a:solidFill>
                <a:latin typeface="Consolas"/>
              </a:rPr>
              <a:t>6.6 tokens per second</a:t>
            </a:r>
          </a:p>
        </p:txBody>
      </p:sp>
      <p:sp>
        <p:nvSpPr>
          <p:cNvPr id="11" name="Rounded Rectangle 10"/>
          <p:cNvSpPr/>
          <p:nvPr/>
        </p:nvSpPr>
        <p:spPr>
          <a:xfrm>
            <a:off x="5230368" y="4983480"/>
            <a:ext cx="2148840" cy="4572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30368" y="5102352"/>
            <a:ext cx="2148840" cy="274320"/>
          </a:xfrm>
          <a:prstGeom prst="rect">
            <a:avLst/>
          </a:prstGeom>
          <a:noFill/>
        </p:spPr>
        <p:txBody>
          <a:bodyPr wrap="square" anchor="t" lIns="0" rIns="0" tIns="0" bIns="0">
            <a:spAutoFit/>
          </a:bodyPr>
          <a:lstStyle/>
          <a:p>
            <a:pPr algn="ctr">
              <a:spcAft>
                <a:spcPts val="600"/>
              </a:spcAft>
            </a:pPr>
            <a:r>
              <a:rPr sz="1300" b="0">
                <a:solidFill>
                  <a:srgbClr val="A8ACA1"/>
                </a:solidFill>
                <a:latin typeface="Consolas"/>
              </a:rPr>
              <a:t>4 KB per word</a:t>
            </a:r>
          </a:p>
        </p:txBody>
      </p:sp>
      <p:sp>
        <p:nvSpPr>
          <p:cNvPr id="13" name="Rounded Rectangle 12"/>
          <p:cNvSpPr/>
          <p:nvPr/>
        </p:nvSpPr>
        <p:spPr>
          <a:xfrm>
            <a:off x="7562087" y="4983480"/>
            <a:ext cx="2148840" cy="4572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62087" y="5102352"/>
            <a:ext cx="2148840" cy="274320"/>
          </a:xfrm>
          <a:prstGeom prst="rect">
            <a:avLst/>
          </a:prstGeom>
          <a:noFill/>
        </p:spPr>
        <p:txBody>
          <a:bodyPr wrap="square" anchor="t" lIns="0" rIns="0" tIns="0" bIns="0">
            <a:spAutoFit/>
          </a:bodyPr>
          <a:lstStyle/>
          <a:p>
            <a:pPr algn="ctr">
              <a:spcAft>
                <a:spcPts val="600"/>
              </a:spcAft>
            </a:pPr>
            <a:r>
              <a:rPr sz="1300" b="0">
                <a:solidFill>
                  <a:srgbClr val="A8ACA1"/>
                </a:solidFill>
                <a:latin typeface="Consolas"/>
              </a:rPr>
              <a:t>internet off</a:t>
            </a:r>
          </a:p>
        </p:txBody>
      </p:sp>
      <p:sp>
        <p:nvSpPr>
          <p:cNvPr id="15" name="TextBox 14"/>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Prajwal Gunnala · Yuva Raj Ambati</a:t>
            </a:r>
          </a:p>
        </p:txBody>
      </p:sp>
      <p:sp>
        <p:nvSpPr>
          <p:cNvPr id="16" name="TextBox 15"/>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27 September 2026</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01 · THE PROBLEM</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Your model has to fit in memory.</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If it does not fit, you cannot run it. So people run small models, and small models get it wrong.</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5391759" cy="35661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8716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A MODEL NEEDS</a:t>
            </a:r>
          </a:p>
        </p:txBody>
      </p:sp>
      <p:sp>
        <p:nvSpPr>
          <p:cNvPr id="9" name="TextBox 8"/>
          <p:cNvSpPr txBox="1"/>
          <p:nvPr/>
        </p:nvSpPr>
        <p:spPr>
          <a:xfrm>
            <a:off x="841248" y="2852928"/>
            <a:ext cx="3745839"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Qwen3 0.6B</a:t>
            </a:r>
          </a:p>
        </p:txBody>
      </p:sp>
      <p:sp>
        <p:nvSpPr>
          <p:cNvPr id="10" name="TextBox 9"/>
          <p:cNvSpPr txBox="1"/>
          <p:nvPr/>
        </p:nvSpPr>
        <p:spPr>
          <a:xfrm>
            <a:off x="4404207" y="2852928"/>
            <a:ext cx="1280160" cy="274320"/>
          </a:xfrm>
          <a:prstGeom prst="rect">
            <a:avLst/>
          </a:prstGeom>
          <a:noFill/>
        </p:spPr>
        <p:txBody>
          <a:bodyPr wrap="square" anchor="t" lIns="0" rIns="0" tIns="0" bIns="0">
            <a:spAutoFit/>
          </a:bodyPr>
          <a:lstStyle/>
          <a:p>
            <a:pPr algn="r">
              <a:spcAft>
                <a:spcPts val="600"/>
              </a:spcAft>
            </a:pPr>
            <a:r>
              <a:rPr sz="1500" b="0">
                <a:solidFill>
                  <a:srgbClr val="A8ACA1"/>
                </a:solidFill>
                <a:latin typeface="Consolas"/>
              </a:rPr>
              <a:t>0.64 GB</a:t>
            </a:r>
          </a:p>
        </p:txBody>
      </p:sp>
      <p:sp>
        <p:nvSpPr>
          <p:cNvPr id="11" name="TextBox 10"/>
          <p:cNvSpPr txBox="1"/>
          <p:nvPr/>
        </p:nvSpPr>
        <p:spPr>
          <a:xfrm>
            <a:off x="841248" y="3236976"/>
            <a:ext cx="3745839"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Qwen3 8B</a:t>
            </a:r>
          </a:p>
        </p:txBody>
      </p:sp>
      <p:sp>
        <p:nvSpPr>
          <p:cNvPr id="12" name="TextBox 11"/>
          <p:cNvSpPr txBox="1"/>
          <p:nvPr/>
        </p:nvSpPr>
        <p:spPr>
          <a:xfrm>
            <a:off x="4404207" y="3236976"/>
            <a:ext cx="1280160" cy="274320"/>
          </a:xfrm>
          <a:prstGeom prst="rect">
            <a:avLst/>
          </a:prstGeom>
          <a:noFill/>
        </p:spPr>
        <p:txBody>
          <a:bodyPr wrap="square" anchor="t" lIns="0" rIns="0" tIns="0" bIns="0">
            <a:spAutoFit/>
          </a:bodyPr>
          <a:lstStyle/>
          <a:p>
            <a:pPr algn="r">
              <a:spcAft>
                <a:spcPts val="600"/>
              </a:spcAft>
            </a:pPr>
            <a:r>
              <a:rPr sz="1500" b="0">
                <a:solidFill>
                  <a:srgbClr val="A8ACA1"/>
                </a:solidFill>
                <a:latin typeface="Consolas"/>
              </a:rPr>
              <a:t>4.7 GB</a:t>
            </a:r>
          </a:p>
        </p:txBody>
      </p:sp>
      <p:sp>
        <p:nvSpPr>
          <p:cNvPr id="13" name="TextBox 12"/>
          <p:cNvSpPr txBox="1"/>
          <p:nvPr/>
        </p:nvSpPr>
        <p:spPr>
          <a:xfrm>
            <a:off x="841248" y="3621024"/>
            <a:ext cx="3745839"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gpt-oss 20B</a:t>
            </a:r>
          </a:p>
        </p:txBody>
      </p:sp>
      <p:sp>
        <p:nvSpPr>
          <p:cNvPr id="14" name="TextBox 13"/>
          <p:cNvSpPr txBox="1"/>
          <p:nvPr/>
        </p:nvSpPr>
        <p:spPr>
          <a:xfrm>
            <a:off x="4404207" y="3621024"/>
            <a:ext cx="1280160" cy="274320"/>
          </a:xfrm>
          <a:prstGeom prst="rect">
            <a:avLst/>
          </a:prstGeom>
          <a:noFill/>
        </p:spPr>
        <p:txBody>
          <a:bodyPr wrap="square" anchor="t" lIns="0" rIns="0" tIns="0" bIns="0">
            <a:spAutoFit/>
          </a:bodyPr>
          <a:lstStyle/>
          <a:p>
            <a:pPr algn="r">
              <a:spcAft>
                <a:spcPts val="600"/>
              </a:spcAft>
            </a:pPr>
            <a:r>
              <a:rPr sz="1500" b="0">
                <a:solidFill>
                  <a:srgbClr val="A8ACA1"/>
                </a:solidFill>
                <a:latin typeface="Consolas"/>
              </a:rPr>
              <a:t>12.1 GB</a:t>
            </a:r>
          </a:p>
        </p:txBody>
      </p:sp>
      <p:sp>
        <p:nvSpPr>
          <p:cNvPr id="15" name="TextBox 14"/>
          <p:cNvSpPr txBox="1"/>
          <p:nvPr/>
        </p:nvSpPr>
        <p:spPr>
          <a:xfrm>
            <a:off x="841248" y="4005072"/>
            <a:ext cx="3745839" cy="274320"/>
          </a:xfrm>
          <a:prstGeom prst="rect">
            <a:avLst/>
          </a:prstGeom>
          <a:noFill/>
        </p:spPr>
        <p:txBody>
          <a:bodyPr wrap="square" anchor="t" lIns="0" rIns="0" tIns="0" bIns="0">
            <a:spAutoFit/>
          </a:bodyPr>
          <a:lstStyle/>
          <a:p>
            <a:pPr algn="l">
              <a:spcAft>
                <a:spcPts val="600"/>
              </a:spcAft>
            </a:pPr>
            <a:r>
              <a:rPr sz="1500" b="1">
                <a:solidFill>
                  <a:srgbClr val="5FD68A"/>
                </a:solidFill>
                <a:latin typeface="Segoe UI"/>
              </a:rPr>
              <a:t>Qwen3-Coder 30B</a:t>
            </a:r>
          </a:p>
        </p:txBody>
      </p:sp>
      <p:sp>
        <p:nvSpPr>
          <p:cNvPr id="16" name="TextBox 15"/>
          <p:cNvSpPr txBox="1"/>
          <p:nvPr/>
        </p:nvSpPr>
        <p:spPr>
          <a:xfrm>
            <a:off x="4404207" y="4005072"/>
            <a:ext cx="1280160" cy="274320"/>
          </a:xfrm>
          <a:prstGeom prst="rect">
            <a:avLst/>
          </a:prstGeom>
          <a:noFill/>
        </p:spPr>
        <p:txBody>
          <a:bodyPr wrap="square" anchor="t" lIns="0" rIns="0" tIns="0" bIns="0">
            <a:spAutoFit/>
          </a:bodyPr>
          <a:lstStyle/>
          <a:p>
            <a:pPr algn="r">
              <a:spcAft>
                <a:spcPts val="600"/>
              </a:spcAft>
            </a:pPr>
            <a:r>
              <a:rPr sz="1500" b="0">
                <a:solidFill>
                  <a:srgbClr val="5FD68A"/>
                </a:solidFill>
                <a:latin typeface="Consolas"/>
              </a:rPr>
              <a:t>18.6 GB</a:t>
            </a:r>
          </a:p>
        </p:txBody>
      </p:sp>
      <p:sp>
        <p:nvSpPr>
          <p:cNvPr id="17" name="TextBox 16"/>
          <p:cNvSpPr txBox="1"/>
          <p:nvPr/>
        </p:nvSpPr>
        <p:spPr>
          <a:xfrm>
            <a:off x="841248" y="4535424"/>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A DEVICE HAS FREE</a:t>
            </a:r>
          </a:p>
        </p:txBody>
      </p:sp>
      <p:sp>
        <p:nvSpPr>
          <p:cNvPr id="18" name="TextBox 17"/>
          <p:cNvSpPr txBox="1"/>
          <p:nvPr/>
        </p:nvSpPr>
        <p:spPr>
          <a:xfrm>
            <a:off x="841248" y="4901184"/>
            <a:ext cx="3745839"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 budget laptop</a:t>
            </a:r>
          </a:p>
        </p:txBody>
      </p:sp>
      <p:sp>
        <p:nvSpPr>
          <p:cNvPr id="19" name="TextBox 18"/>
          <p:cNvSpPr txBox="1"/>
          <p:nvPr/>
        </p:nvSpPr>
        <p:spPr>
          <a:xfrm>
            <a:off x="3855567" y="4901184"/>
            <a:ext cx="1828800" cy="274320"/>
          </a:xfrm>
          <a:prstGeom prst="rect">
            <a:avLst/>
          </a:prstGeom>
          <a:noFill/>
        </p:spPr>
        <p:txBody>
          <a:bodyPr wrap="square" anchor="t" lIns="0" rIns="0" tIns="0" bIns="0">
            <a:spAutoFit/>
          </a:bodyPr>
          <a:lstStyle/>
          <a:p>
            <a:pPr algn="r">
              <a:spcAft>
                <a:spcPts val="600"/>
              </a:spcAft>
            </a:pPr>
            <a:r>
              <a:rPr sz="1400" b="0">
                <a:solidFill>
                  <a:srgbClr val="A8ACA1"/>
                </a:solidFill>
                <a:latin typeface="Consolas"/>
              </a:rPr>
              <a:t>about 4 GB</a:t>
            </a:r>
          </a:p>
        </p:txBody>
      </p:sp>
      <p:sp>
        <p:nvSpPr>
          <p:cNvPr id="20" name="TextBox 19"/>
          <p:cNvSpPr txBox="1"/>
          <p:nvPr/>
        </p:nvSpPr>
        <p:spPr>
          <a:xfrm>
            <a:off x="841248" y="5230368"/>
            <a:ext cx="3745839"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One 16 GB phone</a:t>
            </a:r>
          </a:p>
        </p:txBody>
      </p:sp>
      <p:sp>
        <p:nvSpPr>
          <p:cNvPr id="21" name="TextBox 20"/>
          <p:cNvSpPr txBox="1"/>
          <p:nvPr/>
        </p:nvSpPr>
        <p:spPr>
          <a:xfrm>
            <a:off x="3855567" y="5230368"/>
            <a:ext cx="1828800" cy="274320"/>
          </a:xfrm>
          <a:prstGeom prst="rect">
            <a:avLst/>
          </a:prstGeom>
          <a:noFill/>
        </p:spPr>
        <p:txBody>
          <a:bodyPr wrap="square" anchor="t" lIns="0" rIns="0" tIns="0" bIns="0">
            <a:spAutoFit/>
          </a:bodyPr>
          <a:lstStyle/>
          <a:p>
            <a:pPr algn="r">
              <a:spcAft>
                <a:spcPts val="600"/>
              </a:spcAft>
            </a:pPr>
            <a:r>
              <a:rPr sz="1400" b="0">
                <a:solidFill>
                  <a:srgbClr val="A8ACA1"/>
                </a:solidFill>
                <a:latin typeface="Consolas"/>
              </a:rPr>
              <a:t>about 8.7 GB</a:t>
            </a:r>
          </a:p>
        </p:txBody>
      </p:sp>
      <p:sp>
        <p:nvSpPr>
          <p:cNvPr id="22" name="TextBox 21"/>
          <p:cNvSpPr txBox="1"/>
          <p:nvPr/>
        </p:nvSpPr>
        <p:spPr>
          <a:xfrm>
            <a:off x="841248" y="5559552"/>
            <a:ext cx="3745839" cy="274320"/>
          </a:xfrm>
          <a:prstGeom prst="rect">
            <a:avLst/>
          </a:prstGeom>
          <a:noFill/>
        </p:spPr>
        <p:txBody>
          <a:bodyPr wrap="square" anchor="t" lIns="0" rIns="0" tIns="0" bIns="0">
            <a:spAutoFit/>
          </a:bodyPr>
          <a:lstStyle/>
          <a:p>
            <a:pPr algn="l">
              <a:spcAft>
                <a:spcPts val="600"/>
              </a:spcAft>
            </a:pPr>
            <a:r>
              <a:rPr sz="1400" b="1">
                <a:solidFill>
                  <a:srgbClr val="5FD68A"/>
                </a:solidFill>
                <a:latin typeface="Segoe UI"/>
              </a:rPr>
              <a:t>The three together</a:t>
            </a:r>
          </a:p>
        </p:txBody>
      </p:sp>
      <p:sp>
        <p:nvSpPr>
          <p:cNvPr id="23" name="TextBox 22"/>
          <p:cNvSpPr txBox="1"/>
          <p:nvPr/>
        </p:nvSpPr>
        <p:spPr>
          <a:xfrm>
            <a:off x="3855567" y="5559552"/>
            <a:ext cx="1828800" cy="274320"/>
          </a:xfrm>
          <a:prstGeom prst="rect">
            <a:avLst/>
          </a:prstGeom>
          <a:noFill/>
        </p:spPr>
        <p:txBody>
          <a:bodyPr wrap="square" anchor="t" lIns="0" rIns="0" tIns="0" bIns="0">
            <a:spAutoFit/>
          </a:bodyPr>
          <a:lstStyle/>
          <a:p>
            <a:pPr algn="r">
              <a:spcAft>
                <a:spcPts val="600"/>
              </a:spcAft>
            </a:pPr>
            <a:r>
              <a:rPr sz="1400" b="0">
                <a:solidFill>
                  <a:srgbClr val="5FD68A"/>
                </a:solidFill>
                <a:latin typeface="Consolas"/>
              </a:rPr>
              <a:t>about 20 GB</a:t>
            </a:r>
          </a:p>
        </p:txBody>
      </p:sp>
      <p:sp>
        <p:nvSpPr>
          <p:cNvPr id="24" name="Rounded Rectangle 23"/>
          <p:cNvSpPr/>
          <p:nvPr/>
        </p:nvSpPr>
        <p:spPr>
          <a:xfrm>
            <a:off x="6233007" y="2249424"/>
            <a:ext cx="5391759" cy="35661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248716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SMALL MODELS GET IT WRONG</a:t>
            </a:r>
          </a:p>
        </p:txBody>
      </p:sp>
      <p:sp>
        <p:nvSpPr>
          <p:cNvPr id="26" name="TextBox 25"/>
          <p:cNvSpPr txBox="1"/>
          <p:nvPr/>
        </p:nvSpPr>
        <p:spPr>
          <a:xfrm>
            <a:off x="6507327" y="2798064"/>
            <a:ext cx="4843119" cy="457200"/>
          </a:xfrm>
          <a:prstGeom prst="rect">
            <a:avLst/>
          </a:prstGeom>
          <a:noFill/>
        </p:spPr>
        <p:txBody>
          <a:bodyPr wrap="square" anchor="t" lIns="0" rIns="0" tIns="0" bIns="0">
            <a:spAutoFit/>
          </a:bodyPr>
          <a:lstStyle/>
          <a:p>
            <a:pPr algn="l">
              <a:lnSpc>
                <a:spcPct val="130000"/>
              </a:lnSpc>
              <a:spcAft>
                <a:spcPts val="600"/>
              </a:spcAft>
            </a:pPr>
            <a:r>
              <a:rPr sz="1400" b="0">
                <a:solidFill>
                  <a:srgbClr val="A8ACA1"/>
                </a:solidFill>
                <a:latin typeface="Segoe UI"/>
              </a:rPr>
              <a:t>We asked three setups the same 15 coding problems and ran their answers against the tests.</a:t>
            </a:r>
          </a:p>
        </p:txBody>
      </p:sp>
      <p:sp>
        <p:nvSpPr>
          <p:cNvPr id="27" name="Rounded Rectangle 26"/>
          <p:cNvSpPr/>
          <p:nvPr/>
        </p:nvSpPr>
        <p:spPr>
          <a:xfrm>
            <a:off x="6690207" y="4700016"/>
            <a:ext cx="1051560" cy="384048"/>
          </a:xfrm>
          <a:prstGeom prst="roundRect">
            <a:avLst>
              <a:gd name="adj" fmla="val 18000"/>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90207" y="4389120"/>
            <a:ext cx="1051560" cy="274320"/>
          </a:xfrm>
          <a:prstGeom prst="rect">
            <a:avLst/>
          </a:prstGeom>
          <a:noFill/>
        </p:spPr>
        <p:txBody>
          <a:bodyPr wrap="square" anchor="t" lIns="0" rIns="0" tIns="0" bIns="0">
            <a:spAutoFit/>
          </a:bodyPr>
          <a:lstStyle/>
          <a:p>
            <a:pPr algn="ctr">
              <a:spcAft>
                <a:spcPts val="600"/>
              </a:spcAft>
            </a:pPr>
            <a:r>
              <a:rPr sz="1700" b="0">
                <a:solidFill>
                  <a:srgbClr val="71766C"/>
                </a:solidFill>
                <a:latin typeface="Consolas"/>
              </a:rPr>
              <a:t>13%</a:t>
            </a:r>
          </a:p>
        </p:txBody>
      </p:sp>
      <p:sp>
        <p:nvSpPr>
          <p:cNvPr id="29" name="TextBox 28"/>
          <p:cNvSpPr txBox="1"/>
          <p:nvPr/>
        </p:nvSpPr>
        <p:spPr>
          <a:xfrm>
            <a:off x="6690207" y="5175504"/>
            <a:ext cx="1051560" cy="457200"/>
          </a:xfrm>
          <a:prstGeom prst="rect">
            <a:avLst/>
          </a:prstGeom>
          <a:noFill/>
        </p:spPr>
        <p:txBody>
          <a:bodyPr wrap="square" anchor="t" lIns="0" rIns="0" tIns="0" bIns="0">
            <a:spAutoFit/>
          </a:bodyPr>
          <a:lstStyle/>
          <a:p>
            <a:pPr algn="ctr">
              <a:spcAft>
                <a:spcPts val="600"/>
              </a:spcAft>
            </a:pPr>
            <a:r>
              <a:rPr sz="1100" b="0">
                <a:solidFill>
                  <a:srgbClr val="71766C"/>
                </a:solidFill>
                <a:latin typeface="Consolas"/>
              </a:rPr>
              <a:t>0.6B  2 of 15</a:t>
            </a:r>
          </a:p>
        </p:txBody>
      </p:sp>
      <p:sp>
        <p:nvSpPr>
          <p:cNvPr id="30" name="Rounded Rectangle 29"/>
          <p:cNvSpPr/>
          <p:nvPr/>
        </p:nvSpPr>
        <p:spPr>
          <a:xfrm>
            <a:off x="8107526" y="3712464"/>
            <a:ext cx="1051560" cy="1371600"/>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07526" y="3401568"/>
            <a:ext cx="1051560" cy="274320"/>
          </a:xfrm>
          <a:prstGeom prst="rect">
            <a:avLst/>
          </a:prstGeom>
          <a:noFill/>
        </p:spPr>
        <p:txBody>
          <a:bodyPr wrap="square" anchor="t" lIns="0" rIns="0" tIns="0" bIns="0">
            <a:spAutoFit/>
          </a:bodyPr>
          <a:lstStyle/>
          <a:p>
            <a:pPr algn="ctr">
              <a:spcAft>
                <a:spcPts val="600"/>
              </a:spcAft>
            </a:pPr>
            <a:r>
              <a:rPr sz="1700" b="0">
                <a:solidFill>
                  <a:srgbClr val="5FD68A"/>
                </a:solidFill>
                <a:latin typeface="Consolas"/>
              </a:rPr>
              <a:t>47%</a:t>
            </a:r>
          </a:p>
        </p:txBody>
      </p:sp>
      <p:sp>
        <p:nvSpPr>
          <p:cNvPr id="32" name="TextBox 31"/>
          <p:cNvSpPr txBox="1"/>
          <p:nvPr/>
        </p:nvSpPr>
        <p:spPr>
          <a:xfrm>
            <a:off x="8107526" y="5175504"/>
            <a:ext cx="1051560" cy="457200"/>
          </a:xfrm>
          <a:prstGeom prst="rect">
            <a:avLst/>
          </a:prstGeom>
          <a:noFill/>
        </p:spPr>
        <p:txBody>
          <a:bodyPr wrap="square" anchor="t" lIns="0" rIns="0" tIns="0" bIns="0">
            <a:spAutoFit/>
          </a:bodyPr>
          <a:lstStyle/>
          <a:p>
            <a:pPr algn="ctr">
              <a:spcAft>
                <a:spcPts val="600"/>
              </a:spcAft>
            </a:pPr>
            <a:r>
              <a:rPr sz="1100" b="0">
                <a:solidFill>
                  <a:srgbClr val="71766C"/>
                </a:solidFill>
                <a:latin typeface="Consolas"/>
              </a:rPr>
              <a:t>1.7B  7 of 15</a:t>
            </a:r>
          </a:p>
        </p:txBody>
      </p:sp>
      <p:sp>
        <p:nvSpPr>
          <p:cNvPr id="33" name="Rounded Rectangle 32"/>
          <p:cNvSpPr/>
          <p:nvPr/>
        </p:nvSpPr>
        <p:spPr>
          <a:xfrm>
            <a:off x="9524847" y="3255264"/>
            <a:ext cx="1051560" cy="1828800"/>
          </a:xfrm>
          <a:prstGeom prst="roundRect">
            <a:avLst>
              <a:gd name="adj" fmla="val 4000"/>
            </a:avLst>
          </a:prstGeom>
          <a:solidFill>
            <a:srgbClr val="0B0C0B"/>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24847" y="2944368"/>
            <a:ext cx="1051560" cy="274320"/>
          </a:xfrm>
          <a:prstGeom prst="rect">
            <a:avLst/>
          </a:prstGeom>
          <a:noFill/>
        </p:spPr>
        <p:txBody>
          <a:bodyPr wrap="square" anchor="t" lIns="0" rIns="0" tIns="0" bIns="0">
            <a:spAutoFit/>
          </a:bodyPr>
          <a:lstStyle/>
          <a:p>
            <a:pPr algn="ctr">
              <a:spcAft>
                <a:spcPts val="600"/>
              </a:spcAft>
            </a:pPr>
            <a:r>
              <a:rPr sz="1700" b="0">
                <a:solidFill>
                  <a:srgbClr val="71766C"/>
                </a:solidFill>
                <a:latin typeface="Consolas"/>
              </a:rPr>
              <a:t>?</a:t>
            </a:r>
          </a:p>
        </p:txBody>
      </p:sp>
      <p:sp>
        <p:nvSpPr>
          <p:cNvPr id="35" name="TextBox 34"/>
          <p:cNvSpPr txBox="1"/>
          <p:nvPr/>
        </p:nvSpPr>
        <p:spPr>
          <a:xfrm>
            <a:off x="9524847" y="5175504"/>
            <a:ext cx="1051560" cy="457200"/>
          </a:xfrm>
          <a:prstGeom prst="rect">
            <a:avLst/>
          </a:prstGeom>
          <a:noFill/>
        </p:spPr>
        <p:txBody>
          <a:bodyPr wrap="square" anchor="t" lIns="0" rIns="0" tIns="0" bIns="0">
            <a:spAutoFit/>
          </a:bodyPr>
          <a:lstStyle/>
          <a:p>
            <a:pPr algn="ctr">
              <a:spcAft>
                <a:spcPts val="600"/>
              </a:spcAft>
            </a:pPr>
            <a:r>
              <a:rPr sz="1100" b="0">
                <a:solidFill>
                  <a:srgbClr val="71766C"/>
                </a:solidFill>
                <a:latin typeface="Consolas"/>
              </a:rPr>
              <a:t>30B  18.6 GB</a:t>
            </a:r>
          </a:p>
        </p:txBody>
      </p:sp>
      <p:sp>
        <p:nvSpPr>
          <p:cNvPr id="36" name="TextBox 35"/>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7" name="TextBox 36"/>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measured 27 September · results/REPORT.md</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02 · WHAT WE BUILT</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Put the devices together and run the big model.</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One device plans and answers. The others hold part of the model. Your tools do not change.</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24323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340864"/>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Phones and laptops in one cluster</a:t>
            </a:r>
          </a:p>
        </p:txBody>
      </p:sp>
      <p:sp>
        <p:nvSpPr>
          <p:cNvPr id="9" name="TextBox 8"/>
          <p:cNvSpPr txBox="1"/>
          <p:nvPr/>
        </p:nvSpPr>
        <p:spPr>
          <a:xfrm>
            <a:off x="804672" y="2551176"/>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any Android phone, any laptop, any GGUF model</a:t>
            </a:r>
          </a:p>
        </p:txBody>
      </p:sp>
      <p:sp>
        <p:nvSpPr>
          <p:cNvPr id="10" name="Rectangle 9"/>
          <p:cNvSpPr/>
          <p:nvPr/>
        </p:nvSpPr>
        <p:spPr>
          <a:xfrm>
            <a:off x="566928" y="299923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907792"/>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One device decides who holds what</a:t>
            </a:r>
          </a:p>
        </p:txBody>
      </p:sp>
      <p:sp>
        <p:nvSpPr>
          <p:cNvPr id="12" name="TextBox 11"/>
          <p:cNvSpPr txBox="1"/>
          <p:nvPr/>
        </p:nvSpPr>
        <p:spPr>
          <a:xfrm>
            <a:off x="804672" y="3118104"/>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it reads free memory, heat, battery and link speed</a:t>
            </a:r>
          </a:p>
        </p:txBody>
      </p:sp>
      <p:sp>
        <p:nvSpPr>
          <p:cNvPr id="13" name="Rectangle 12"/>
          <p:cNvSpPr/>
          <p:nvPr/>
        </p:nvSpPr>
        <p:spPr>
          <a:xfrm>
            <a:off x="566928" y="356616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74720"/>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Only about 4 KB crosses the cable per word</a:t>
            </a:r>
          </a:p>
        </p:txBody>
      </p:sp>
      <p:sp>
        <p:nvSpPr>
          <p:cNvPr id="15" name="TextBox 14"/>
          <p:cNvSpPr txBox="1"/>
          <p:nvPr/>
        </p:nvSpPr>
        <p:spPr>
          <a:xfrm>
            <a:off x="804672" y="3685032"/>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the 18.6 GB of weights never move</a:t>
            </a:r>
          </a:p>
        </p:txBody>
      </p:sp>
      <p:sp>
        <p:nvSpPr>
          <p:cNvPr id="16" name="Rectangle 15"/>
          <p:cNvSpPr/>
          <p:nvPr/>
        </p:nvSpPr>
        <p:spPr>
          <a:xfrm>
            <a:off x="566928" y="413308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041648"/>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It says no when a device would slow you down</a:t>
            </a:r>
          </a:p>
        </p:txBody>
      </p:sp>
      <p:sp>
        <p:nvSpPr>
          <p:cNvPr id="18" name="TextBox 17"/>
          <p:cNvSpPr txBox="1"/>
          <p:nvPr/>
        </p:nvSpPr>
        <p:spPr>
          <a:xfrm>
            <a:off x="804672" y="4251960"/>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in a sentence you can read</a:t>
            </a:r>
          </a:p>
        </p:txBody>
      </p:sp>
      <p:sp>
        <p:nvSpPr>
          <p:cNvPr id="19" name="Rectangle 18"/>
          <p:cNvSpPr/>
          <p:nvPr/>
        </p:nvSpPr>
        <p:spPr>
          <a:xfrm>
            <a:off x="566928" y="470001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608576"/>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Nothing leaves your devices</a:t>
            </a:r>
          </a:p>
        </p:txBody>
      </p:sp>
      <p:sp>
        <p:nvSpPr>
          <p:cNvPr id="21" name="TextBox 20"/>
          <p:cNvSpPr txBox="1"/>
          <p:nvPr/>
        </p:nvSpPr>
        <p:spPr>
          <a:xfrm>
            <a:off x="804672" y="4818888"/>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the demo runs with the internet off</a:t>
            </a:r>
          </a:p>
        </p:txBody>
      </p:sp>
      <p:sp>
        <p:nvSpPr>
          <p:cNvPr id="22" name="Rounded Rectangle 21"/>
          <p:cNvSpPr/>
          <p:nvPr/>
        </p:nvSpPr>
        <p:spPr>
          <a:xfrm>
            <a:off x="7516368" y="2340864"/>
            <a:ext cx="4108399" cy="292608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08976" y="2615184"/>
            <a:ext cx="3657600" cy="274320"/>
          </a:xfrm>
          <a:prstGeom prst="rect">
            <a:avLst/>
          </a:prstGeom>
          <a:noFill/>
        </p:spPr>
        <p:txBody>
          <a:bodyPr wrap="square" anchor="t" lIns="0" rIns="0" tIns="0" bIns="0">
            <a:spAutoFit/>
          </a:bodyPr>
          <a:lstStyle/>
          <a:p>
            <a:pPr algn="l">
              <a:spcAft>
                <a:spcPts val="600"/>
              </a:spcAft>
            </a:pPr>
            <a:r>
              <a:rPr sz="1100" b="0">
                <a:solidFill>
                  <a:srgbClr val="5FD68A"/>
                </a:solidFill>
                <a:latin typeface="Consolas"/>
              </a:rPr>
              <a:t>THE PHONE IS NOT AN ACCESSORY</a:t>
            </a:r>
          </a:p>
        </p:txBody>
      </p:sp>
      <p:sp>
        <p:nvSpPr>
          <p:cNvPr id="24" name="TextBox 23"/>
          <p:cNvSpPr txBox="1"/>
          <p:nvPr/>
        </p:nvSpPr>
        <p:spPr>
          <a:xfrm>
            <a:off x="7808976" y="2962656"/>
            <a:ext cx="3523183" cy="2011680"/>
          </a:xfrm>
          <a:prstGeom prst="rect">
            <a:avLst/>
          </a:prstGeom>
          <a:noFill/>
        </p:spPr>
        <p:txBody>
          <a:bodyPr wrap="square" anchor="t" lIns="0" rIns="0" tIns="0" bIns="0">
            <a:spAutoFit/>
          </a:bodyPr>
          <a:lstStyle/>
          <a:p>
            <a:pPr algn="l">
              <a:lnSpc>
                <a:spcPct val="135000"/>
              </a:lnSpc>
              <a:spcAft>
                <a:spcPts val="600"/>
              </a:spcAft>
            </a:pPr>
            <a:r>
              <a:rPr sz="1600" b="0">
                <a:solidFill>
                  <a:srgbClr val="F0EFE9"/>
                </a:solidFill>
                <a:latin typeface="Segoe UI"/>
              </a:rPr>
              <a:t>A phone can be the host: it plans the split, runs the model and answers.
Every other system treats a phone as a client that asks a server.</a:t>
            </a:r>
          </a:p>
        </p:txBody>
      </p:sp>
      <p:sp>
        <p:nvSpPr>
          <p:cNvPr id="25" name="TextBox 24"/>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26" name="TextBox 25"/>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one app · host role or helper role</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03 · WHAT YOU DO WITH IT</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Review your code before you commit.</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One tap on the phone. The answer comes from a 30B model running on your own devices.</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340864"/>
            <a:ext cx="2558719" cy="1143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2523744"/>
            <a:ext cx="2119807"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Your laptop</a:t>
            </a:r>
          </a:p>
        </p:txBody>
      </p:sp>
      <p:sp>
        <p:nvSpPr>
          <p:cNvPr id="9" name="TextBox 8"/>
          <p:cNvSpPr txBox="1"/>
          <p:nvPr/>
        </p:nvSpPr>
        <p:spPr>
          <a:xfrm>
            <a:off x="786384" y="2852928"/>
            <a:ext cx="2119807"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You change a file</a:t>
            </a:r>
          </a:p>
        </p:txBody>
      </p:sp>
      <p:sp>
        <p:nvSpPr>
          <p:cNvPr id="10" name="TextBox 9"/>
          <p:cNvSpPr txBox="1"/>
          <p:nvPr/>
        </p:nvSpPr>
        <p:spPr>
          <a:xfrm>
            <a:off x="3143935" y="2752344"/>
            <a:ext cx="237744" cy="274320"/>
          </a:xfrm>
          <a:prstGeom prst="rect">
            <a:avLst/>
          </a:prstGeom>
          <a:noFill/>
        </p:spPr>
        <p:txBody>
          <a:bodyPr wrap="square" anchor="t" lIns="0" rIns="0" tIns="0" bIns="0">
            <a:spAutoFit/>
          </a:bodyPr>
          <a:lstStyle/>
          <a:p>
            <a:pPr algn="ctr">
              <a:spcAft>
                <a:spcPts val="600"/>
              </a:spcAft>
            </a:pPr>
            <a:r>
              <a:rPr sz="1600" b="0">
                <a:solidFill>
                  <a:srgbClr val="5FD68A"/>
                </a:solidFill>
                <a:latin typeface="Segoe UI"/>
              </a:rPr>
              <a:t>→</a:t>
            </a:r>
          </a:p>
        </p:txBody>
      </p:sp>
      <p:sp>
        <p:nvSpPr>
          <p:cNvPr id="11" name="Rounded Rectangle 10"/>
          <p:cNvSpPr/>
          <p:nvPr/>
        </p:nvSpPr>
        <p:spPr>
          <a:xfrm>
            <a:off x="3399967" y="2340864"/>
            <a:ext cx="2558719" cy="1143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9423" y="2523744"/>
            <a:ext cx="2119807"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Your phone</a:t>
            </a:r>
          </a:p>
        </p:txBody>
      </p:sp>
      <p:sp>
        <p:nvSpPr>
          <p:cNvPr id="13" name="TextBox 12"/>
          <p:cNvSpPr txBox="1"/>
          <p:nvPr/>
        </p:nvSpPr>
        <p:spPr>
          <a:xfrm>
            <a:off x="3619423" y="2852928"/>
            <a:ext cx="2119807"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Tap: review my changes</a:t>
            </a:r>
          </a:p>
        </p:txBody>
      </p:sp>
      <p:sp>
        <p:nvSpPr>
          <p:cNvPr id="14" name="TextBox 13"/>
          <p:cNvSpPr txBox="1"/>
          <p:nvPr/>
        </p:nvSpPr>
        <p:spPr>
          <a:xfrm>
            <a:off x="5976975" y="2752344"/>
            <a:ext cx="237744" cy="274320"/>
          </a:xfrm>
          <a:prstGeom prst="rect">
            <a:avLst/>
          </a:prstGeom>
          <a:noFill/>
        </p:spPr>
        <p:txBody>
          <a:bodyPr wrap="square" anchor="t" lIns="0" rIns="0" tIns="0" bIns="0">
            <a:spAutoFit/>
          </a:bodyPr>
          <a:lstStyle/>
          <a:p>
            <a:pPr algn="ctr">
              <a:spcAft>
                <a:spcPts val="600"/>
              </a:spcAft>
            </a:pPr>
            <a:r>
              <a:rPr sz="1600" b="0">
                <a:solidFill>
                  <a:srgbClr val="5FD68A"/>
                </a:solidFill>
                <a:latin typeface="Segoe UI"/>
              </a:rPr>
              <a:t>→</a:t>
            </a:r>
          </a:p>
        </p:txBody>
      </p:sp>
      <p:sp>
        <p:nvSpPr>
          <p:cNvPr id="15" name="Rounded Rectangle 14"/>
          <p:cNvSpPr/>
          <p:nvPr/>
        </p:nvSpPr>
        <p:spPr>
          <a:xfrm>
            <a:off x="6233007" y="2340864"/>
            <a:ext cx="2558719" cy="1143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2463" y="2523744"/>
            <a:ext cx="2119807"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The mesh</a:t>
            </a:r>
          </a:p>
        </p:txBody>
      </p:sp>
      <p:sp>
        <p:nvSpPr>
          <p:cNvPr id="17" name="TextBox 16"/>
          <p:cNvSpPr txBox="1"/>
          <p:nvPr/>
        </p:nvSpPr>
        <p:spPr>
          <a:xfrm>
            <a:off x="6452463" y="2852928"/>
            <a:ext cx="2119807"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30B across three devices</a:t>
            </a:r>
          </a:p>
        </p:txBody>
      </p:sp>
      <p:sp>
        <p:nvSpPr>
          <p:cNvPr id="18" name="TextBox 17"/>
          <p:cNvSpPr txBox="1"/>
          <p:nvPr/>
        </p:nvSpPr>
        <p:spPr>
          <a:xfrm>
            <a:off x="8810015" y="2752344"/>
            <a:ext cx="237744" cy="274320"/>
          </a:xfrm>
          <a:prstGeom prst="rect">
            <a:avLst/>
          </a:prstGeom>
          <a:noFill/>
        </p:spPr>
        <p:txBody>
          <a:bodyPr wrap="square" anchor="t" lIns="0" rIns="0" tIns="0" bIns="0">
            <a:spAutoFit/>
          </a:bodyPr>
          <a:lstStyle/>
          <a:p>
            <a:pPr algn="ctr">
              <a:spcAft>
                <a:spcPts val="600"/>
              </a:spcAft>
            </a:pPr>
            <a:r>
              <a:rPr sz="1600" b="0">
                <a:solidFill>
                  <a:srgbClr val="5FD68A"/>
                </a:solidFill>
                <a:latin typeface="Segoe UI"/>
              </a:rPr>
              <a:t>→</a:t>
            </a:r>
          </a:p>
        </p:txBody>
      </p:sp>
      <p:sp>
        <p:nvSpPr>
          <p:cNvPr id="19" name="Rounded Rectangle 18"/>
          <p:cNvSpPr/>
          <p:nvPr/>
        </p:nvSpPr>
        <p:spPr>
          <a:xfrm>
            <a:off x="9066047" y="2340864"/>
            <a:ext cx="2558719" cy="11430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85503" y="2523744"/>
            <a:ext cx="2119807" cy="274320"/>
          </a:xfrm>
          <a:prstGeom prst="rect">
            <a:avLst/>
          </a:prstGeom>
          <a:noFill/>
        </p:spPr>
        <p:txBody>
          <a:bodyPr wrap="square" anchor="t" lIns="0" rIns="0" tIns="0" bIns="0">
            <a:spAutoFit/>
          </a:bodyPr>
          <a:lstStyle/>
          <a:p>
            <a:pPr algn="l">
              <a:spcAft>
                <a:spcPts val="600"/>
              </a:spcAft>
            </a:pPr>
            <a:r>
              <a:rPr sz="1400" b="1">
                <a:solidFill>
                  <a:srgbClr val="5FD68A"/>
                </a:solidFill>
                <a:latin typeface="Segoe UI"/>
              </a:rPr>
              <a:t>The review</a:t>
            </a:r>
          </a:p>
        </p:txBody>
      </p:sp>
      <p:sp>
        <p:nvSpPr>
          <p:cNvPr id="21" name="TextBox 20"/>
          <p:cNvSpPr txBox="1"/>
          <p:nvPr/>
        </p:nvSpPr>
        <p:spPr>
          <a:xfrm>
            <a:off x="9285503" y="2852928"/>
            <a:ext cx="2119807"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On your phone, in seconds</a:t>
            </a:r>
          </a:p>
        </p:txBody>
      </p:sp>
      <p:sp>
        <p:nvSpPr>
          <p:cNvPr id="22" name="Rounded Rectangle 21"/>
          <p:cNvSpPr/>
          <p:nvPr/>
        </p:nvSpPr>
        <p:spPr>
          <a:xfrm>
            <a:off x="566928" y="3803904"/>
            <a:ext cx="5391759" cy="2011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04164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WHY PEOPLE KEEP IT</a:t>
            </a:r>
          </a:p>
        </p:txBody>
      </p:sp>
      <p:sp>
        <p:nvSpPr>
          <p:cNvPr id="24" name="Rectangle 23"/>
          <p:cNvSpPr/>
          <p:nvPr/>
        </p:nvSpPr>
        <p:spPr>
          <a:xfrm>
            <a:off x="841248" y="449884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992" y="4407408"/>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It installs as a git hook, in one command</a:t>
            </a:r>
          </a:p>
        </p:txBody>
      </p:sp>
      <p:sp>
        <p:nvSpPr>
          <p:cNvPr id="26" name="Rectangle 25"/>
          <p:cNvSpPr/>
          <p:nvPr/>
        </p:nvSpPr>
        <p:spPr>
          <a:xfrm>
            <a:off x="841248" y="48828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2" y="479145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Every commit gets read before it lands</a:t>
            </a:r>
          </a:p>
        </p:txBody>
      </p:sp>
      <p:sp>
        <p:nvSpPr>
          <p:cNvPr id="28" name="Rectangle 27"/>
          <p:cNvSpPr/>
          <p:nvPr/>
        </p:nvSpPr>
        <p:spPr>
          <a:xfrm>
            <a:off x="841248" y="52669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78992" y="5175504"/>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No bill, however many times you run it</a:t>
            </a:r>
          </a:p>
        </p:txBody>
      </p:sp>
      <p:sp>
        <p:nvSpPr>
          <p:cNvPr id="30" name="Rounded Rectangle 29"/>
          <p:cNvSpPr/>
          <p:nvPr/>
        </p:nvSpPr>
        <p:spPr>
          <a:xfrm>
            <a:off x="6233007" y="3803904"/>
            <a:ext cx="5391759" cy="2011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07327" y="404164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AND IT NEVER LEAVES</a:t>
            </a:r>
          </a:p>
        </p:txBody>
      </p:sp>
      <p:sp>
        <p:nvSpPr>
          <p:cNvPr id="32" name="Rectangle 31"/>
          <p:cNvSpPr/>
          <p:nvPr/>
        </p:nvSpPr>
        <p:spPr>
          <a:xfrm>
            <a:off x="6507327" y="449884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45071" y="4407408"/>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Internet off. No account. No upload</a:t>
            </a:r>
          </a:p>
        </p:txBody>
      </p:sp>
      <p:sp>
        <p:nvSpPr>
          <p:cNvPr id="34" name="Rectangle 33"/>
          <p:cNvSpPr/>
          <p:nvPr/>
        </p:nvSpPr>
        <p:spPr>
          <a:xfrm>
            <a:off x="6507327" y="48828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45071" y="479145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The code stays on the desk it was written on</a:t>
            </a:r>
          </a:p>
        </p:txBody>
      </p:sp>
      <p:sp>
        <p:nvSpPr>
          <p:cNvPr id="36" name="Rectangle 35"/>
          <p:cNvSpPr/>
          <p:nvPr/>
        </p:nvSpPr>
        <p:spPr>
          <a:xfrm>
            <a:off x="6507327" y="52669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45071" y="5175504"/>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Also: review a file, or write its tests</a:t>
            </a:r>
          </a:p>
        </p:txBody>
      </p:sp>
      <p:sp>
        <p:nvSpPr>
          <p:cNvPr id="38" name="TextBox 37"/>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9" name="TextBox 38"/>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mesh review · mesh tests · mesh diff · git pre-commit hook</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04 · HOW IT WORKS</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One word goes through all 48 layers, then comes back.</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892808"/>
            <a:ext cx="4114800" cy="2651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84832"/>
            <a:ext cx="3657600" cy="274320"/>
          </a:xfrm>
          <a:prstGeom prst="rect">
            <a:avLst/>
          </a:prstGeom>
          <a:noFill/>
        </p:spPr>
        <p:txBody>
          <a:bodyPr wrap="square" anchor="t" lIns="0" rIns="0" tIns="0" bIns="0">
            <a:spAutoFit/>
          </a:bodyPr>
          <a:lstStyle/>
          <a:p>
            <a:pPr algn="l">
              <a:spcAft>
                <a:spcPts val="600"/>
              </a:spcAft>
            </a:pPr>
            <a:r>
              <a:rPr sz="1100" b="0">
                <a:solidFill>
                  <a:srgbClr val="5FD68A"/>
                </a:solidFill>
                <a:latin typeface="Consolas"/>
              </a:rPr>
              <a:t>THIS LAPTOP · THE HOST</a:t>
            </a:r>
          </a:p>
        </p:txBody>
      </p:sp>
      <p:sp>
        <p:nvSpPr>
          <p:cNvPr id="8" name="TextBox 7"/>
          <p:cNvSpPr txBox="1"/>
          <p:nvPr/>
        </p:nvSpPr>
        <p:spPr>
          <a:xfrm>
            <a:off x="804672" y="2414016"/>
            <a:ext cx="365760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Embeddings and output head stay here</a:t>
            </a:r>
          </a:p>
        </p:txBody>
      </p:sp>
      <p:sp>
        <p:nvSpPr>
          <p:cNvPr id="9" name="Rounded Rectangle 8"/>
          <p:cNvSpPr/>
          <p:nvPr/>
        </p:nvSpPr>
        <p:spPr>
          <a:xfrm>
            <a:off x="804672" y="2670048"/>
            <a:ext cx="3639312" cy="182880"/>
          </a:xfrm>
          <a:prstGeom prst="roundRect">
            <a:avLst>
              <a:gd name="adj" fmla="val 18000"/>
            </a:avLst>
          </a:prstGeom>
          <a:solidFill>
            <a:srgbClr val="2C5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990088"/>
            <a:ext cx="365760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Layers 0–22 · 9.19 GB</a:t>
            </a:r>
          </a:p>
        </p:txBody>
      </p:sp>
      <p:sp>
        <p:nvSpPr>
          <p:cNvPr id="11" name="Rounded Rectangle 10"/>
          <p:cNvSpPr/>
          <p:nvPr/>
        </p:nvSpPr>
        <p:spPr>
          <a:xfrm>
            <a:off x="80467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6194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1922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276500"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433776"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59105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74832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90560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062880"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220156"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37743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3470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69198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9260"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006536"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16381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32108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47836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635640"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792916"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395019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10746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6474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3813048"/>
            <a:ext cx="3657600" cy="457200"/>
          </a:xfrm>
          <a:prstGeom prst="rect">
            <a:avLst/>
          </a:prstGeom>
          <a:noFill/>
        </p:spPr>
        <p:txBody>
          <a:bodyPr wrap="square" anchor="t" lIns="0" rIns="0" tIns="0" bIns="0">
            <a:spAutoFit/>
          </a:bodyPr>
          <a:lstStyle/>
          <a:p>
            <a:pPr algn="l">
              <a:lnSpc>
                <a:spcPct val="130000"/>
              </a:lnSpc>
              <a:spcAft>
                <a:spcPts val="600"/>
              </a:spcAft>
            </a:pPr>
            <a:r>
              <a:rPr sz="1200" b="0">
                <a:solidFill>
                  <a:srgbClr val="71766C"/>
                </a:solidFill>
                <a:latin typeface="Segoe UI"/>
              </a:rPr>
              <a:t>Plans the split · serves one endpoint · reads the model file once</a:t>
            </a:r>
          </a:p>
        </p:txBody>
      </p:sp>
      <p:sp>
        <p:nvSpPr>
          <p:cNvPr id="35" name="Rounded Rectangle 34"/>
          <p:cNvSpPr/>
          <p:nvPr/>
        </p:nvSpPr>
        <p:spPr>
          <a:xfrm>
            <a:off x="5093208" y="1892808"/>
            <a:ext cx="1737360" cy="2651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76088" y="2084832"/>
            <a:ext cx="1371600" cy="274320"/>
          </a:xfrm>
          <a:prstGeom prst="rect">
            <a:avLst/>
          </a:prstGeom>
          <a:noFill/>
        </p:spPr>
        <p:txBody>
          <a:bodyPr wrap="square" anchor="t" lIns="0" rIns="0" tIns="0" bIns="0">
            <a:spAutoFit/>
          </a:bodyPr>
          <a:lstStyle/>
          <a:p>
            <a:pPr algn="l">
              <a:spcAft>
                <a:spcPts val="600"/>
              </a:spcAft>
            </a:pPr>
            <a:r>
              <a:rPr sz="1100" b="0">
                <a:solidFill>
                  <a:srgbClr val="A78BFA"/>
                </a:solidFill>
                <a:latin typeface="Consolas"/>
              </a:rPr>
              <a:t>A PHONE</a:t>
            </a:r>
          </a:p>
        </p:txBody>
      </p:sp>
      <p:sp>
        <p:nvSpPr>
          <p:cNvPr id="37" name="TextBox 36"/>
          <p:cNvSpPr txBox="1"/>
          <p:nvPr/>
        </p:nvSpPr>
        <p:spPr>
          <a:xfrm>
            <a:off x="5276088" y="2414016"/>
            <a:ext cx="137160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Layers 23–42</a:t>
            </a:r>
          </a:p>
        </p:txBody>
      </p:sp>
      <p:sp>
        <p:nvSpPr>
          <p:cNvPr id="38" name="TextBox 37"/>
          <p:cNvSpPr txBox="1"/>
          <p:nvPr/>
        </p:nvSpPr>
        <p:spPr>
          <a:xfrm>
            <a:off x="5276088" y="2651760"/>
            <a:ext cx="1371600"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7.53 GB</a:t>
            </a:r>
          </a:p>
        </p:txBody>
      </p:sp>
      <p:sp>
        <p:nvSpPr>
          <p:cNvPr id="39" name="Rounded Rectangle 38"/>
          <p:cNvSpPr/>
          <p:nvPr/>
        </p:nvSpPr>
        <p:spPr>
          <a:xfrm>
            <a:off x="5276088" y="2944368"/>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276088" y="3015691"/>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76088" y="3087014"/>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76088" y="3158337"/>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276088" y="3229660"/>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76088" y="3300983"/>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76088" y="3372306"/>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5276088" y="3443629"/>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76088" y="3514952"/>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76088" y="3586275"/>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276088" y="3657598"/>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276088" y="3728921"/>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76088" y="3800244"/>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5276088" y="3871567"/>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5276088" y="3942890"/>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276088" y="4014213"/>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276088" y="4085536"/>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5276088" y="4156859"/>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5276088" y="4228182"/>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276088" y="4299505"/>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276088" y="4151376"/>
            <a:ext cx="13716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keeps its layers</a:t>
            </a:r>
          </a:p>
        </p:txBody>
      </p:sp>
      <p:sp>
        <p:nvSpPr>
          <p:cNvPr id="60" name="Rounded Rectangle 59"/>
          <p:cNvSpPr/>
          <p:nvPr/>
        </p:nvSpPr>
        <p:spPr>
          <a:xfrm>
            <a:off x="7196328" y="1892808"/>
            <a:ext cx="1737360" cy="2651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79208" y="2084832"/>
            <a:ext cx="1371600" cy="274320"/>
          </a:xfrm>
          <a:prstGeom prst="rect">
            <a:avLst/>
          </a:prstGeom>
          <a:noFill/>
        </p:spPr>
        <p:txBody>
          <a:bodyPr wrap="square" anchor="t" lIns="0" rIns="0" tIns="0" bIns="0">
            <a:spAutoFit/>
          </a:bodyPr>
          <a:lstStyle/>
          <a:p>
            <a:pPr algn="l">
              <a:spcAft>
                <a:spcPts val="600"/>
              </a:spcAft>
            </a:pPr>
            <a:r>
              <a:rPr sz="1100" b="0">
                <a:solidFill>
                  <a:srgbClr val="A78BFA"/>
                </a:solidFill>
                <a:latin typeface="Consolas"/>
              </a:rPr>
              <a:t>A PHONE</a:t>
            </a:r>
          </a:p>
        </p:txBody>
      </p:sp>
      <p:sp>
        <p:nvSpPr>
          <p:cNvPr id="62" name="TextBox 61"/>
          <p:cNvSpPr txBox="1"/>
          <p:nvPr/>
        </p:nvSpPr>
        <p:spPr>
          <a:xfrm>
            <a:off x="7379208" y="2414016"/>
            <a:ext cx="137160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Layers 43–47</a:t>
            </a:r>
          </a:p>
        </p:txBody>
      </p:sp>
      <p:sp>
        <p:nvSpPr>
          <p:cNvPr id="63" name="TextBox 62"/>
          <p:cNvSpPr txBox="1"/>
          <p:nvPr/>
        </p:nvSpPr>
        <p:spPr>
          <a:xfrm>
            <a:off x="7379208" y="2651760"/>
            <a:ext cx="1371600"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2.04 GB</a:t>
            </a:r>
          </a:p>
        </p:txBody>
      </p:sp>
      <p:sp>
        <p:nvSpPr>
          <p:cNvPr id="64" name="Rounded Rectangle 63"/>
          <p:cNvSpPr/>
          <p:nvPr/>
        </p:nvSpPr>
        <p:spPr>
          <a:xfrm>
            <a:off x="7379208" y="2944368"/>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7379208" y="3015691"/>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7379208" y="3087014"/>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7379208" y="3158337"/>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7379208" y="3229660"/>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79208" y="4151376"/>
            <a:ext cx="13716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ready in 70 s</a:t>
            </a:r>
          </a:p>
        </p:txBody>
      </p:sp>
      <p:sp>
        <p:nvSpPr>
          <p:cNvPr id="70" name="Rounded Rectangle 69"/>
          <p:cNvSpPr/>
          <p:nvPr/>
        </p:nvSpPr>
        <p:spPr>
          <a:xfrm>
            <a:off x="9253728" y="1892808"/>
            <a:ext cx="2371039" cy="2651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509760" y="2121408"/>
            <a:ext cx="2377440" cy="274320"/>
          </a:xfrm>
          <a:prstGeom prst="rect">
            <a:avLst/>
          </a:prstGeom>
          <a:noFill/>
        </p:spPr>
        <p:txBody>
          <a:bodyPr wrap="square" anchor="t" lIns="0" rIns="0" tIns="0" bIns="0">
            <a:spAutoFit/>
          </a:bodyPr>
          <a:lstStyle/>
          <a:p>
            <a:pPr algn="l">
              <a:spcAft>
                <a:spcPts val="600"/>
              </a:spcAft>
            </a:pPr>
            <a:r>
              <a:rPr sz="1900" b="1">
                <a:solidFill>
                  <a:srgbClr val="F0EFE9"/>
                </a:solidFill>
                <a:latin typeface="Consolas"/>
              </a:rPr>
              <a:t>48 layers</a:t>
            </a:r>
          </a:p>
        </p:txBody>
      </p:sp>
      <p:sp>
        <p:nvSpPr>
          <p:cNvPr id="72" name="TextBox 71"/>
          <p:cNvSpPr txBox="1"/>
          <p:nvPr/>
        </p:nvSpPr>
        <p:spPr>
          <a:xfrm>
            <a:off x="9509760" y="2395728"/>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one pass, in order</a:t>
            </a:r>
          </a:p>
        </p:txBody>
      </p:sp>
      <p:sp>
        <p:nvSpPr>
          <p:cNvPr id="73" name="TextBox 72"/>
          <p:cNvSpPr txBox="1"/>
          <p:nvPr/>
        </p:nvSpPr>
        <p:spPr>
          <a:xfrm>
            <a:off x="9509760" y="2697480"/>
            <a:ext cx="2377440" cy="274320"/>
          </a:xfrm>
          <a:prstGeom prst="rect">
            <a:avLst/>
          </a:prstGeom>
          <a:noFill/>
        </p:spPr>
        <p:txBody>
          <a:bodyPr wrap="square" anchor="t" lIns="0" rIns="0" tIns="0" bIns="0">
            <a:spAutoFit/>
          </a:bodyPr>
          <a:lstStyle/>
          <a:p>
            <a:pPr algn="l">
              <a:spcAft>
                <a:spcPts val="600"/>
              </a:spcAft>
            </a:pPr>
            <a:r>
              <a:rPr sz="1900" b="1">
                <a:solidFill>
                  <a:srgbClr val="5FD68A"/>
                </a:solidFill>
                <a:latin typeface="Consolas"/>
              </a:rPr>
              <a:t>4 KB</a:t>
            </a:r>
          </a:p>
        </p:txBody>
      </p:sp>
      <p:sp>
        <p:nvSpPr>
          <p:cNvPr id="74" name="TextBox 73"/>
          <p:cNvSpPr txBox="1"/>
          <p:nvPr/>
        </p:nvSpPr>
        <p:spPr>
          <a:xfrm>
            <a:off x="9509760" y="2971800"/>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crosses each cable, per word</a:t>
            </a:r>
          </a:p>
        </p:txBody>
      </p:sp>
      <p:sp>
        <p:nvSpPr>
          <p:cNvPr id="75" name="TextBox 74"/>
          <p:cNvSpPr txBox="1"/>
          <p:nvPr/>
        </p:nvSpPr>
        <p:spPr>
          <a:xfrm>
            <a:off x="9509760" y="3273552"/>
            <a:ext cx="2377440" cy="274320"/>
          </a:xfrm>
          <a:prstGeom prst="rect">
            <a:avLst/>
          </a:prstGeom>
          <a:noFill/>
        </p:spPr>
        <p:txBody>
          <a:bodyPr wrap="square" anchor="t" lIns="0" rIns="0" tIns="0" bIns="0">
            <a:spAutoFit/>
          </a:bodyPr>
          <a:lstStyle/>
          <a:p>
            <a:pPr algn="l">
              <a:spcAft>
                <a:spcPts val="600"/>
              </a:spcAft>
            </a:pPr>
            <a:r>
              <a:rPr sz="1900" b="1">
                <a:solidFill>
                  <a:srgbClr val="F0EFE9"/>
                </a:solidFill>
                <a:latin typeface="Consolas"/>
              </a:rPr>
              <a:t>18.6 GB</a:t>
            </a:r>
          </a:p>
        </p:txBody>
      </p:sp>
      <p:sp>
        <p:nvSpPr>
          <p:cNvPr id="76" name="TextBox 75"/>
          <p:cNvSpPr txBox="1"/>
          <p:nvPr/>
        </p:nvSpPr>
        <p:spPr>
          <a:xfrm>
            <a:off x="9509760" y="3547872"/>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of weights never move</a:t>
            </a:r>
          </a:p>
        </p:txBody>
      </p:sp>
      <p:sp>
        <p:nvSpPr>
          <p:cNvPr id="77" name="TextBox 76"/>
          <p:cNvSpPr txBox="1"/>
          <p:nvPr/>
        </p:nvSpPr>
        <p:spPr>
          <a:xfrm>
            <a:off x="9509760" y="3849624"/>
            <a:ext cx="2377440" cy="274320"/>
          </a:xfrm>
          <a:prstGeom prst="rect">
            <a:avLst/>
          </a:prstGeom>
          <a:noFill/>
        </p:spPr>
        <p:txBody>
          <a:bodyPr wrap="square" anchor="t" lIns="0" rIns="0" tIns="0" bIns="0">
            <a:spAutoFit/>
          </a:bodyPr>
          <a:lstStyle/>
          <a:p>
            <a:pPr algn="l">
              <a:spcAft>
                <a:spcPts val="600"/>
              </a:spcAft>
            </a:pPr>
            <a:r>
              <a:rPr sz="1900" b="1">
                <a:solidFill>
                  <a:srgbClr val="F0EFE9"/>
                </a:solidFill>
                <a:latin typeface="Consolas"/>
              </a:rPr>
              <a:t>2–3 ms</a:t>
            </a:r>
          </a:p>
        </p:txBody>
      </p:sp>
      <p:sp>
        <p:nvSpPr>
          <p:cNvPr id="78" name="TextBox 77"/>
          <p:cNvSpPr txBox="1"/>
          <p:nvPr/>
        </p:nvSpPr>
        <p:spPr>
          <a:xfrm>
            <a:off x="9509760" y="4123944"/>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over the USB cable</a:t>
            </a:r>
          </a:p>
        </p:txBody>
      </p:sp>
      <p:sp>
        <p:nvSpPr>
          <p:cNvPr id="79" name="Rounded Rectangle 78"/>
          <p:cNvSpPr/>
          <p:nvPr/>
        </p:nvSpPr>
        <p:spPr>
          <a:xfrm>
            <a:off x="566928" y="4727448"/>
            <a:ext cx="3503066" cy="868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86384" y="4892040"/>
            <a:ext cx="3064154"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The host decides</a:t>
            </a:r>
          </a:p>
        </p:txBody>
      </p:sp>
      <p:sp>
        <p:nvSpPr>
          <p:cNvPr id="81" name="TextBox 80"/>
          <p:cNvSpPr txBox="1"/>
          <p:nvPr/>
        </p:nvSpPr>
        <p:spPr>
          <a:xfrm>
            <a:off x="786384" y="5184648"/>
            <a:ext cx="3064154" cy="365760"/>
          </a:xfrm>
          <a:prstGeom prst="rect">
            <a:avLst/>
          </a:prstGeom>
          <a:noFill/>
        </p:spPr>
        <p:txBody>
          <a:bodyPr wrap="square" anchor="t" lIns="0" rIns="0" tIns="0" bIns="0">
            <a:spAutoFit/>
          </a:bodyPr>
          <a:lstStyle/>
          <a:p>
            <a:pPr algn="l">
              <a:lnSpc>
                <a:spcPct val="125000"/>
              </a:lnSpc>
              <a:spcAft>
                <a:spcPts val="600"/>
              </a:spcAft>
            </a:pPr>
            <a:r>
              <a:rPr sz="1200" b="0">
                <a:solidFill>
                  <a:srgbClr val="71766C"/>
                </a:solidFill>
                <a:latin typeface="Segoe UI"/>
              </a:rPr>
              <a:t>from live memory, heat, battery and link speed</a:t>
            </a:r>
          </a:p>
        </p:txBody>
      </p:sp>
      <p:sp>
        <p:nvSpPr>
          <p:cNvPr id="82" name="Rounded Rectangle 81"/>
          <p:cNvSpPr/>
          <p:nvPr/>
        </p:nvSpPr>
        <p:spPr>
          <a:xfrm>
            <a:off x="4344314" y="4727448"/>
            <a:ext cx="3503066" cy="868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63770" y="4892040"/>
            <a:ext cx="3064154"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The phone never sees your prompt</a:t>
            </a:r>
          </a:p>
        </p:txBody>
      </p:sp>
      <p:sp>
        <p:nvSpPr>
          <p:cNvPr id="84" name="TextBox 83"/>
          <p:cNvSpPr txBox="1"/>
          <p:nvPr/>
        </p:nvSpPr>
        <p:spPr>
          <a:xfrm>
            <a:off x="4563770" y="5184648"/>
            <a:ext cx="3064154" cy="365760"/>
          </a:xfrm>
          <a:prstGeom prst="rect">
            <a:avLst/>
          </a:prstGeom>
          <a:noFill/>
        </p:spPr>
        <p:txBody>
          <a:bodyPr wrap="square" anchor="t" lIns="0" rIns="0" tIns="0" bIns="0">
            <a:spAutoFit/>
          </a:bodyPr>
          <a:lstStyle/>
          <a:p>
            <a:pPr algn="l">
              <a:lnSpc>
                <a:spcPct val="125000"/>
              </a:lnSpc>
              <a:spcAft>
                <a:spcPts val="600"/>
              </a:spcAft>
            </a:pPr>
            <a:r>
              <a:rPr sz="1200" b="0">
                <a:solidFill>
                  <a:srgbClr val="71766C"/>
                </a:solidFill>
                <a:latin typeface="Segoe UI"/>
              </a:rPr>
              <a:t>it gets numbers, computes, sends numbers back</a:t>
            </a:r>
          </a:p>
        </p:txBody>
      </p:sp>
      <p:sp>
        <p:nvSpPr>
          <p:cNvPr id="85" name="Rounded Rectangle 84"/>
          <p:cNvSpPr/>
          <p:nvPr/>
        </p:nvSpPr>
        <p:spPr>
          <a:xfrm>
            <a:off x="8121700" y="4727448"/>
            <a:ext cx="3503066" cy="868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41156" y="4892040"/>
            <a:ext cx="3064154"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The head stays home</a:t>
            </a:r>
          </a:p>
        </p:txBody>
      </p:sp>
      <p:sp>
        <p:nvSpPr>
          <p:cNvPr id="87" name="TextBox 86"/>
          <p:cNvSpPr txBox="1"/>
          <p:nvPr/>
        </p:nvSpPr>
        <p:spPr>
          <a:xfrm>
            <a:off x="8341156" y="5184648"/>
            <a:ext cx="3064154" cy="365760"/>
          </a:xfrm>
          <a:prstGeom prst="rect">
            <a:avLst/>
          </a:prstGeom>
          <a:noFill/>
        </p:spPr>
        <p:txBody>
          <a:bodyPr wrap="square" anchor="t" lIns="0" rIns="0" tIns="0" bIns="0">
            <a:spAutoFit/>
          </a:bodyPr>
          <a:lstStyle/>
          <a:p>
            <a:pPr algn="l">
              <a:lnSpc>
                <a:spcPct val="125000"/>
              </a:lnSpc>
              <a:spcAft>
                <a:spcPts val="600"/>
              </a:spcAft>
            </a:pPr>
            <a:r>
              <a:rPr sz="1200" b="0">
                <a:solidFill>
                  <a:srgbClr val="71766C"/>
                </a:solidFill>
                <a:latin typeface="Segoe UI"/>
              </a:rPr>
              <a:t>which is why only kilobytes cross</a:t>
            </a:r>
          </a:p>
        </p:txBody>
      </p:sp>
      <p:sp>
        <p:nvSpPr>
          <p:cNvPr id="88" name="TextBox 87"/>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89" name="TextBox 88"/>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the configuration we measured on 27 September</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05 · WHAT WE FIXED</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Three things made it slow. We fixed all three.</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847088"/>
            <a:ext cx="3503066" cy="2286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48256"/>
            <a:ext cx="2991002" cy="274320"/>
          </a:xfrm>
          <a:prstGeom prst="rect">
            <a:avLst/>
          </a:prstGeom>
          <a:noFill/>
        </p:spPr>
        <p:txBody>
          <a:bodyPr wrap="square" anchor="t" lIns="0" rIns="0" tIns="0" bIns="0">
            <a:spAutoFit/>
          </a:bodyPr>
          <a:lstStyle/>
          <a:p>
            <a:pPr algn="l">
              <a:spcAft>
                <a:spcPts val="600"/>
              </a:spcAft>
            </a:pPr>
            <a:r>
              <a:rPr sz="1400" b="0">
                <a:solidFill>
                  <a:srgbClr val="71766C"/>
                </a:solidFill>
                <a:latin typeface="Segoe UI"/>
              </a:rPr>
              <a:t>Loading the model</a:t>
            </a:r>
          </a:p>
        </p:txBody>
      </p:sp>
      <p:sp>
        <p:nvSpPr>
          <p:cNvPr id="8" name="TextBox 7"/>
          <p:cNvSpPr txBox="1"/>
          <p:nvPr/>
        </p:nvSpPr>
        <p:spPr>
          <a:xfrm>
            <a:off x="822960" y="2377440"/>
            <a:ext cx="2991002" cy="457200"/>
          </a:xfrm>
          <a:prstGeom prst="rect">
            <a:avLst/>
          </a:prstGeom>
          <a:noFill/>
        </p:spPr>
        <p:txBody>
          <a:bodyPr wrap="square" anchor="t" lIns="0" rIns="0" tIns="0" bIns="0">
            <a:spAutoFit/>
          </a:bodyPr>
          <a:lstStyle/>
          <a:p>
            <a:pPr algn="l">
              <a:spcAft>
                <a:spcPts val="0"/>
              </a:spcAft>
            </a:pPr>
            <a:r>
              <a:rPr sz="2600" b="1">
                <a:solidFill>
                  <a:srgbClr val="71766C"/>
                </a:solidFill>
                <a:latin typeface="Consolas"/>
              </a:rPr>
              <a:t>517 s  </a:t>
            </a:r>
          </a:p>
          <a:p>
            <a:pPr algn="l">
              <a:spcAft>
                <a:spcPts val="0"/>
              </a:spcAft>
            </a:pPr>
            <a:r>
              <a:rPr sz="2600" b="1">
                <a:solidFill>
                  <a:srgbClr val="5FD68A"/>
                </a:solidFill>
                <a:latin typeface="Consolas"/>
              </a:rPr>
              <a:t>→ 70 s</a:t>
            </a:r>
          </a:p>
        </p:txBody>
      </p:sp>
      <p:sp>
        <p:nvSpPr>
          <p:cNvPr id="9" name="TextBox 8"/>
          <p:cNvSpPr txBox="1"/>
          <p:nvPr/>
        </p:nvSpPr>
        <p:spPr>
          <a:xfrm>
            <a:off x="822960" y="2990088"/>
            <a:ext cx="2991002" cy="91440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It was reading the file in scattered pieces. Now it reads it once, start to finish.</a:t>
            </a:r>
          </a:p>
        </p:txBody>
      </p:sp>
      <p:sp>
        <p:nvSpPr>
          <p:cNvPr id="10" name="Rounded Rectangle 9"/>
          <p:cNvSpPr/>
          <p:nvPr/>
        </p:nvSpPr>
        <p:spPr>
          <a:xfrm>
            <a:off x="4344314" y="1847088"/>
            <a:ext cx="3503066" cy="2286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2048256"/>
            <a:ext cx="2991002" cy="274320"/>
          </a:xfrm>
          <a:prstGeom prst="rect">
            <a:avLst/>
          </a:prstGeom>
          <a:noFill/>
        </p:spPr>
        <p:txBody>
          <a:bodyPr wrap="square" anchor="t" lIns="0" rIns="0" tIns="0" bIns="0">
            <a:spAutoFit/>
          </a:bodyPr>
          <a:lstStyle/>
          <a:p>
            <a:pPr algn="l">
              <a:spcAft>
                <a:spcPts val="600"/>
              </a:spcAft>
            </a:pPr>
            <a:r>
              <a:rPr sz="1400" b="0">
                <a:solidFill>
                  <a:srgbClr val="71766C"/>
                </a:solidFill>
                <a:latin typeface="Segoe UI"/>
              </a:rPr>
              <a:t>A split it has not used</a:t>
            </a:r>
          </a:p>
        </p:txBody>
      </p:sp>
      <p:sp>
        <p:nvSpPr>
          <p:cNvPr id="12" name="TextBox 11"/>
          <p:cNvSpPr txBox="1"/>
          <p:nvPr/>
        </p:nvSpPr>
        <p:spPr>
          <a:xfrm>
            <a:off x="4600346" y="2377440"/>
            <a:ext cx="2991002" cy="457200"/>
          </a:xfrm>
          <a:prstGeom prst="rect">
            <a:avLst/>
          </a:prstGeom>
          <a:noFill/>
        </p:spPr>
        <p:txBody>
          <a:bodyPr wrap="square" anchor="t" lIns="0" rIns="0" tIns="0" bIns="0">
            <a:spAutoFit/>
          </a:bodyPr>
          <a:lstStyle/>
          <a:p>
            <a:pPr algn="l">
              <a:spcAft>
                <a:spcPts val="0"/>
              </a:spcAft>
            </a:pPr>
            <a:r>
              <a:rPr sz="2600" b="1">
                <a:solidFill>
                  <a:srgbClr val="71766C"/>
                </a:solidFill>
                <a:latin typeface="Consolas"/>
              </a:rPr>
              <a:t>437 s  </a:t>
            </a:r>
          </a:p>
          <a:p>
            <a:pPr algn="l">
              <a:spcAft>
                <a:spcPts val="0"/>
              </a:spcAft>
            </a:pPr>
            <a:r>
              <a:rPr sz="2600" b="1">
                <a:solidFill>
                  <a:srgbClr val="5FD68A"/>
                </a:solidFill>
                <a:latin typeface="Consolas"/>
              </a:rPr>
              <a:t>→ 70 s</a:t>
            </a:r>
          </a:p>
        </p:txBody>
      </p:sp>
      <p:sp>
        <p:nvSpPr>
          <p:cNvPr id="13" name="TextBox 12"/>
          <p:cNvSpPr txBox="1"/>
          <p:nvPr/>
        </p:nvSpPr>
        <p:spPr>
          <a:xfrm>
            <a:off x="4600346" y="2990088"/>
            <a:ext cx="2991002" cy="91440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Each device now keeps its own layers, checked against the original file.</a:t>
            </a:r>
          </a:p>
        </p:txBody>
      </p:sp>
      <p:sp>
        <p:nvSpPr>
          <p:cNvPr id="14" name="Rounded Rectangle 13"/>
          <p:cNvSpPr/>
          <p:nvPr/>
        </p:nvSpPr>
        <p:spPr>
          <a:xfrm>
            <a:off x="8121700" y="1847088"/>
            <a:ext cx="3503066" cy="2286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2048256"/>
            <a:ext cx="2991002" cy="274320"/>
          </a:xfrm>
          <a:prstGeom prst="rect">
            <a:avLst/>
          </a:prstGeom>
          <a:noFill/>
        </p:spPr>
        <p:txBody>
          <a:bodyPr wrap="square" anchor="t" lIns="0" rIns="0" tIns="0" bIns="0">
            <a:spAutoFit/>
          </a:bodyPr>
          <a:lstStyle/>
          <a:p>
            <a:pPr algn="l">
              <a:spcAft>
                <a:spcPts val="600"/>
              </a:spcAft>
            </a:pPr>
            <a:r>
              <a:rPr sz="1400" b="0">
                <a:solidFill>
                  <a:srgbClr val="71766C"/>
                </a:solidFill>
                <a:latin typeface="Segoe UI"/>
              </a:rPr>
              <a:t>First word in a long chat</a:t>
            </a:r>
          </a:p>
        </p:txBody>
      </p:sp>
      <p:sp>
        <p:nvSpPr>
          <p:cNvPr id="16" name="TextBox 15"/>
          <p:cNvSpPr txBox="1"/>
          <p:nvPr/>
        </p:nvSpPr>
        <p:spPr>
          <a:xfrm>
            <a:off x="8377732" y="2377440"/>
            <a:ext cx="2991002" cy="457200"/>
          </a:xfrm>
          <a:prstGeom prst="rect">
            <a:avLst/>
          </a:prstGeom>
          <a:noFill/>
        </p:spPr>
        <p:txBody>
          <a:bodyPr wrap="square" anchor="t" lIns="0" rIns="0" tIns="0" bIns="0">
            <a:spAutoFit/>
          </a:bodyPr>
          <a:lstStyle/>
          <a:p>
            <a:pPr algn="l">
              <a:spcAft>
                <a:spcPts val="0"/>
              </a:spcAft>
            </a:pPr>
            <a:r>
              <a:rPr sz="2600" b="1">
                <a:solidFill>
                  <a:srgbClr val="71766C"/>
                </a:solidFill>
                <a:latin typeface="Consolas"/>
              </a:rPr>
              <a:t>slow  </a:t>
            </a:r>
          </a:p>
          <a:p>
            <a:pPr algn="l">
              <a:spcAft>
                <a:spcPts val="0"/>
              </a:spcAft>
            </a:pPr>
            <a:r>
              <a:rPr sz="2600" b="1">
                <a:solidFill>
                  <a:srgbClr val="5FD68A"/>
                </a:solidFill>
                <a:latin typeface="Consolas"/>
              </a:rPr>
              <a:t>→ fast</a:t>
            </a:r>
          </a:p>
        </p:txBody>
      </p:sp>
      <p:sp>
        <p:nvSpPr>
          <p:cNvPr id="17" name="TextBox 16"/>
          <p:cNvSpPr txBox="1"/>
          <p:nvPr/>
        </p:nvSpPr>
        <p:spPr>
          <a:xfrm>
            <a:off x="8377732" y="2990088"/>
            <a:ext cx="2991002" cy="91440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One conversation slot, so the chat stays in cache instead of being read again.</a:t>
            </a:r>
          </a:p>
        </p:txBody>
      </p:sp>
      <p:sp>
        <p:nvSpPr>
          <p:cNvPr id="18" name="Rounded Rectangle 17"/>
          <p:cNvSpPr/>
          <p:nvPr/>
        </p:nvSpPr>
        <p:spPr>
          <a:xfrm>
            <a:off x="566928" y="4361688"/>
            <a:ext cx="11057839" cy="169164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581144"/>
            <a:ext cx="54864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AND THE REST</a:t>
            </a:r>
          </a:p>
        </p:txBody>
      </p:sp>
      <p:sp>
        <p:nvSpPr>
          <p:cNvPr id="20" name="Rectangle 19"/>
          <p:cNvSpPr/>
          <p:nvPr/>
        </p:nvSpPr>
        <p:spPr>
          <a:xfrm>
            <a:off x="841248" y="502005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928616"/>
            <a:ext cx="4882896"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The head stays on the host</a:t>
            </a:r>
          </a:p>
        </p:txBody>
      </p:sp>
      <p:sp>
        <p:nvSpPr>
          <p:cNvPr id="22" name="TextBox 21"/>
          <p:cNvSpPr txBox="1"/>
          <p:nvPr/>
        </p:nvSpPr>
        <p:spPr>
          <a:xfrm>
            <a:off x="1078992" y="5138928"/>
            <a:ext cx="488289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so only a few KB cross per word</a:t>
            </a:r>
          </a:p>
        </p:txBody>
      </p:sp>
      <p:sp>
        <p:nvSpPr>
          <p:cNvPr id="23" name="Rectangle 22"/>
          <p:cNvSpPr/>
          <p:nvPr/>
        </p:nvSpPr>
        <p:spPr>
          <a:xfrm>
            <a:off x="841248" y="54955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5404104"/>
            <a:ext cx="4882896"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We take the middle ping, not the average</a:t>
            </a:r>
          </a:p>
        </p:txBody>
      </p:sp>
      <p:sp>
        <p:nvSpPr>
          <p:cNvPr id="25" name="TextBox 24"/>
          <p:cNvSpPr txBox="1"/>
          <p:nvPr/>
        </p:nvSpPr>
        <p:spPr>
          <a:xfrm>
            <a:off x="1078992" y="5614416"/>
            <a:ext cx="488289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one bad spike cannot throw out a good device</a:t>
            </a:r>
          </a:p>
        </p:txBody>
      </p:sp>
      <p:sp>
        <p:nvSpPr>
          <p:cNvPr id="26" name="Rectangle 25"/>
          <p:cNvSpPr/>
          <p:nvPr/>
        </p:nvSpPr>
        <p:spPr>
          <a:xfrm>
            <a:off x="6419088" y="502005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56832" y="4928616"/>
            <a:ext cx="4882896"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We tested it hot, not cold</a:t>
            </a:r>
          </a:p>
        </p:txBody>
      </p:sp>
      <p:sp>
        <p:nvSpPr>
          <p:cNvPr id="28" name="TextBox 27"/>
          <p:cNvSpPr txBox="1"/>
          <p:nvPr/>
        </p:nvSpPr>
        <p:spPr>
          <a:xfrm>
            <a:off x="6656832" y="5138928"/>
            <a:ext cx="488289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11.4 to 5.3 tokens/s as the phone goes 34.6 to 47.5 °C</a:t>
            </a:r>
          </a:p>
        </p:txBody>
      </p:sp>
      <p:sp>
        <p:nvSpPr>
          <p:cNvPr id="29" name="Rectangle 28"/>
          <p:cNvSpPr/>
          <p:nvPr/>
        </p:nvSpPr>
        <p:spPr>
          <a:xfrm>
            <a:off x="6419088" y="54955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6832" y="5404104"/>
            <a:ext cx="4882896"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Photos and text on two phones at once</a:t>
            </a:r>
          </a:p>
        </p:txBody>
      </p:sp>
      <p:sp>
        <p:nvSpPr>
          <p:cNvPr id="31" name="TextBox 30"/>
          <p:cNvSpPr txBox="1"/>
          <p:nvPr/>
        </p:nvSpPr>
        <p:spPr>
          <a:xfrm>
            <a:off x="6656832" y="5614416"/>
            <a:ext cx="488289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each answer says which device produced it</a:t>
            </a:r>
          </a:p>
        </p:txBody>
      </p:sp>
      <p:sp>
        <p:nvSpPr>
          <p:cNvPr id="32" name="TextBox 31"/>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3" name="TextBox 32"/>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every figure in docs/measurements.md, with its conditions</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06 · WHY THIS IS HARD</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The cable is the whole trick.</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Every word has to travel to the other device and back. So the speed of the link decides everything.</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5391759" cy="32004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8716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HOW LONG A ROUND TRIP TAKES</a:t>
            </a:r>
          </a:p>
        </p:txBody>
      </p:sp>
      <p:sp>
        <p:nvSpPr>
          <p:cNvPr id="9" name="Rounded Rectangle 8"/>
          <p:cNvSpPr/>
          <p:nvPr/>
        </p:nvSpPr>
        <p:spPr>
          <a:xfrm>
            <a:off x="1115568" y="4809744"/>
            <a:ext cx="1097280" cy="228600"/>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4517136"/>
            <a:ext cx="1097280" cy="274320"/>
          </a:xfrm>
          <a:prstGeom prst="rect">
            <a:avLst/>
          </a:prstGeom>
          <a:noFill/>
        </p:spPr>
        <p:txBody>
          <a:bodyPr wrap="square" anchor="t" lIns="0" rIns="0" tIns="0" bIns="0">
            <a:spAutoFit/>
          </a:bodyPr>
          <a:lstStyle/>
          <a:p>
            <a:pPr algn="ctr">
              <a:spcAft>
                <a:spcPts val="600"/>
              </a:spcAft>
            </a:pPr>
            <a:r>
              <a:rPr sz="1300" b="0">
                <a:solidFill>
                  <a:srgbClr val="5FD68A"/>
                </a:solidFill>
                <a:latin typeface="Consolas"/>
              </a:rPr>
              <a:t>2–3 ms</a:t>
            </a:r>
          </a:p>
        </p:txBody>
      </p:sp>
      <p:sp>
        <p:nvSpPr>
          <p:cNvPr id="11" name="TextBox 10"/>
          <p:cNvSpPr txBox="1"/>
          <p:nvPr/>
        </p:nvSpPr>
        <p:spPr>
          <a:xfrm>
            <a:off x="1115568" y="5111496"/>
            <a:ext cx="1097280" cy="457200"/>
          </a:xfrm>
          <a:prstGeom prst="rect">
            <a:avLst/>
          </a:prstGeom>
          <a:noFill/>
        </p:spPr>
        <p:txBody>
          <a:bodyPr wrap="square" anchor="t" lIns="0" rIns="0" tIns="0" bIns="0">
            <a:spAutoFit/>
          </a:bodyPr>
          <a:lstStyle/>
          <a:p>
            <a:pPr algn="ctr">
              <a:spcAft>
                <a:spcPts val="600"/>
              </a:spcAft>
            </a:pPr>
            <a:r>
              <a:rPr sz="1200" b="0">
                <a:solidFill>
                  <a:srgbClr val="A8ACA1"/>
                </a:solidFill>
                <a:latin typeface="Segoe UI"/>
              </a:rPr>
              <a:t>USB cable</a:t>
            </a:r>
          </a:p>
        </p:txBody>
      </p:sp>
      <p:sp>
        <p:nvSpPr>
          <p:cNvPr id="12" name="TextBox 11"/>
          <p:cNvSpPr txBox="1"/>
          <p:nvPr/>
        </p:nvSpPr>
        <p:spPr>
          <a:xfrm>
            <a:off x="1115568" y="5312664"/>
            <a:ext cx="1097280" cy="274320"/>
          </a:xfrm>
          <a:prstGeom prst="rect">
            <a:avLst/>
          </a:prstGeom>
          <a:noFill/>
        </p:spPr>
        <p:txBody>
          <a:bodyPr wrap="square" anchor="t" lIns="0" rIns="0" tIns="0" bIns="0">
            <a:spAutoFit/>
          </a:bodyPr>
          <a:lstStyle/>
          <a:p>
            <a:pPr algn="ctr">
              <a:spcAft>
                <a:spcPts val="600"/>
              </a:spcAft>
            </a:pPr>
            <a:r>
              <a:rPr sz="1100" b="0">
                <a:solidFill>
                  <a:srgbClr val="71766C"/>
                </a:solidFill>
                <a:latin typeface="Segoe UI"/>
              </a:rPr>
              <a:t>it works</a:t>
            </a:r>
          </a:p>
        </p:txBody>
      </p:sp>
      <p:sp>
        <p:nvSpPr>
          <p:cNvPr id="13" name="Rounded Rectangle 12"/>
          <p:cNvSpPr/>
          <p:nvPr/>
        </p:nvSpPr>
        <p:spPr>
          <a:xfrm>
            <a:off x="2670048" y="4169664"/>
            <a:ext cx="1097280" cy="868680"/>
          </a:xfrm>
          <a:prstGeom prst="roundRect">
            <a:avLst>
              <a:gd name="adj" fmla="val 18000"/>
            </a:avLst>
          </a:prstGeom>
          <a:solidFill>
            <a:srgbClr val="E8B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70048" y="3877056"/>
            <a:ext cx="1097280" cy="274320"/>
          </a:xfrm>
          <a:prstGeom prst="rect">
            <a:avLst/>
          </a:prstGeom>
          <a:noFill/>
        </p:spPr>
        <p:txBody>
          <a:bodyPr wrap="square" anchor="t" lIns="0" rIns="0" tIns="0" bIns="0">
            <a:spAutoFit/>
          </a:bodyPr>
          <a:lstStyle/>
          <a:p>
            <a:pPr algn="ctr">
              <a:spcAft>
                <a:spcPts val="600"/>
              </a:spcAft>
            </a:pPr>
            <a:r>
              <a:rPr sz="1300" b="0">
                <a:solidFill>
                  <a:srgbClr val="E8B84B"/>
                </a:solidFill>
                <a:latin typeface="Consolas"/>
              </a:rPr>
              <a:t>65–154 ms</a:t>
            </a:r>
          </a:p>
        </p:txBody>
      </p:sp>
      <p:sp>
        <p:nvSpPr>
          <p:cNvPr id="15" name="TextBox 14"/>
          <p:cNvSpPr txBox="1"/>
          <p:nvPr/>
        </p:nvSpPr>
        <p:spPr>
          <a:xfrm>
            <a:off x="2670048" y="5111496"/>
            <a:ext cx="1097280" cy="457200"/>
          </a:xfrm>
          <a:prstGeom prst="rect">
            <a:avLst/>
          </a:prstGeom>
          <a:noFill/>
        </p:spPr>
        <p:txBody>
          <a:bodyPr wrap="square" anchor="t" lIns="0" rIns="0" tIns="0" bIns="0">
            <a:spAutoFit/>
          </a:bodyPr>
          <a:lstStyle/>
          <a:p>
            <a:pPr algn="ctr">
              <a:spcAft>
                <a:spcPts val="600"/>
              </a:spcAft>
            </a:pPr>
            <a:r>
              <a:rPr sz="1200" b="0">
                <a:solidFill>
                  <a:srgbClr val="A8ACA1"/>
                </a:solidFill>
                <a:latin typeface="Segoe UI"/>
              </a:rPr>
              <a:t>Home Wi-Fi</a:t>
            </a:r>
          </a:p>
        </p:txBody>
      </p:sp>
      <p:sp>
        <p:nvSpPr>
          <p:cNvPr id="16" name="TextBox 15"/>
          <p:cNvSpPr txBox="1"/>
          <p:nvPr/>
        </p:nvSpPr>
        <p:spPr>
          <a:xfrm>
            <a:off x="2670048" y="5312664"/>
            <a:ext cx="1097280" cy="274320"/>
          </a:xfrm>
          <a:prstGeom prst="rect">
            <a:avLst/>
          </a:prstGeom>
          <a:noFill/>
        </p:spPr>
        <p:txBody>
          <a:bodyPr wrap="square" anchor="t" lIns="0" rIns="0" tIns="0" bIns="0">
            <a:spAutoFit/>
          </a:bodyPr>
          <a:lstStyle/>
          <a:p>
            <a:pPr algn="ctr">
              <a:spcAft>
                <a:spcPts val="600"/>
              </a:spcAft>
            </a:pPr>
            <a:r>
              <a:rPr sz="1100" b="0">
                <a:solidFill>
                  <a:srgbClr val="71766C"/>
                </a:solidFill>
                <a:latin typeface="Segoe UI"/>
              </a:rPr>
              <a:t>marginal</a:t>
            </a:r>
          </a:p>
        </p:txBody>
      </p:sp>
      <p:sp>
        <p:nvSpPr>
          <p:cNvPr id="17" name="Rounded Rectangle 16"/>
          <p:cNvSpPr/>
          <p:nvPr/>
        </p:nvSpPr>
        <p:spPr>
          <a:xfrm>
            <a:off x="4224528" y="3300984"/>
            <a:ext cx="1097280" cy="1737360"/>
          </a:xfrm>
          <a:prstGeom prst="roundRect">
            <a:avLst>
              <a:gd name="adj" fmla="val 18000"/>
            </a:avLst>
          </a:prstGeom>
          <a:solidFill>
            <a:srgbClr val="E06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3008376"/>
            <a:ext cx="1097280" cy="274320"/>
          </a:xfrm>
          <a:prstGeom prst="rect">
            <a:avLst/>
          </a:prstGeom>
          <a:noFill/>
        </p:spPr>
        <p:txBody>
          <a:bodyPr wrap="square" anchor="t" lIns="0" rIns="0" tIns="0" bIns="0">
            <a:spAutoFit/>
          </a:bodyPr>
          <a:lstStyle/>
          <a:p>
            <a:pPr algn="ctr">
              <a:spcAft>
                <a:spcPts val="600"/>
              </a:spcAft>
            </a:pPr>
            <a:r>
              <a:rPr sz="1300" b="0">
                <a:solidFill>
                  <a:srgbClr val="E06C6C"/>
                </a:solidFill>
                <a:latin typeface="Consolas"/>
              </a:rPr>
              <a:t>266–483 ms</a:t>
            </a:r>
          </a:p>
        </p:txBody>
      </p:sp>
      <p:sp>
        <p:nvSpPr>
          <p:cNvPr id="19" name="TextBox 18"/>
          <p:cNvSpPr txBox="1"/>
          <p:nvPr/>
        </p:nvSpPr>
        <p:spPr>
          <a:xfrm>
            <a:off x="4224528" y="5111496"/>
            <a:ext cx="1097280" cy="457200"/>
          </a:xfrm>
          <a:prstGeom prst="rect">
            <a:avLst/>
          </a:prstGeom>
          <a:noFill/>
        </p:spPr>
        <p:txBody>
          <a:bodyPr wrap="square" anchor="t" lIns="0" rIns="0" tIns="0" bIns="0">
            <a:spAutoFit/>
          </a:bodyPr>
          <a:lstStyle/>
          <a:p>
            <a:pPr algn="ctr">
              <a:spcAft>
                <a:spcPts val="600"/>
              </a:spcAft>
            </a:pPr>
            <a:r>
              <a:rPr sz="1200" b="0">
                <a:solidFill>
                  <a:srgbClr val="A8ACA1"/>
                </a:solidFill>
                <a:latin typeface="Segoe UI"/>
              </a:rPr>
              <a:t>Venue Wi-Fi</a:t>
            </a:r>
          </a:p>
        </p:txBody>
      </p:sp>
      <p:sp>
        <p:nvSpPr>
          <p:cNvPr id="20" name="TextBox 19"/>
          <p:cNvSpPr txBox="1"/>
          <p:nvPr/>
        </p:nvSpPr>
        <p:spPr>
          <a:xfrm>
            <a:off x="4224528" y="5312664"/>
            <a:ext cx="1097280" cy="274320"/>
          </a:xfrm>
          <a:prstGeom prst="rect">
            <a:avLst/>
          </a:prstGeom>
          <a:noFill/>
        </p:spPr>
        <p:txBody>
          <a:bodyPr wrap="square" anchor="t" lIns="0" rIns="0" tIns="0" bIns="0">
            <a:spAutoFit/>
          </a:bodyPr>
          <a:lstStyle/>
          <a:p>
            <a:pPr algn="ctr">
              <a:spcAft>
                <a:spcPts val="600"/>
              </a:spcAft>
            </a:pPr>
            <a:r>
              <a:rPr sz="1100" b="0">
                <a:solidFill>
                  <a:srgbClr val="71766C"/>
                </a:solidFill>
                <a:latin typeface="Segoe UI"/>
              </a:rPr>
              <a:t>refused</a:t>
            </a:r>
          </a:p>
        </p:txBody>
      </p:sp>
      <p:sp>
        <p:nvSpPr>
          <p:cNvPr id="21" name="Rounded Rectangle 20"/>
          <p:cNvSpPr/>
          <p:nvPr/>
        </p:nvSpPr>
        <p:spPr>
          <a:xfrm>
            <a:off x="6233007" y="2249424"/>
            <a:ext cx="5391759" cy="32004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7327" y="248716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OTHERS FOUND</a:t>
            </a:r>
          </a:p>
        </p:txBody>
      </p:sp>
      <p:sp>
        <p:nvSpPr>
          <p:cNvPr id="23" name="Rectangle 22"/>
          <p:cNvSpPr/>
          <p:nvPr/>
        </p:nvSpPr>
        <p:spPr>
          <a:xfrm>
            <a:off x="6507327" y="296265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45071" y="287121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Petals got 0.83 words a second</a:t>
            </a:r>
          </a:p>
        </p:txBody>
      </p:sp>
      <p:sp>
        <p:nvSpPr>
          <p:cNvPr id="25" name="TextBox 24"/>
          <p:cNvSpPr txBox="1"/>
          <p:nvPr/>
        </p:nvSpPr>
        <p:spPr>
          <a:xfrm>
            <a:off x="6745071" y="3081528"/>
            <a:ext cx="4605375"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over the internet, between two continents</a:t>
            </a:r>
          </a:p>
        </p:txBody>
      </p:sp>
      <p:sp>
        <p:nvSpPr>
          <p:cNvPr id="26" name="Rectangle 25"/>
          <p:cNvSpPr/>
          <p:nvPr/>
        </p:nvSpPr>
        <p:spPr>
          <a:xfrm>
            <a:off x="6507327" y="35112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45071" y="341985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prima.cpp leaves phones out on purpose</a:t>
            </a:r>
          </a:p>
        </p:txBody>
      </p:sp>
      <p:sp>
        <p:nvSpPr>
          <p:cNvPr id="28" name="TextBox 27"/>
          <p:cNvSpPr txBox="1"/>
          <p:nvPr/>
        </p:nvSpPr>
        <p:spPr>
          <a:xfrm>
            <a:off x="6745071" y="3630168"/>
            <a:ext cx="4605375"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the best home cluster in the research</a:t>
            </a:r>
          </a:p>
        </p:txBody>
      </p:sp>
      <p:sp>
        <p:nvSpPr>
          <p:cNvPr id="29" name="Rectangle 28"/>
          <p:cNvSpPr/>
          <p:nvPr/>
        </p:nvSpPr>
        <p:spPr>
          <a:xfrm>
            <a:off x="6507327" y="405993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45071" y="396849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No paper exists on splitting across phones</a:t>
            </a:r>
          </a:p>
        </p:txBody>
      </p:sp>
      <p:sp>
        <p:nvSpPr>
          <p:cNvPr id="31" name="TextBox 30"/>
          <p:cNvSpPr txBox="1"/>
          <p:nvPr/>
        </p:nvSpPr>
        <p:spPr>
          <a:xfrm>
            <a:off x="6745071" y="4178808"/>
            <a:ext cx="4605375"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we checked: arXiv returns nothing</a:t>
            </a:r>
          </a:p>
        </p:txBody>
      </p:sp>
      <p:sp>
        <p:nvSpPr>
          <p:cNvPr id="32" name="TextBox 31"/>
          <p:cNvSpPr txBox="1"/>
          <p:nvPr/>
        </p:nvSpPr>
        <p:spPr>
          <a:xfrm>
            <a:off x="6507327" y="4626864"/>
            <a:ext cx="4843119" cy="731520"/>
          </a:xfrm>
          <a:prstGeom prst="rect">
            <a:avLst/>
          </a:prstGeom>
          <a:noFill/>
        </p:spPr>
        <p:txBody>
          <a:bodyPr wrap="square" anchor="t" lIns="0" rIns="0" tIns="0" bIns="0">
            <a:spAutoFit/>
          </a:bodyPr>
          <a:lstStyle/>
          <a:p>
            <a:pPr algn="l">
              <a:lnSpc>
                <a:spcPct val="130000"/>
              </a:lnSpc>
              <a:spcAft>
                <a:spcPts val="600"/>
              </a:spcAft>
            </a:pPr>
            <a:r>
              <a:rPr sz="1600" b="0">
                <a:solidFill>
                  <a:srgbClr val="5FD68A"/>
                </a:solidFill>
                <a:latin typeface="Segoe UI"/>
              </a:rPr>
              <a:t>So we only split over a cable you own, and we refuse anything slower than 60 ms.</a:t>
            </a:r>
          </a:p>
        </p:txBody>
      </p:sp>
      <p:sp>
        <p:nvSpPr>
          <p:cNvPr id="33" name="TextBox 32"/>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4" name="TextBox 33"/>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Petals arXiv 2209.01188 · prima.cpp arXiv 2504.08791</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07 · PROOF</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We measured it. We did not guess.</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Same 15 coding problems for every setup. We ran each answer against its own tests. Right or wrong, nothing in between.</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6038770"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52728" y="4398264"/>
            <a:ext cx="1371600" cy="365760"/>
          </a:xfrm>
          <a:prstGeom prst="roundRect">
            <a:avLst>
              <a:gd name="adj" fmla="val 18000"/>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52728" y="4069080"/>
            <a:ext cx="1371600" cy="274320"/>
          </a:xfrm>
          <a:prstGeom prst="rect">
            <a:avLst/>
          </a:prstGeom>
          <a:noFill/>
        </p:spPr>
        <p:txBody>
          <a:bodyPr wrap="square" anchor="t" lIns="0" rIns="0" tIns="0" bIns="0">
            <a:spAutoFit/>
          </a:bodyPr>
          <a:lstStyle/>
          <a:p>
            <a:pPr algn="ctr">
              <a:spcAft>
                <a:spcPts val="600"/>
              </a:spcAft>
            </a:pPr>
            <a:r>
              <a:rPr sz="2000" b="1">
                <a:solidFill>
                  <a:srgbClr val="71766C"/>
                </a:solidFill>
                <a:latin typeface="Consolas"/>
              </a:rPr>
              <a:t>13%</a:t>
            </a:r>
          </a:p>
        </p:txBody>
      </p:sp>
      <p:sp>
        <p:nvSpPr>
          <p:cNvPr id="10" name="TextBox 9"/>
          <p:cNvSpPr txBox="1"/>
          <p:nvPr/>
        </p:nvSpPr>
        <p:spPr>
          <a:xfrm>
            <a:off x="1252728" y="4855464"/>
            <a:ext cx="1371600" cy="548640"/>
          </a:xfrm>
          <a:prstGeom prst="rect">
            <a:avLst/>
          </a:prstGeom>
          <a:noFill/>
        </p:spPr>
        <p:txBody>
          <a:bodyPr wrap="square" anchor="t" lIns="0" rIns="0" tIns="0" bIns="0">
            <a:spAutoFit/>
          </a:bodyPr>
          <a:lstStyle/>
          <a:p>
            <a:pPr algn="ctr">
              <a:lnSpc>
                <a:spcPct val="130000"/>
              </a:lnSpc>
              <a:spcAft>
                <a:spcPts val="600"/>
              </a:spcAft>
            </a:pPr>
            <a:r>
              <a:rPr sz="1100" b="0">
                <a:solidFill>
                  <a:srgbClr val="71766C"/>
                </a:solidFill>
                <a:latin typeface="Consolas"/>
              </a:rPr>
              <a:t>laptop alone, 0.6B
2 of 15</a:t>
            </a:r>
          </a:p>
        </p:txBody>
      </p:sp>
      <p:sp>
        <p:nvSpPr>
          <p:cNvPr id="11" name="TextBox 10"/>
          <p:cNvSpPr txBox="1"/>
          <p:nvPr/>
        </p:nvSpPr>
        <p:spPr>
          <a:xfrm>
            <a:off x="1252728" y="5330952"/>
            <a:ext cx="1371600" cy="274320"/>
          </a:xfrm>
          <a:prstGeom prst="rect">
            <a:avLst/>
          </a:prstGeom>
          <a:noFill/>
        </p:spPr>
        <p:txBody>
          <a:bodyPr wrap="square" anchor="t" lIns="0" rIns="0" tIns="0" bIns="0">
            <a:spAutoFit/>
          </a:bodyPr>
          <a:lstStyle/>
          <a:p>
            <a:pPr algn="ctr">
              <a:spcAft>
                <a:spcPts val="600"/>
              </a:spcAft>
            </a:pPr>
            <a:r>
              <a:rPr sz="1100" b="0">
                <a:solidFill>
                  <a:srgbClr val="A8ACA1"/>
                </a:solidFill>
                <a:latin typeface="Consolas"/>
              </a:rPr>
              <a:t>20.9 tok/s</a:t>
            </a:r>
          </a:p>
        </p:txBody>
      </p:sp>
      <p:sp>
        <p:nvSpPr>
          <p:cNvPr id="12" name="Rounded Rectangle 11"/>
          <p:cNvSpPr/>
          <p:nvPr/>
        </p:nvSpPr>
        <p:spPr>
          <a:xfrm>
            <a:off x="3172968" y="3438144"/>
            <a:ext cx="1371600" cy="1325880"/>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72968" y="3108960"/>
            <a:ext cx="1371600" cy="274320"/>
          </a:xfrm>
          <a:prstGeom prst="rect">
            <a:avLst/>
          </a:prstGeom>
          <a:noFill/>
        </p:spPr>
        <p:txBody>
          <a:bodyPr wrap="square" anchor="t" lIns="0" rIns="0" tIns="0" bIns="0">
            <a:spAutoFit/>
          </a:bodyPr>
          <a:lstStyle/>
          <a:p>
            <a:pPr algn="ctr">
              <a:spcAft>
                <a:spcPts val="600"/>
              </a:spcAft>
            </a:pPr>
            <a:r>
              <a:rPr sz="2000" b="1">
                <a:solidFill>
                  <a:srgbClr val="5FD68A"/>
                </a:solidFill>
                <a:latin typeface="Consolas"/>
              </a:rPr>
              <a:t>47%</a:t>
            </a:r>
          </a:p>
        </p:txBody>
      </p:sp>
      <p:sp>
        <p:nvSpPr>
          <p:cNvPr id="14" name="TextBox 13"/>
          <p:cNvSpPr txBox="1"/>
          <p:nvPr/>
        </p:nvSpPr>
        <p:spPr>
          <a:xfrm>
            <a:off x="3172968" y="4855464"/>
            <a:ext cx="1371600" cy="548640"/>
          </a:xfrm>
          <a:prstGeom prst="rect">
            <a:avLst/>
          </a:prstGeom>
          <a:noFill/>
        </p:spPr>
        <p:txBody>
          <a:bodyPr wrap="square" anchor="t" lIns="0" rIns="0" tIns="0" bIns="0">
            <a:spAutoFit/>
          </a:bodyPr>
          <a:lstStyle/>
          <a:p>
            <a:pPr algn="ctr">
              <a:lnSpc>
                <a:spcPct val="130000"/>
              </a:lnSpc>
              <a:spcAft>
                <a:spcPts val="600"/>
              </a:spcAft>
            </a:pPr>
            <a:r>
              <a:rPr sz="1100" b="0">
                <a:solidFill>
                  <a:srgbClr val="71766C"/>
                </a:solidFill>
                <a:latin typeface="Consolas"/>
              </a:rPr>
              <a:t>laptop alone, 1.7B
7 of 15</a:t>
            </a:r>
          </a:p>
        </p:txBody>
      </p:sp>
      <p:sp>
        <p:nvSpPr>
          <p:cNvPr id="15" name="TextBox 14"/>
          <p:cNvSpPr txBox="1"/>
          <p:nvPr/>
        </p:nvSpPr>
        <p:spPr>
          <a:xfrm>
            <a:off x="3172968" y="5330952"/>
            <a:ext cx="1371600" cy="274320"/>
          </a:xfrm>
          <a:prstGeom prst="rect">
            <a:avLst/>
          </a:prstGeom>
          <a:noFill/>
        </p:spPr>
        <p:txBody>
          <a:bodyPr wrap="square" anchor="t" lIns="0" rIns="0" tIns="0" bIns="0">
            <a:spAutoFit/>
          </a:bodyPr>
          <a:lstStyle/>
          <a:p>
            <a:pPr algn="ctr">
              <a:spcAft>
                <a:spcPts val="600"/>
              </a:spcAft>
            </a:pPr>
            <a:r>
              <a:rPr sz="1100" b="0">
                <a:solidFill>
                  <a:srgbClr val="A8ACA1"/>
                </a:solidFill>
                <a:latin typeface="Consolas"/>
              </a:rPr>
              <a:t>8.6 tok/s</a:t>
            </a:r>
          </a:p>
        </p:txBody>
      </p:sp>
      <p:sp>
        <p:nvSpPr>
          <p:cNvPr id="16" name="Rounded Rectangle 15"/>
          <p:cNvSpPr/>
          <p:nvPr/>
        </p:nvSpPr>
        <p:spPr>
          <a:xfrm>
            <a:off x="5093208" y="3438144"/>
            <a:ext cx="1371600" cy="1325880"/>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93208" y="3108960"/>
            <a:ext cx="1371600" cy="274320"/>
          </a:xfrm>
          <a:prstGeom prst="rect">
            <a:avLst/>
          </a:prstGeom>
          <a:noFill/>
        </p:spPr>
        <p:txBody>
          <a:bodyPr wrap="square" anchor="t" lIns="0" rIns="0" tIns="0" bIns="0">
            <a:spAutoFit/>
          </a:bodyPr>
          <a:lstStyle/>
          <a:p>
            <a:pPr algn="ctr">
              <a:spcAft>
                <a:spcPts val="600"/>
              </a:spcAft>
            </a:pPr>
            <a:r>
              <a:rPr sz="2000" b="1">
                <a:solidFill>
                  <a:srgbClr val="A78BFA"/>
                </a:solidFill>
                <a:latin typeface="Consolas"/>
              </a:rPr>
              <a:t>47%</a:t>
            </a:r>
          </a:p>
        </p:txBody>
      </p:sp>
      <p:sp>
        <p:nvSpPr>
          <p:cNvPr id="18" name="TextBox 17"/>
          <p:cNvSpPr txBox="1"/>
          <p:nvPr/>
        </p:nvSpPr>
        <p:spPr>
          <a:xfrm>
            <a:off x="5093208" y="4855464"/>
            <a:ext cx="1371600" cy="548640"/>
          </a:xfrm>
          <a:prstGeom prst="rect">
            <a:avLst/>
          </a:prstGeom>
          <a:noFill/>
        </p:spPr>
        <p:txBody>
          <a:bodyPr wrap="square" anchor="t" lIns="0" rIns="0" tIns="0" bIns="0">
            <a:spAutoFit/>
          </a:bodyPr>
          <a:lstStyle/>
          <a:p>
            <a:pPr algn="ctr">
              <a:lnSpc>
                <a:spcPct val="130000"/>
              </a:lnSpc>
              <a:spcAft>
                <a:spcPts val="600"/>
              </a:spcAft>
            </a:pPr>
            <a:r>
              <a:rPr sz="1100" b="0">
                <a:solidFill>
                  <a:srgbClr val="71766C"/>
                </a:solidFill>
                <a:latin typeface="Consolas"/>
              </a:rPr>
              <a:t>split over two, 1.7B
7 of 15</a:t>
            </a:r>
          </a:p>
        </p:txBody>
      </p:sp>
      <p:sp>
        <p:nvSpPr>
          <p:cNvPr id="19" name="TextBox 18"/>
          <p:cNvSpPr txBox="1"/>
          <p:nvPr/>
        </p:nvSpPr>
        <p:spPr>
          <a:xfrm>
            <a:off x="5093208" y="5330952"/>
            <a:ext cx="1371600" cy="274320"/>
          </a:xfrm>
          <a:prstGeom prst="rect">
            <a:avLst/>
          </a:prstGeom>
          <a:noFill/>
        </p:spPr>
        <p:txBody>
          <a:bodyPr wrap="square" anchor="t" lIns="0" rIns="0" tIns="0" bIns="0">
            <a:spAutoFit/>
          </a:bodyPr>
          <a:lstStyle/>
          <a:p>
            <a:pPr algn="ctr">
              <a:spcAft>
                <a:spcPts val="600"/>
              </a:spcAft>
            </a:pPr>
            <a:r>
              <a:rPr sz="1100" b="0">
                <a:solidFill>
                  <a:srgbClr val="A8ACA1"/>
                </a:solidFill>
                <a:latin typeface="Consolas"/>
              </a:rPr>
              <a:t>7.4 tok/s</a:t>
            </a:r>
          </a:p>
        </p:txBody>
      </p:sp>
      <p:sp>
        <p:nvSpPr>
          <p:cNvPr id="20" name="Rounded Rectangle 19"/>
          <p:cNvSpPr/>
          <p:nvPr/>
        </p:nvSpPr>
        <p:spPr>
          <a:xfrm>
            <a:off x="6880018" y="2249424"/>
            <a:ext cx="4744748"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54338" y="2487168"/>
            <a:ext cx="4114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THIS SHOWS</a:t>
            </a:r>
          </a:p>
        </p:txBody>
      </p:sp>
      <p:sp>
        <p:nvSpPr>
          <p:cNvPr id="22" name="Rectangle 21"/>
          <p:cNvSpPr/>
          <p:nvPr/>
        </p:nvSpPr>
        <p:spPr>
          <a:xfrm>
            <a:off x="7154338" y="29809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92082" y="2889504"/>
            <a:ext cx="3958364"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A bigger model is three times better</a:t>
            </a:r>
          </a:p>
        </p:txBody>
      </p:sp>
      <p:sp>
        <p:nvSpPr>
          <p:cNvPr id="24" name="TextBox 23"/>
          <p:cNvSpPr txBox="1"/>
          <p:nvPr/>
        </p:nvSpPr>
        <p:spPr>
          <a:xfrm>
            <a:off x="7392082" y="3099816"/>
            <a:ext cx="3958364"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13% becomes 47% on the same problems</a:t>
            </a:r>
          </a:p>
        </p:txBody>
      </p:sp>
      <p:sp>
        <p:nvSpPr>
          <p:cNvPr id="25" name="Rectangle 24"/>
          <p:cNvSpPr/>
          <p:nvPr/>
        </p:nvSpPr>
        <p:spPr>
          <a:xfrm>
            <a:off x="7154338" y="354787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92082" y="3456432"/>
            <a:ext cx="3958364"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Splitting costs a little speed</a:t>
            </a:r>
          </a:p>
        </p:txBody>
      </p:sp>
      <p:sp>
        <p:nvSpPr>
          <p:cNvPr id="27" name="TextBox 26"/>
          <p:cNvSpPr txBox="1"/>
          <p:nvPr/>
        </p:nvSpPr>
        <p:spPr>
          <a:xfrm>
            <a:off x="7392082" y="3666744"/>
            <a:ext cx="3958364"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8.6 becomes 7.4 words a second</a:t>
            </a:r>
          </a:p>
        </p:txBody>
      </p:sp>
      <p:sp>
        <p:nvSpPr>
          <p:cNvPr id="28" name="Rectangle 27"/>
          <p:cNvSpPr/>
          <p:nvPr/>
        </p:nvSpPr>
        <p:spPr>
          <a:xfrm>
            <a:off x="7154338" y="411480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92082" y="4023360"/>
            <a:ext cx="3958364"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Splitting does not change the answers</a:t>
            </a:r>
          </a:p>
        </p:txBody>
      </p:sp>
      <p:sp>
        <p:nvSpPr>
          <p:cNvPr id="30" name="TextBox 29"/>
          <p:cNvSpPr txBox="1"/>
          <p:nvPr/>
        </p:nvSpPr>
        <p:spPr>
          <a:xfrm>
            <a:off x="7392082" y="4233672"/>
            <a:ext cx="3958364"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the split got the same 8 wrong as the single device</a:t>
            </a:r>
          </a:p>
        </p:txBody>
      </p:sp>
      <p:sp>
        <p:nvSpPr>
          <p:cNvPr id="31" name="TextBox 30"/>
          <p:cNvSpPr txBox="1"/>
          <p:nvPr/>
        </p:nvSpPr>
        <p:spPr>
          <a:xfrm>
            <a:off x="7154338" y="4626864"/>
            <a:ext cx="4196108" cy="548640"/>
          </a:xfrm>
          <a:prstGeom prst="rect">
            <a:avLst/>
          </a:prstGeom>
          <a:noFill/>
        </p:spPr>
        <p:txBody>
          <a:bodyPr wrap="square" anchor="t" lIns="0" rIns="0" tIns="0" bIns="0">
            <a:spAutoFit/>
          </a:bodyPr>
          <a:lstStyle/>
          <a:p>
            <a:pPr algn="l">
              <a:lnSpc>
                <a:spcPct val="130000"/>
              </a:lnSpc>
              <a:spcAft>
                <a:spcPts val="600"/>
              </a:spcAft>
            </a:pPr>
            <a:r>
              <a:rPr sz="1600" b="0">
                <a:solidFill>
                  <a:srgbClr val="5FD68A"/>
                </a:solidFill>
                <a:latin typeface="Segoe UI"/>
              </a:rPr>
              <a:t>Speed drops a little. Accuracy jumps a lot. That is the trade.</a:t>
            </a:r>
          </a:p>
        </p:txBody>
      </p:sp>
      <p:sp>
        <p:nvSpPr>
          <p:cNvPr id="32" name="TextBox 31"/>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3" name="TextBox 32"/>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one button in the app runs this · results/REPORT.md</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08 · WHAT EXISTS TODAY</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Nobody else pools phone memory.</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755648"/>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SYSTEM</a:t>
            </a:r>
          </a:p>
        </p:txBody>
      </p:sp>
      <p:sp>
        <p:nvSpPr>
          <p:cNvPr id="7" name="TextBox 6"/>
          <p:cNvSpPr txBox="1"/>
          <p:nvPr/>
        </p:nvSpPr>
        <p:spPr>
          <a:xfrm>
            <a:off x="3218688" y="1755648"/>
            <a:ext cx="45720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IT DOES</a:t>
            </a:r>
          </a:p>
        </p:txBody>
      </p:sp>
      <p:sp>
        <p:nvSpPr>
          <p:cNvPr id="8" name="TextBox 7"/>
          <p:cNvSpPr txBox="1"/>
          <p:nvPr/>
        </p:nvSpPr>
        <p:spPr>
          <a:xfrm>
            <a:off x="8065007" y="1755648"/>
            <a:ext cx="36576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IT LEAVES TO YOU</a:t>
            </a:r>
          </a:p>
        </p:txBody>
      </p:sp>
      <p:sp>
        <p:nvSpPr>
          <p:cNvPr id="9" name="TextBox 8"/>
          <p:cNvSpPr txBox="1"/>
          <p:nvPr/>
        </p:nvSpPr>
        <p:spPr>
          <a:xfrm>
            <a:off x="566928" y="2139696"/>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Darkbloom</a:t>
            </a:r>
          </a:p>
        </p:txBody>
      </p:sp>
      <p:sp>
        <p:nvSpPr>
          <p:cNvPr id="10" name="TextBox 9"/>
          <p:cNvSpPr txBox="1"/>
          <p:nvPr/>
        </p:nvSpPr>
        <p:spPr>
          <a:xfrm>
            <a:off x="566928" y="2377440"/>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a16z backed</a:t>
            </a:r>
          </a:p>
        </p:txBody>
      </p:sp>
      <p:sp>
        <p:nvSpPr>
          <p:cNvPr id="11" name="TextBox 10"/>
          <p:cNvSpPr txBox="1"/>
          <p:nvPr/>
        </p:nvSpPr>
        <p:spPr>
          <a:xfrm>
            <a:off x="3218688" y="2139696"/>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Rents out idle Macs and pays their owners</a:t>
            </a:r>
          </a:p>
        </p:txBody>
      </p:sp>
      <p:sp>
        <p:nvSpPr>
          <p:cNvPr id="12" name="TextBox 11"/>
          <p:cNvSpPr txBox="1"/>
          <p:nvPr/>
        </p:nvSpPr>
        <p:spPr>
          <a:xfrm>
            <a:off x="8065007" y="2139696"/>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One whole model per Mac. Never a phone.</a:t>
            </a:r>
          </a:p>
        </p:txBody>
      </p:sp>
      <p:sp>
        <p:nvSpPr>
          <p:cNvPr id="13" name="TextBox 12"/>
          <p:cNvSpPr txBox="1"/>
          <p:nvPr/>
        </p:nvSpPr>
        <p:spPr>
          <a:xfrm>
            <a:off x="566928" y="2715768"/>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exo</a:t>
            </a:r>
          </a:p>
        </p:txBody>
      </p:sp>
      <p:sp>
        <p:nvSpPr>
          <p:cNvPr id="14" name="TextBox 13"/>
          <p:cNvSpPr txBox="1"/>
          <p:nvPr/>
        </p:nvSpPr>
        <p:spPr>
          <a:xfrm>
            <a:off x="566928" y="2953512"/>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47k stars</a:t>
            </a:r>
          </a:p>
        </p:txBody>
      </p:sp>
      <p:sp>
        <p:nvSpPr>
          <p:cNvPr id="15" name="TextBox 14"/>
          <p:cNvSpPr txBox="1"/>
          <p:nvPr/>
        </p:nvSpPr>
        <p:spPr>
          <a:xfrm>
            <a:off x="3218688" y="2715768"/>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Splits a model across your Macs and Linux boxes</a:t>
            </a:r>
          </a:p>
        </p:txBody>
      </p:sp>
      <p:sp>
        <p:nvSpPr>
          <p:cNvPr id="16" name="TextBox 15"/>
          <p:cNvSpPr txBox="1"/>
          <p:nvPr/>
        </p:nvSpPr>
        <p:spPr>
          <a:xfrm>
            <a:off x="8065007" y="2715768"/>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The phone is not a real device in it.</a:t>
            </a:r>
          </a:p>
        </p:txBody>
      </p:sp>
      <p:sp>
        <p:nvSpPr>
          <p:cNvPr id="17" name="TextBox 16"/>
          <p:cNvSpPr txBox="1"/>
          <p:nvPr/>
        </p:nvSpPr>
        <p:spPr>
          <a:xfrm>
            <a:off x="566928" y="3291840"/>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Petals</a:t>
            </a:r>
          </a:p>
        </p:txBody>
      </p:sp>
      <p:sp>
        <p:nvSpPr>
          <p:cNvPr id="18" name="TextBox 17"/>
          <p:cNvSpPr txBox="1"/>
          <p:nvPr/>
        </p:nvSpPr>
        <p:spPr>
          <a:xfrm>
            <a:off x="566928" y="3529584"/>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peer reviewed</a:t>
            </a:r>
          </a:p>
        </p:txBody>
      </p:sp>
      <p:sp>
        <p:nvSpPr>
          <p:cNvPr id="19" name="TextBox 18"/>
          <p:cNvSpPr txBox="1"/>
          <p:nvPr/>
        </p:nvSpPr>
        <p:spPr>
          <a:xfrm>
            <a:off x="3218688" y="3291840"/>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A public swarm of volunteer servers</a:t>
            </a:r>
          </a:p>
        </p:txBody>
      </p:sp>
      <p:sp>
        <p:nvSpPr>
          <p:cNvPr id="20" name="TextBox 19"/>
          <p:cNvSpPr txBox="1"/>
          <p:nvPr/>
        </p:nvSpPr>
        <p:spPr>
          <a:xfrm>
            <a:off x="8065007" y="3291840"/>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0.83 words a second. Dead since 2024.</a:t>
            </a:r>
          </a:p>
        </p:txBody>
      </p:sp>
      <p:sp>
        <p:nvSpPr>
          <p:cNvPr id="21" name="TextBox 20"/>
          <p:cNvSpPr txBox="1"/>
          <p:nvPr/>
        </p:nvSpPr>
        <p:spPr>
          <a:xfrm>
            <a:off x="566928" y="3867912"/>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llama.cpp RPC</a:t>
            </a:r>
          </a:p>
        </p:txBody>
      </p:sp>
      <p:sp>
        <p:nvSpPr>
          <p:cNvPr id="22" name="TextBox 21"/>
          <p:cNvSpPr txBox="1"/>
          <p:nvPr/>
        </p:nvSpPr>
        <p:spPr>
          <a:xfrm>
            <a:off x="566928" y="4105656"/>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we build on it</a:t>
            </a:r>
          </a:p>
        </p:txBody>
      </p:sp>
      <p:sp>
        <p:nvSpPr>
          <p:cNvPr id="23" name="TextBox 22"/>
          <p:cNvSpPr txBox="1"/>
          <p:nvPr/>
        </p:nvSpPr>
        <p:spPr>
          <a:xfrm>
            <a:off x="3218688" y="3867912"/>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Runs layers on another machine over a socket</a:t>
            </a:r>
          </a:p>
        </p:txBody>
      </p:sp>
      <p:sp>
        <p:nvSpPr>
          <p:cNvPr id="24" name="TextBox 23"/>
          <p:cNvSpPr txBox="1"/>
          <p:nvPr/>
        </p:nvSpPr>
        <p:spPr>
          <a:xfrm>
            <a:off x="8065007" y="3867912"/>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You type the addresses by hand. Nothing decides.</a:t>
            </a:r>
          </a:p>
        </p:txBody>
      </p:sp>
      <p:sp>
        <p:nvSpPr>
          <p:cNvPr id="25" name="TextBox 24"/>
          <p:cNvSpPr txBox="1"/>
          <p:nvPr/>
        </p:nvSpPr>
        <p:spPr>
          <a:xfrm>
            <a:off x="566928" y="4443984"/>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Ollama, LM Studio</a:t>
            </a:r>
          </a:p>
        </p:txBody>
      </p:sp>
      <p:sp>
        <p:nvSpPr>
          <p:cNvPr id="26" name="TextBox 25"/>
          <p:cNvSpPr txBox="1"/>
          <p:nvPr/>
        </p:nvSpPr>
        <p:spPr>
          <a:xfrm>
            <a:off x="566928" y="4681728"/>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and the rest</a:t>
            </a:r>
          </a:p>
        </p:txBody>
      </p:sp>
      <p:sp>
        <p:nvSpPr>
          <p:cNvPr id="27" name="TextBox 26"/>
          <p:cNvSpPr txBox="1"/>
          <p:nvPr/>
        </p:nvSpPr>
        <p:spPr>
          <a:xfrm>
            <a:off x="3218688" y="4443984"/>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Great on one machine, one model</a:t>
            </a:r>
          </a:p>
        </p:txBody>
      </p:sp>
      <p:sp>
        <p:nvSpPr>
          <p:cNvPr id="28" name="TextBox 27"/>
          <p:cNvSpPr txBox="1"/>
          <p:nvPr/>
        </p:nvSpPr>
        <p:spPr>
          <a:xfrm>
            <a:off x="8065007" y="4443984"/>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If it does not fit, you do not run it.</a:t>
            </a:r>
          </a:p>
        </p:txBody>
      </p:sp>
      <p:sp>
        <p:nvSpPr>
          <p:cNvPr id="29" name="Rounded Rectangle 28"/>
          <p:cNvSpPr/>
          <p:nvPr/>
        </p:nvSpPr>
        <p:spPr>
          <a:xfrm>
            <a:off x="438912" y="4928616"/>
            <a:ext cx="11313871" cy="658368"/>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5020056"/>
            <a:ext cx="2560320" cy="274320"/>
          </a:xfrm>
          <a:prstGeom prst="rect">
            <a:avLst/>
          </a:prstGeom>
          <a:noFill/>
        </p:spPr>
        <p:txBody>
          <a:bodyPr wrap="square" anchor="t" lIns="0" rIns="0" tIns="0" bIns="0">
            <a:spAutoFit/>
          </a:bodyPr>
          <a:lstStyle/>
          <a:p>
            <a:pPr algn="l">
              <a:spcAft>
                <a:spcPts val="600"/>
              </a:spcAft>
            </a:pPr>
            <a:r>
              <a:rPr sz="1500" b="1">
                <a:solidFill>
                  <a:srgbClr val="5FD68A"/>
                </a:solidFill>
                <a:latin typeface="Segoe UI"/>
              </a:rPr>
              <a:t>MeshAI</a:t>
            </a:r>
          </a:p>
        </p:txBody>
      </p:sp>
      <p:sp>
        <p:nvSpPr>
          <p:cNvPr id="31" name="TextBox 30"/>
          <p:cNvSpPr txBox="1"/>
          <p:nvPr/>
        </p:nvSpPr>
        <p:spPr>
          <a:xfrm>
            <a:off x="566928" y="5257800"/>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what we built</a:t>
            </a:r>
          </a:p>
        </p:txBody>
      </p:sp>
      <p:sp>
        <p:nvSpPr>
          <p:cNvPr id="32" name="TextBox 31"/>
          <p:cNvSpPr txBox="1"/>
          <p:nvPr/>
        </p:nvSpPr>
        <p:spPr>
          <a:xfrm>
            <a:off x="3218688" y="5020056"/>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F0EFE9"/>
                </a:solidFill>
                <a:latin typeface="Segoe UI"/>
              </a:rPr>
              <a:t>Phones and laptops together. It decides who holds what, and says no when it should</a:t>
            </a:r>
          </a:p>
        </p:txBody>
      </p:sp>
      <p:sp>
        <p:nvSpPr>
          <p:cNvPr id="33" name="TextBox 32"/>
          <p:cNvSpPr txBox="1"/>
          <p:nvPr/>
        </p:nvSpPr>
        <p:spPr>
          <a:xfrm>
            <a:off x="8065007" y="5020056"/>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F0EFE9"/>
                </a:solidFill>
                <a:latin typeface="Segoe UI"/>
              </a:rPr>
              <a:t>Nothing. No product and no paper does this.</a:t>
            </a:r>
          </a:p>
        </p:txBody>
      </p:sp>
      <p:sp>
        <p:nvSpPr>
          <p:cNvPr id="34" name="TextBox 33"/>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5" name="TextBox 34"/>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each one checked against its own source, September 2026</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09 · THE BUSINESS</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Their own devices become their private cloud.</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We do not buy hardware. We sell the software that turns the devices a company already owns into one cluster.</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3503066" cy="31089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WHO PAYS</a:t>
            </a:r>
          </a:p>
        </p:txBody>
      </p:sp>
      <p:sp>
        <p:nvSpPr>
          <p:cNvPr id="9" name="Rectangle 8"/>
          <p:cNvSpPr/>
          <p:nvPr/>
        </p:nvSpPr>
        <p:spPr>
          <a:xfrm>
            <a:off x="822960" y="29443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852928"/>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Teams whose code cannot leave</a:t>
            </a:r>
          </a:p>
        </p:txBody>
      </p:sp>
      <p:sp>
        <p:nvSpPr>
          <p:cNvPr id="11" name="Rectangle 10"/>
          <p:cNvSpPr/>
          <p:nvPr/>
        </p:nvSpPr>
        <p:spPr>
          <a:xfrm>
            <a:off x="822960" y="33467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255264"/>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Developers with a weak laptop</a:t>
            </a:r>
          </a:p>
        </p:txBody>
      </p:sp>
      <p:sp>
        <p:nvSpPr>
          <p:cNvPr id="13" name="Rectangle 12"/>
          <p:cNvSpPr/>
          <p:nvPr/>
        </p:nvSpPr>
        <p:spPr>
          <a:xfrm>
            <a:off x="822960" y="374904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657600"/>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Labs and campuses, idle all night</a:t>
            </a:r>
          </a:p>
        </p:txBody>
      </p:sp>
      <p:sp>
        <p:nvSpPr>
          <p:cNvPr id="15" name="Rectangle 14"/>
          <p:cNvSpPr/>
          <p:nvPr/>
        </p:nvSpPr>
        <p:spPr>
          <a:xfrm>
            <a:off x="822960" y="41513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4059936"/>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Places with no good network</a:t>
            </a:r>
          </a:p>
        </p:txBody>
      </p:sp>
      <p:sp>
        <p:nvSpPr>
          <p:cNvPr id="17" name="TextBox 16"/>
          <p:cNvSpPr txBox="1"/>
          <p:nvPr/>
        </p:nvSpPr>
        <p:spPr>
          <a:xfrm>
            <a:off x="822960" y="4626864"/>
            <a:ext cx="2991002" cy="64008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They are not choosing us over a cloud. They are choosing us over a ₹10 lakh GPU server, or nothing.</a:t>
            </a:r>
          </a:p>
        </p:txBody>
      </p:sp>
      <p:sp>
        <p:nvSpPr>
          <p:cNvPr id="18" name="Rounded Rectangle 17"/>
          <p:cNvSpPr/>
          <p:nvPr/>
        </p:nvSpPr>
        <p:spPr>
          <a:xfrm>
            <a:off x="4344314" y="2249424"/>
            <a:ext cx="3503066" cy="31089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0346"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THEY GET</a:t>
            </a:r>
          </a:p>
        </p:txBody>
      </p:sp>
      <p:sp>
        <p:nvSpPr>
          <p:cNvPr id="20" name="Rectangle 19"/>
          <p:cNvSpPr/>
          <p:nvPr/>
        </p:nvSpPr>
        <p:spPr>
          <a:xfrm>
            <a:off x="4600346" y="29443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38090" y="2852928"/>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 30B model on devices they own</a:t>
            </a:r>
          </a:p>
        </p:txBody>
      </p:sp>
      <p:sp>
        <p:nvSpPr>
          <p:cNvPr id="22" name="Rectangle 21"/>
          <p:cNvSpPr/>
          <p:nvPr/>
        </p:nvSpPr>
        <p:spPr>
          <a:xfrm>
            <a:off x="4600346" y="33467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38090" y="3255264"/>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One endpoint their tools already use</a:t>
            </a:r>
          </a:p>
        </p:txBody>
      </p:sp>
      <p:sp>
        <p:nvSpPr>
          <p:cNvPr id="24" name="Rectangle 23"/>
          <p:cNvSpPr/>
          <p:nvPr/>
        </p:nvSpPr>
        <p:spPr>
          <a:xfrm>
            <a:off x="4600346" y="374904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38090" y="3657600"/>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Code reviewed on every commit</a:t>
            </a:r>
          </a:p>
        </p:txBody>
      </p:sp>
      <p:sp>
        <p:nvSpPr>
          <p:cNvPr id="26" name="Rectangle 25"/>
          <p:cNvSpPr/>
          <p:nvPr/>
        </p:nvSpPr>
        <p:spPr>
          <a:xfrm>
            <a:off x="4600346" y="41513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38090" y="4059936"/>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Nothing leaves the building</a:t>
            </a:r>
          </a:p>
        </p:txBody>
      </p:sp>
      <p:sp>
        <p:nvSpPr>
          <p:cNvPr id="28" name="Rectangle 27"/>
          <p:cNvSpPr/>
          <p:nvPr/>
        </p:nvSpPr>
        <p:spPr>
          <a:xfrm>
            <a:off x="4600346" y="455371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38090" y="4462272"/>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No bill, however often they run it</a:t>
            </a:r>
          </a:p>
        </p:txBody>
      </p:sp>
      <p:sp>
        <p:nvSpPr>
          <p:cNvPr id="30" name="TextBox 29"/>
          <p:cNvSpPr txBox="1"/>
          <p:nvPr/>
        </p:nvSpPr>
        <p:spPr>
          <a:xfrm>
            <a:off x="4600346" y="4855464"/>
            <a:ext cx="2991002" cy="457200"/>
          </a:xfrm>
          <a:prstGeom prst="rect">
            <a:avLst/>
          </a:prstGeom>
          <a:noFill/>
        </p:spPr>
        <p:txBody>
          <a:bodyPr wrap="square" anchor="t" lIns="0" rIns="0" tIns="0" bIns="0">
            <a:spAutoFit/>
          </a:bodyPr>
          <a:lstStyle/>
          <a:p>
            <a:pPr algn="l">
              <a:lnSpc>
                <a:spcPct val="130000"/>
              </a:lnSpc>
              <a:spcAft>
                <a:spcPts val="600"/>
              </a:spcAft>
            </a:pPr>
            <a:r>
              <a:rPr sz="1300" b="0">
                <a:solidFill>
                  <a:srgbClr val="5FD68A"/>
                </a:solidFill>
                <a:latin typeface="Segoe UI"/>
              </a:rPr>
              <a:t>Add a device and they can run a bigger model.</a:t>
            </a:r>
          </a:p>
        </p:txBody>
      </p:sp>
      <p:sp>
        <p:nvSpPr>
          <p:cNvPr id="31" name="Rounded Rectangle 30"/>
          <p:cNvSpPr/>
          <p:nvPr/>
        </p:nvSpPr>
        <p:spPr>
          <a:xfrm>
            <a:off x="8121700" y="2249424"/>
            <a:ext cx="3503066" cy="310896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77732" y="2487168"/>
            <a:ext cx="2991002" cy="274320"/>
          </a:xfrm>
          <a:prstGeom prst="rect">
            <a:avLst/>
          </a:prstGeom>
          <a:noFill/>
        </p:spPr>
        <p:txBody>
          <a:bodyPr wrap="square" anchor="t" lIns="0" rIns="0" tIns="0" bIns="0">
            <a:spAutoFit/>
          </a:bodyPr>
          <a:lstStyle/>
          <a:p>
            <a:pPr algn="l">
              <a:spcAft>
                <a:spcPts val="600"/>
              </a:spcAft>
            </a:pPr>
            <a:r>
              <a:rPr sz="1100" b="0">
                <a:solidFill>
                  <a:srgbClr val="5FD68A"/>
                </a:solidFill>
                <a:latin typeface="Consolas"/>
              </a:rPr>
              <a:t>HOW WE EARN</a:t>
            </a:r>
          </a:p>
        </p:txBody>
      </p:sp>
      <p:sp>
        <p:nvSpPr>
          <p:cNvPr id="33" name="TextBox 32"/>
          <p:cNvSpPr txBox="1"/>
          <p:nvPr/>
        </p:nvSpPr>
        <p:spPr>
          <a:xfrm>
            <a:off x="8377732" y="2889504"/>
            <a:ext cx="2991002" cy="274320"/>
          </a:xfrm>
          <a:prstGeom prst="rect">
            <a:avLst/>
          </a:prstGeom>
          <a:noFill/>
        </p:spPr>
        <p:txBody>
          <a:bodyPr wrap="square" anchor="t" lIns="0" rIns="0" tIns="0" bIns="0">
            <a:spAutoFit/>
          </a:bodyPr>
          <a:lstStyle/>
          <a:p>
            <a:pPr algn="l">
              <a:spcAft>
                <a:spcPts val="600"/>
              </a:spcAft>
            </a:pPr>
            <a:r>
              <a:rPr sz="1600" b="1">
                <a:solidFill>
                  <a:srgbClr val="F0EFE9"/>
                </a:solidFill>
                <a:latin typeface="Segoe UI"/>
              </a:rPr>
              <a:t>Per site</a:t>
            </a:r>
          </a:p>
        </p:txBody>
      </p:sp>
      <p:sp>
        <p:nvSpPr>
          <p:cNvPr id="34" name="TextBox 33"/>
          <p:cNvSpPr txBox="1"/>
          <p:nvPr/>
        </p:nvSpPr>
        <p:spPr>
          <a:xfrm>
            <a:off x="8377732" y="3163824"/>
            <a:ext cx="2991002" cy="411480"/>
          </a:xfrm>
          <a:prstGeom prst="rect">
            <a:avLst/>
          </a:prstGeom>
          <a:noFill/>
        </p:spPr>
        <p:txBody>
          <a:bodyPr wrap="square" anchor="t" lIns="0" rIns="0" tIns="0" bIns="0">
            <a:spAutoFit/>
          </a:bodyPr>
          <a:lstStyle/>
          <a:p>
            <a:pPr algn="l">
              <a:lnSpc>
                <a:spcPct val="125000"/>
              </a:lnSpc>
              <a:spcAft>
                <a:spcPts val="600"/>
              </a:spcAft>
            </a:pPr>
            <a:r>
              <a:rPr sz="1200" b="0">
                <a:solidFill>
                  <a:srgbClr val="A8ACA1"/>
                </a:solidFill>
                <a:latin typeface="Segoe UI"/>
              </a:rPr>
              <a:t>a lab, a floor, a campus</a:t>
            </a:r>
          </a:p>
        </p:txBody>
      </p:sp>
      <p:sp>
        <p:nvSpPr>
          <p:cNvPr id="35" name="TextBox 34"/>
          <p:cNvSpPr txBox="1"/>
          <p:nvPr/>
        </p:nvSpPr>
        <p:spPr>
          <a:xfrm>
            <a:off x="8377732" y="3639312"/>
            <a:ext cx="2991002" cy="274320"/>
          </a:xfrm>
          <a:prstGeom prst="rect">
            <a:avLst/>
          </a:prstGeom>
          <a:noFill/>
        </p:spPr>
        <p:txBody>
          <a:bodyPr wrap="square" anchor="t" lIns="0" rIns="0" tIns="0" bIns="0">
            <a:spAutoFit/>
          </a:bodyPr>
          <a:lstStyle/>
          <a:p>
            <a:pPr algn="l">
              <a:spcAft>
                <a:spcPts val="600"/>
              </a:spcAft>
            </a:pPr>
            <a:r>
              <a:rPr sz="1600" b="1">
                <a:solidFill>
                  <a:srgbClr val="F0EFE9"/>
                </a:solidFill>
                <a:latin typeface="Segoe UI"/>
              </a:rPr>
              <a:t>Per seat</a:t>
            </a:r>
          </a:p>
        </p:txBody>
      </p:sp>
      <p:sp>
        <p:nvSpPr>
          <p:cNvPr id="36" name="TextBox 35"/>
          <p:cNvSpPr txBox="1"/>
          <p:nvPr/>
        </p:nvSpPr>
        <p:spPr>
          <a:xfrm>
            <a:off x="8377732" y="3913632"/>
            <a:ext cx="2991002" cy="411480"/>
          </a:xfrm>
          <a:prstGeom prst="rect">
            <a:avLst/>
          </a:prstGeom>
          <a:noFill/>
        </p:spPr>
        <p:txBody>
          <a:bodyPr wrap="square" anchor="t" lIns="0" rIns="0" tIns="0" bIns="0">
            <a:spAutoFit/>
          </a:bodyPr>
          <a:lstStyle/>
          <a:p>
            <a:pPr algn="l">
              <a:lnSpc>
                <a:spcPct val="125000"/>
              </a:lnSpc>
              <a:spcAft>
                <a:spcPts val="600"/>
              </a:spcAft>
            </a:pPr>
            <a:r>
              <a:rPr sz="1200" b="0">
                <a:solidFill>
                  <a:srgbClr val="A8ACA1"/>
                </a:solidFill>
                <a:latin typeface="Segoe UI"/>
              </a:rPr>
              <a:t>the developer tool, with the git hook as the way in</a:t>
            </a:r>
          </a:p>
        </p:txBody>
      </p:sp>
      <p:sp>
        <p:nvSpPr>
          <p:cNvPr id="37" name="TextBox 36"/>
          <p:cNvSpPr txBox="1"/>
          <p:nvPr/>
        </p:nvSpPr>
        <p:spPr>
          <a:xfrm>
            <a:off x="8377732" y="4389120"/>
            <a:ext cx="2991002" cy="274320"/>
          </a:xfrm>
          <a:prstGeom prst="rect">
            <a:avLst/>
          </a:prstGeom>
          <a:noFill/>
        </p:spPr>
        <p:txBody>
          <a:bodyPr wrap="square" anchor="t" lIns="0" rIns="0" tIns="0" bIns="0">
            <a:spAutoFit/>
          </a:bodyPr>
          <a:lstStyle/>
          <a:p>
            <a:pPr algn="l">
              <a:spcAft>
                <a:spcPts val="600"/>
              </a:spcAft>
            </a:pPr>
            <a:r>
              <a:rPr sz="1600" b="1">
                <a:solidFill>
                  <a:srgbClr val="F0EFE9"/>
                </a:solidFill>
                <a:latin typeface="Segoe UI"/>
              </a:rPr>
              <a:t>Licensed to a phone maker</a:t>
            </a:r>
          </a:p>
        </p:txBody>
      </p:sp>
      <p:sp>
        <p:nvSpPr>
          <p:cNvPr id="38" name="TextBox 37"/>
          <p:cNvSpPr txBox="1"/>
          <p:nvPr/>
        </p:nvSpPr>
        <p:spPr>
          <a:xfrm>
            <a:off x="8377732" y="4663440"/>
            <a:ext cx="2991002" cy="411480"/>
          </a:xfrm>
          <a:prstGeom prst="rect">
            <a:avLst/>
          </a:prstGeom>
          <a:noFill/>
        </p:spPr>
        <p:txBody>
          <a:bodyPr wrap="square" anchor="t" lIns="0" rIns="0" tIns="0" bIns="0">
            <a:spAutoFit/>
          </a:bodyPr>
          <a:lstStyle/>
          <a:p>
            <a:pPr algn="l">
              <a:lnSpc>
                <a:spcPct val="125000"/>
              </a:lnSpc>
              <a:spcAft>
                <a:spcPts val="600"/>
              </a:spcAft>
            </a:pPr>
            <a:r>
              <a:rPr sz="1200" b="0">
                <a:solidFill>
                  <a:srgbClr val="A8ACA1"/>
                </a:solidFill>
                <a:latin typeface="Segoe UI"/>
              </a:rPr>
              <a:t>two phones are worth more together than apart</a:t>
            </a:r>
          </a:p>
        </p:txBody>
      </p:sp>
      <p:sp>
        <p:nvSpPr>
          <p:cNvPr id="39" name="TextBox 38"/>
          <p:cNvSpPr txBox="1"/>
          <p:nvPr/>
        </p:nvSpPr>
        <p:spPr>
          <a:xfrm>
            <a:off x="8377732" y="4992624"/>
            <a:ext cx="2991002" cy="274320"/>
          </a:xfrm>
          <a:prstGeom prst="rect">
            <a:avLst/>
          </a:prstGeom>
          <a:noFill/>
        </p:spPr>
        <p:txBody>
          <a:bodyPr wrap="square" anchor="t" lIns="0" rIns="0" tIns="0" bIns="0">
            <a:spAutoFit/>
          </a:bodyPr>
          <a:lstStyle/>
          <a:p>
            <a:pPr algn="l">
              <a:spcAft>
                <a:spcPts val="600"/>
              </a:spcAft>
            </a:pPr>
            <a:r>
              <a:rPr sz="1300" b="1">
                <a:solidFill>
                  <a:srgbClr val="5FD68A"/>
                </a:solidFill>
                <a:latin typeface="Segoe UI"/>
              </a:rPr>
              <a:t>That last buyer is in this room.</a:t>
            </a:r>
          </a:p>
        </p:txBody>
      </p:sp>
      <p:sp>
        <p:nvSpPr>
          <p:cNvPr id="40" name="TextBox 39"/>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41" name="TextBox 40"/>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the hardware is already bought, and already sitting idle</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10 · FEASIBILITY</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It already runs. This is not a plan.</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755648"/>
            <a:ext cx="3503066" cy="32004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93392"/>
            <a:ext cx="2991002" cy="274320"/>
          </a:xfrm>
          <a:prstGeom prst="rect">
            <a:avLst/>
          </a:prstGeom>
          <a:noFill/>
        </p:spPr>
        <p:txBody>
          <a:bodyPr wrap="square" anchor="t" lIns="0" rIns="0" tIns="0" bIns="0">
            <a:spAutoFit/>
          </a:bodyPr>
          <a:lstStyle/>
          <a:p>
            <a:pPr algn="l">
              <a:spcAft>
                <a:spcPts val="600"/>
              </a:spcAft>
            </a:pPr>
            <a:r>
              <a:rPr sz="1100" b="0">
                <a:solidFill>
                  <a:srgbClr val="5FD68A"/>
                </a:solidFill>
                <a:latin typeface="Consolas"/>
              </a:rPr>
              <a:t>WHAT RAN</a:t>
            </a:r>
          </a:p>
        </p:txBody>
      </p:sp>
      <p:sp>
        <p:nvSpPr>
          <p:cNvPr id="8" name="TextBox 7"/>
          <p:cNvSpPr txBox="1"/>
          <p:nvPr/>
        </p:nvSpPr>
        <p:spPr>
          <a:xfrm>
            <a:off x="822960" y="2304288"/>
            <a:ext cx="2991002" cy="365760"/>
          </a:xfrm>
          <a:prstGeom prst="rect">
            <a:avLst/>
          </a:prstGeom>
          <a:noFill/>
        </p:spPr>
        <p:txBody>
          <a:bodyPr wrap="square" anchor="t" lIns="0" rIns="0" tIns="0" bIns="0">
            <a:spAutoFit/>
          </a:bodyPr>
          <a:lstStyle/>
          <a:p>
            <a:pPr algn="l">
              <a:spcAft>
                <a:spcPts val="600"/>
              </a:spcAft>
            </a:pPr>
            <a:r>
              <a:rPr sz="1900" b="1">
                <a:solidFill>
                  <a:srgbClr val="F0EFE9"/>
                </a:solidFill>
                <a:latin typeface="Segoe UI"/>
              </a:rPr>
              <a:t>Qwen3-Coder 30B</a:t>
            </a:r>
          </a:p>
        </p:txBody>
      </p:sp>
      <p:sp>
        <p:nvSpPr>
          <p:cNvPr id="9" name="Rectangle 8"/>
          <p:cNvSpPr/>
          <p:nvPr/>
        </p:nvSpPr>
        <p:spPr>
          <a:xfrm>
            <a:off x="822960" y="285292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761488"/>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18.6 GB across a laptop and two phones</a:t>
            </a:r>
          </a:p>
        </p:txBody>
      </p:sp>
      <p:sp>
        <p:nvSpPr>
          <p:cNvPr id="11" name="Rectangle 10"/>
          <p:cNvSpPr/>
          <p:nvPr/>
        </p:nvSpPr>
        <p:spPr>
          <a:xfrm>
            <a:off x="822960" y="318211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09067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phones held 9.6 GB of it</a:t>
            </a:r>
          </a:p>
        </p:txBody>
      </p:sp>
      <p:sp>
        <p:nvSpPr>
          <p:cNvPr id="13" name="Rectangle 12"/>
          <p:cNvSpPr/>
          <p:nvPr/>
        </p:nvSpPr>
        <p:spPr>
          <a:xfrm>
            <a:off x="822960" y="35112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41985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Ready in 70 seconds</a:t>
            </a:r>
          </a:p>
        </p:txBody>
      </p:sp>
      <p:sp>
        <p:nvSpPr>
          <p:cNvPr id="15" name="Rectangle 14"/>
          <p:cNvSpPr/>
          <p:nvPr/>
        </p:nvSpPr>
        <p:spPr>
          <a:xfrm>
            <a:off x="822960" y="384048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374904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6.6 words a second</a:t>
            </a:r>
          </a:p>
        </p:txBody>
      </p:sp>
      <p:sp>
        <p:nvSpPr>
          <p:cNvPr id="17" name="Rectangle 16"/>
          <p:cNvSpPr/>
          <p:nvPr/>
        </p:nvSpPr>
        <p:spPr>
          <a:xfrm>
            <a:off x="822960" y="416966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407822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Three coding questions, all correct</a:t>
            </a:r>
          </a:p>
        </p:txBody>
      </p:sp>
      <p:sp>
        <p:nvSpPr>
          <p:cNvPr id="19" name="Rectangle 18"/>
          <p:cNvSpPr/>
          <p:nvPr/>
        </p:nvSpPr>
        <p:spPr>
          <a:xfrm>
            <a:off x="822960" y="4498847"/>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4407407"/>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Internet off the whole time</a:t>
            </a:r>
          </a:p>
        </p:txBody>
      </p:sp>
      <p:sp>
        <p:nvSpPr>
          <p:cNvPr id="21" name="TextBox 20"/>
          <p:cNvSpPr txBox="1"/>
          <p:nvPr/>
        </p:nvSpPr>
        <p:spPr>
          <a:xfrm>
            <a:off x="822960" y="4590288"/>
            <a:ext cx="2991002" cy="365760"/>
          </a:xfrm>
          <a:prstGeom prst="rect">
            <a:avLst/>
          </a:prstGeom>
          <a:noFill/>
        </p:spPr>
        <p:txBody>
          <a:bodyPr wrap="square" anchor="t" lIns="0" rIns="0" tIns="0" bIns="0">
            <a:spAutoFit/>
          </a:bodyPr>
          <a:lstStyle/>
          <a:p>
            <a:pPr algn="l">
              <a:lnSpc>
                <a:spcPct val="130000"/>
              </a:lnSpc>
              <a:spcAft>
                <a:spcPts val="600"/>
              </a:spcAft>
            </a:pPr>
            <a:r>
              <a:rPr sz="1000" b="0">
                <a:solidFill>
                  <a:srgbClr val="71766C"/>
                </a:solidFill>
                <a:latin typeface="Consolas"/>
              </a:rPr>
              <a:t>Cable at 2–3 ms · context 4096 · laptop capped at 8 GB · 27 September</a:t>
            </a:r>
          </a:p>
        </p:txBody>
      </p:sp>
      <p:sp>
        <p:nvSpPr>
          <p:cNvPr id="22" name="Rounded Rectangle 21"/>
          <p:cNvSpPr/>
          <p:nvPr/>
        </p:nvSpPr>
        <p:spPr>
          <a:xfrm>
            <a:off x="4344314" y="1755648"/>
            <a:ext cx="3503066" cy="32004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BUILT IN THE WINDOW</a:t>
            </a:r>
          </a:p>
        </p:txBody>
      </p:sp>
      <p:sp>
        <p:nvSpPr>
          <p:cNvPr id="24" name="Rectangle 23"/>
          <p:cNvSpPr/>
          <p:nvPr/>
        </p:nvSpPr>
        <p:spPr>
          <a:xfrm>
            <a:off x="4600346" y="245059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38090" y="235915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llama.cpp built for phones</a:t>
            </a:r>
          </a:p>
        </p:txBody>
      </p:sp>
      <p:sp>
        <p:nvSpPr>
          <p:cNvPr id="26" name="Rectangle 25"/>
          <p:cNvSpPr/>
          <p:nvPr/>
        </p:nvSpPr>
        <p:spPr>
          <a:xfrm>
            <a:off x="4600346" y="279806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38090" y="270662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app: host and helper</a:t>
            </a:r>
          </a:p>
        </p:txBody>
      </p:sp>
      <p:sp>
        <p:nvSpPr>
          <p:cNvPr id="28" name="Rectangle 27"/>
          <p:cNvSpPr/>
          <p:nvPr/>
        </p:nvSpPr>
        <p:spPr>
          <a:xfrm>
            <a:off x="4600346" y="314553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38090" y="305409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laptop agent and its panel</a:t>
            </a:r>
          </a:p>
        </p:txBody>
      </p:sp>
      <p:sp>
        <p:nvSpPr>
          <p:cNvPr id="30" name="Rectangle 29"/>
          <p:cNvSpPr/>
          <p:nvPr/>
        </p:nvSpPr>
        <p:spPr>
          <a:xfrm>
            <a:off x="4600346" y="349300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38090" y="3401568"/>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Our own model reader and planner</a:t>
            </a:r>
          </a:p>
        </p:txBody>
      </p:sp>
      <p:sp>
        <p:nvSpPr>
          <p:cNvPr id="32" name="Rectangle 31"/>
          <p:cNvSpPr/>
          <p:nvPr/>
        </p:nvSpPr>
        <p:spPr>
          <a:xfrm>
            <a:off x="4600346" y="384048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38090" y="374904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layer store</a:t>
            </a:r>
          </a:p>
        </p:txBody>
      </p:sp>
      <p:sp>
        <p:nvSpPr>
          <p:cNvPr id="34" name="Rectangle 33"/>
          <p:cNvSpPr/>
          <p:nvPr/>
        </p:nvSpPr>
        <p:spPr>
          <a:xfrm>
            <a:off x="4600346" y="418795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38090" y="409651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test harness</a:t>
            </a:r>
          </a:p>
        </p:txBody>
      </p:sp>
      <p:sp>
        <p:nvSpPr>
          <p:cNvPr id="36" name="Rectangle 35"/>
          <p:cNvSpPr/>
          <p:nvPr/>
        </p:nvSpPr>
        <p:spPr>
          <a:xfrm>
            <a:off x="4600346" y="453542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38090" y="444398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CLI and the git hook</a:t>
            </a:r>
          </a:p>
        </p:txBody>
      </p:sp>
      <p:sp>
        <p:nvSpPr>
          <p:cNvPr id="38" name="TextBox 37"/>
          <p:cNvSpPr txBox="1"/>
          <p:nvPr/>
        </p:nvSpPr>
        <p:spPr>
          <a:xfrm>
            <a:off x="4600346" y="463600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Every commit timestamped. Nothing pre-built.</a:t>
            </a:r>
          </a:p>
        </p:txBody>
      </p:sp>
      <p:sp>
        <p:nvSpPr>
          <p:cNvPr id="39" name="Rounded Rectangle 38"/>
          <p:cNvSpPr/>
          <p:nvPr/>
        </p:nvSpPr>
        <p:spPr>
          <a:xfrm>
            <a:off x="8121700" y="1755648"/>
            <a:ext cx="3503066" cy="32004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77732"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IF SOMETHING GOES WRONG</a:t>
            </a:r>
          </a:p>
        </p:txBody>
      </p:sp>
      <p:sp>
        <p:nvSpPr>
          <p:cNvPr id="41" name="TextBox 40"/>
          <p:cNvSpPr txBox="1"/>
          <p:nvPr/>
        </p:nvSpPr>
        <p:spPr>
          <a:xfrm>
            <a:off x="8377732" y="237744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Slow link</a:t>
            </a:r>
          </a:p>
        </p:txBody>
      </p:sp>
      <p:sp>
        <p:nvSpPr>
          <p:cNvPr id="42" name="TextBox 41"/>
          <p:cNvSpPr txBox="1"/>
          <p:nvPr/>
        </p:nvSpPr>
        <p:spPr>
          <a:xfrm>
            <a:off x="10133380" y="237744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refused above 60 ms</a:t>
            </a:r>
          </a:p>
        </p:txBody>
      </p:sp>
      <p:sp>
        <p:nvSpPr>
          <p:cNvPr id="43" name="TextBox 42"/>
          <p:cNvSpPr txBox="1"/>
          <p:nvPr/>
        </p:nvSpPr>
        <p:spPr>
          <a:xfrm>
            <a:off x="8377732" y="278892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Phone short of memory</a:t>
            </a:r>
          </a:p>
        </p:txBody>
      </p:sp>
      <p:sp>
        <p:nvSpPr>
          <p:cNvPr id="44" name="TextBox 43"/>
          <p:cNvSpPr txBox="1"/>
          <p:nvPr/>
        </p:nvSpPr>
        <p:spPr>
          <a:xfrm>
            <a:off x="10133380" y="278892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we reserve, and you can cap it</a:t>
            </a:r>
          </a:p>
        </p:txBody>
      </p:sp>
      <p:sp>
        <p:nvSpPr>
          <p:cNvPr id="45" name="TextBox 44"/>
          <p:cNvSpPr txBox="1"/>
          <p:nvPr/>
        </p:nvSpPr>
        <p:spPr>
          <a:xfrm>
            <a:off x="8377732" y="320040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A device drops</a:t>
            </a:r>
          </a:p>
        </p:txBody>
      </p:sp>
      <p:sp>
        <p:nvSpPr>
          <p:cNvPr id="46" name="TextBox 45"/>
          <p:cNvSpPr txBox="1"/>
          <p:nvPr/>
        </p:nvSpPr>
        <p:spPr>
          <a:xfrm>
            <a:off x="10133380" y="320040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it comes back by itself</a:t>
            </a:r>
          </a:p>
        </p:txBody>
      </p:sp>
      <p:sp>
        <p:nvSpPr>
          <p:cNvPr id="47" name="TextBox 46"/>
          <p:cNvSpPr txBox="1"/>
          <p:nvPr/>
        </p:nvSpPr>
        <p:spPr>
          <a:xfrm>
            <a:off x="8377732" y="361188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Engine missing a flag</a:t>
            </a:r>
          </a:p>
        </p:txBody>
      </p:sp>
      <p:sp>
        <p:nvSpPr>
          <p:cNvPr id="48" name="TextBox 47"/>
          <p:cNvSpPr txBox="1"/>
          <p:nvPr/>
        </p:nvSpPr>
        <p:spPr>
          <a:xfrm>
            <a:off x="10133380" y="361188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we ask it what it has</a:t>
            </a:r>
          </a:p>
        </p:txBody>
      </p:sp>
      <p:sp>
        <p:nvSpPr>
          <p:cNvPr id="49" name="TextBox 48"/>
          <p:cNvSpPr txBox="1"/>
          <p:nvPr/>
        </p:nvSpPr>
        <p:spPr>
          <a:xfrm>
            <a:off x="8377732" y="402336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Bad model file</a:t>
            </a:r>
          </a:p>
        </p:txBody>
      </p:sp>
      <p:sp>
        <p:nvSpPr>
          <p:cNvPr id="50" name="TextBox 49"/>
          <p:cNvSpPr txBox="1"/>
          <p:nvPr/>
        </p:nvSpPr>
        <p:spPr>
          <a:xfrm>
            <a:off x="10133380" y="402336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every read is checked</a:t>
            </a:r>
          </a:p>
        </p:txBody>
      </p:sp>
      <p:sp>
        <p:nvSpPr>
          <p:cNvPr id="51" name="TextBox 50"/>
          <p:cNvSpPr txBox="1"/>
          <p:nvPr/>
        </p:nvSpPr>
        <p:spPr>
          <a:xfrm>
            <a:off x="8377732" y="443484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A strange machine</a:t>
            </a:r>
          </a:p>
        </p:txBody>
      </p:sp>
      <p:sp>
        <p:nvSpPr>
          <p:cNvPr id="52" name="TextBox 51"/>
          <p:cNvSpPr txBox="1"/>
          <p:nvPr/>
        </p:nvSpPr>
        <p:spPr>
          <a:xfrm>
            <a:off x="10133380" y="443484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one button checks everything</a:t>
            </a:r>
          </a:p>
        </p:txBody>
      </p:sp>
      <p:sp>
        <p:nvSpPr>
          <p:cNvPr id="53" name="TextBox 52"/>
          <p:cNvSpPr txBox="1"/>
          <p:nvPr/>
        </p:nvSpPr>
        <p:spPr>
          <a:xfrm>
            <a:off x="8377732" y="4636008"/>
            <a:ext cx="2991002" cy="274320"/>
          </a:xfrm>
          <a:prstGeom prst="rect">
            <a:avLst/>
          </a:prstGeom>
          <a:noFill/>
        </p:spPr>
        <p:txBody>
          <a:bodyPr wrap="square" anchor="t" lIns="0" rIns="0" tIns="0" bIns="0">
            <a:spAutoFit/>
          </a:bodyPr>
          <a:lstStyle/>
          <a:p>
            <a:pPr algn="l">
              <a:spcAft>
                <a:spcPts val="600"/>
              </a:spcAft>
            </a:pPr>
            <a:r>
              <a:rPr sz="1300" b="1">
                <a:solidFill>
                  <a:srgbClr val="5FD68A"/>
                </a:solidFill>
                <a:latin typeface="Segoe UI"/>
              </a:rPr>
              <a:t>It says no before it disappoints you.</a:t>
            </a:r>
          </a:p>
        </p:txBody>
      </p:sp>
      <p:sp>
        <p:nvSpPr>
          <p:cNvPr id="54" name="TextBox 53"/>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55" name="TextBox 54"/>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two 16 GB phones and one budget laptop · nothing else was bought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11 · LIMITS</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What we will not claim.</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We say these first, because it is the only way the rest is worth believing.</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NOT FASTER</a:t>
            </a:r>
          </a:p>
        </p:txBody>
      </p:sp>
      <p:sp>
        <p:nvSpPr>
          <p:cNvPr id="9" name="TextBox 8"/>
          <p:cNvSpPr txBox="1"/>
          <p:nvPr/>
        </p:nvSpPr>
        <p:spPr>
          <a:xfrm>
            <a:off x="822960" y="2816352"/>
            <a:ext cx="2991002" cy="457200"/>
          </a:xfrm>
          <a:prstGeom prst="rect">
            <a:avLst/>
          </a:prstGeom>
          <a:noFill/>
        </p:spPr>
        <p:txBody>
          <a:bodyPr wrap="square" anchor="t" lIns="0" rIns="0" tIns="0" bIns="0">
            <a:spAutoFit/>
          </a:bodyPr>
          <a:lstStyle/>
          <a:p>
            <a:pPr algn="l">
              <a:lnSpc>
                <a:spcPct val="130000"/>
              </a:lnSpc>
              <a:spcAft>
                <a:spcPts val="600"/>
              </a:spcAft>
            </a:pPr>
            <a:r>
              <a:rPr sz="1600" b="0">
                <a:solidFill>
                  <a:srgbClr val="F0EFE9"/>
                </a:solidFill>
                <a:latin typeface="Segoe UI"/>
              </a:rPr>
              <a:t>It buys memory, not speed.</a:t>
            </a:r>
          </a:p>
        </p:txBody>
      </p:sp>
      <p:sp>
        <p:nvSpPr>
          <p:cNvPr id="10" name="Rectangle 9"/>
          <p:cNvSpPr/>
          <p:nvPr/>
        </p:nvSpPr>
        <p:spPr>
          <a:xfrm>
            <a:off x="822960" y="35753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348386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Every word crosses the cable once</a:t>
            </a:r>
          </a:p>
        </p:txBody>
      </p:sp>
      <p:sp>
        <p:nvSpPr>
          <p:cNvPr id="12" name="Rectangle 11"/>
          <p:cNvSpPr/>
          <p:nvPr/>
        </p:nvSpPr>
        <p:spPr>
          <a:xfrm>
            <a:off x="822960" y="397764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388620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One device that already fits is quicker</a:t>
            </a:r>
          </a:p>
        </p:txBody>
      </p:sp>
      <p:sp>
        <p:nvSpPr>
          <p:cNvPr id="14" name="Rectangle 13"/>
          <p:cNvSpPr/>
          <p:nvPr/>
        </p:nvSpPr>
        <p:spPr>
          <a:xfrm>
            <a:off x="822960" y="43799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428853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Our own app tells you so and refuses</a:t>
            </a:r>
          </a:p>
        </p:txBody>
      </p:sp>
      <p:sp>
        <p:nvSpPr>
          <p:cNvPr id="16" name="Rectangle 15"/>
          <p:cNvSpPr/>
          <p:nvPr/>
        </p:nvSpPr>
        <p:spPr>
          <a:xfrm>
            <a:off x="822960" y="478231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469087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We split only when nothing else fits</a:t>
            </a:r>
          </a:p>
        </p:txBody>
      </p:sp>
      <p:sp>
        <p:nvSpPr>
          <p:cNvPr id="18" name="Rounded Rectangle 17"/>
          <p:cNvSpPr/>
          <p:nvPr/>
        </p:nvSpPr>
        <p:spPr>
          <a:xfrm>
            <a:off x="4344314" y="2249424"/>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0346"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NOT CHEAPER PER WORD</a:t>
            </a:r>
          </a:p>
        </p:txBody>
      </p:sp>
      <p:sp>
        <p:nvSpPr>
          <p:cNvPr id="20" name="TextBox 19"/>
          <p:cNvSpPr txBox="1"/>
          <p:nvPr/>
        </p:nvSpPr>
        <p:spPr>
          <a:xfrm>
            <a:off x="4600346" y="2816352"/>
            <a:ext cx="2991002" cy="457200"/>
          </a:xfrm>
          <a:prstGeom prst="rect">
            <a:avLst/>
          </a:prstGeom>
          <a:noFill/>
        </p:spPr>
        <p:txBody>
          <a:bodyPr wrap="square" anchor="t" lIns="0" rIns="0" tIns="0" bIns="0">
            <a:spAutoFit/>
          </a:bodyPr>
          <a:lstStyle/>
          <a:p>
            <a:pPr algn="l">
              <a:lnSpc>
                <a:spcPct val="130000"/>
              </a:lnSpc>
              <a:spcAft>
                <a:spcPts val="600"/>
              </a:spcAft>
            </a:pPr>
            <a:r>
              <a:rPr sz="1600" b="0">
                <a:solidFill>
                  <a:srgbClr val="F0EFE9"/>
                </a:solidFill>
                <a:latin typeface="Segoe UI"/>
              </a:rPr>
              <a:t>A cloud API costs less per word.</a:t>
            </a:r>
          </a:p>
        </p:txBody>
      </p:sp>
      <p:sp>
        <p:nvSpPr>
          <p:cNvPr id="21" name="Rectangle 20"/>
          <p:cNvSpPr/>
          <p:nvPr/>
        </p:nvSpPr>
        <p:spPr>
          <a:xfrm>
            <a:off x="4600346" y="35753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8090" y="348386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We are for work that cannot leave</a:t>
            </a:r>
          </a:p>
        </p:txBody>
      </p:sp>
      <p:sp>
        <p:nvSpPr>
          <p:cNvPr id="23" name="Rectangle 22"/>
          <p:cNvSpPr/>
          <p:nvPr/>
        </p:nvSpPr>
        <p:spPr>
          <a:xfrm>
            <a:off x="4600346" y="397764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38090" y="388620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And hardware that cannot hold the model</a:t>
            </a:r>
          </a:p>
        </p:txBody>
      </p:sp>
      <p:sp>
        <p:nvSpPr>
          <p:cNvPr id="25" name="Rectangle 24"/>
          <p:cNvSpPr/>
          <p:nvPr/>
        </p:nvSpPr>
        <p:spPr>
          <a:xfrm>
            <a:off x="4600346" y="43799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38090" y="428853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If your data can leave, use the cloud</a:t>
            </a:r>
          </a:p>
        </p:txBody>
      </p:sp>
      <p:sp>
        <p:nvSpPr>
          <p:cNvPr id="27" name="Rounded Rectangle 26"/>
          <p:cNvSpPr/>
          <p:nvPr/>
        </p:nvSpPr>
        <p:spPr>
          <a:xfrm>
            <a:off x="8121700" y="2249424"/>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77732"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PRIVATE, BUT ONLY SO FAR</a:t>
            </a:r>
          </a:p>
        </p:txBody>
      </p:sp>
      <p:sp>
        <p:nvSpPr>
          <p:cNvPr id="29" name="TextBox 28"/>
          <p:cNvSpPr txBox="1"/>
          <p:nvPr/>
        </p:nvSpPr>
        <p:spPr>
          <a:xfrm>
            <a:off x="8377732" y="2816352"/>
            <a:ext cx="2991002" cy="457200"/>
          </a:xfrm>
          <a:prstGeom prst="rect">
            <a:avLst/>
          </a:prstGeom>
          <a:noFill/>
        </p:spPr>
        <p:txBody>
          <a:bodyPr wrap="square" anchor="t" lIns="0" rIns="0" tIns="0" bIns="0">
            <a:spAutoFit/>
          </a:bodyPr>
          <a:lstStyle/>
          <a:p>
            <a:pPr algn="l">
              <a:lnSpc>
                <a:spcPct val="130000"/>
              </a:lnSpc>
              <a:spcAft>
                <a:spcPts val="600"/>
              </a:spcAft>
            </a:pPr>
            <a:r>
              <a:rPr sz="1600" b="0">
                <a:solidFill>
                  <a:srgbClr val="F0EFE9"/>
                </a:solidFill>
                <a:latin typeface="Segoe UI"/>
              </a:rPr>
              <a:t>Across devices one person owns.</a:t>
            </a:r>
          </a:p>
        </p:txBody>
      </p:sp>
      <p:sp>
        <p:nvSpPr>
          <p:cNvPr id="30" name="Rectangle 29"/>
          <p:cNvSpPr/>
          <p:nvPr/>
        </p:nvSpPr>
        <p:spPr>
          <a:xfrm>
            <a:off x="8377732" y="35753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15476" y="348386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Nothing leaves the devices you own</a:t>
            </a:r>
          </a:p>
        </p:txBody>
      </p:sp>
      <p:sp>
        <p:nvSpPr>
          <p:cNvPr id="32" name="Rectangle 31"/>
          <p:cNvSpPr/>
          <p:nvPr/>
        </p:nvSpPr>
        <p:spPr>
          <a:xfrm>
            <a:off x="8377732" y="397764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15476" y="388620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demo runs with the internet off</a:t>
            </a:r>
          </a:p>
        </p:txBody>
      </p:sp>
      <p:sp>
        <p:nvSpPr>
          <p:cNvPr id="34" name="Rectangle 33"/>
          <p:cNvSpPr/>
          <p:nvPr/>
        </p:nvSpPr>
        <p:spPr>
          <a:xfrm>
            <a:off x="8377732" y="43799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15476" y="428853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We do not claim a stranger's phone is safe</a:t>
            </a:r>
          </a:p>
        </p:txBody>
      </p:sp>
      <p:sp>
        <p:nvSpPr>
          <p:cNvPr id="36" name="TextBox 35"/>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7" name="TextBox 36"/>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the boundary, before anyone has to ask for it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12 · IMPACT</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More devices, bigger model, better answers.</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755648"/>
            <a:ext cx="5930935"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93392"/>
            <a:ext cx="5382295"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WHO IT IS FOR</a:t>
            </a:r>
          </a:p>
        </p:txBody>
      </p:sp>
      <p:sp>
        <p:nvSpPr>
          <p:cNvPr id="8" name="Rounded Rectangle 7"/>
          <p:cNvSpPr/>
          <p:nvPr/>
        </p:nvSpPr>
        <p:spPr>
          <a:xfrm>
            <a:off x="841248" y="23591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24414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Developers on a weak laptop</a:t>
            </a:r>
          </a:p>
        </p:txBody>
      </p:sp>
      <p:sp>
        <p:nvSpPr>
          <p:cNvPr id="10" name="Rounded Rectangle 9"/>
          <p:cNvSpPr/>
          <p:nvPr/>
        </p:nvSpPr>
        <p:spPr>
          <a:xfrm>
            <a:off x="3904488" y="23591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50792" y="24414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Two person teams</a:t>
            </a:r>
          </a:p>
        </p:txBody>
      </p:sp>
      <p:sp>
        <p:nvSpPr>
          <p:cNvPr id="12" name="Rounded Rectangle 11"/>
          <p:cNvSpPr/>
          <p:nvPr/>
        </p:nvSpPr>
        <p:spPr>
          <a:xfrm>
            <a:off x="841248" y="28163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28986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Workplaces that ban cloud AI</a:t>
            </a:r>
          </a:p>
        </p:txBody>
      </p:sp>
      <p:sp>
        <p:nvSpPr>
          <p:cNvPr id="14" name="Rounded Rectangle 13"/>
          <p:cNvSpPr/>
          <p:nvPr/>
        </p:nvSpPr>
        <p:spPr>
          <a:xfrm>
            <a:off x="3904488" y="28163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50792" y="28986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Students with a good phone</a:t>
            </a:r>
          </a:p>
        </p:txBody>
      </p:sp>
      <p:sp>
        <p:nvSpPr>
          <p:cNvPr id="16" name="Rounded Rectangle 15"/>
          <p:cNvSpPr/>
          <p:nvPr/>
        </p:nvSpPr>
        <p:spPr>
          <a:xfrm>
            <a:off x="841248" y="32735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3558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Field work with no signal</a:t>
            </a:r>
          </a:p>
        </p:txBody>
      </p:sp>
      <p:sp>
        <p:nvSpPr>
          <p:cNvPr id="18" name="Rounded Rectangle 17"/>
          <p:cNvSpPr/>
          <p:nvPr/>
        </p:nvSpPr>
        <p:spPr>
          <a:xfrm>
            <a:off x="3904488" y="32735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50792" y="33558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Any capable Android</a:t>
            </a:r>
          </a:p>
        </p:txBody>
      </p:sp>
      <p:sp>
        <p:nvSpPr>
          <p:cNvPr id="20" name="Rectangle 19"/>
          <p:cNvSpPr/>
          <p:nvPr/>
        </p:nvSpPr>
        <p:spPr>
          <a:xfrm>
            <a:off x="841248" y="399592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3904488"/>
            <a:ext cx="5144551"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What you can hold is what you can run</a:t>
            </a:r>
          </a:p>
        </p:txBody>
      </p:sp>
      <p:sp>
        <p:nvSpPr>
          <p:cNvPr id="22" name="Rectangle 21"/>
          <p:cNvSpPr/>
          <p:nvPr/>
        </p:nvSpPr>
        <p:spPr>
          <a:xfrm>
            <a:off x="841248" y="43799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2" y="4288536"/>
            <a:ext cx="5144551"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Put devices together and you can hold more</a:t>
            </a:r>
          </a:p>
        </p:txBody>
      </p:sp>
      <p:sp>
        <p:nvSpPr>
          <p:cNvPr id="24" name="Rounded Rectangle 23"/>
          <p:cNvSpPr/>
          <p:nvPr/>
        </p:nvSpPr>
        <p:spPr>
          <a:xfrm>
            <a:off x="6772183" y="1755648"/>
            <a:ext cx="4852583"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6503" y="1993392"/>
            <a:ext cx="45720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WHY THE PHONE MATTERS HERE</a:t>
            </a:r>
          </a:p>
        </p:txBody>
      </p:sp>
      <p:sp>
        <p:nvSpPr>
          <p:cNvPr id="26" name="TextBox 25"/>
          <p:cNvSpPr txBox="1"/>
          <p:nvPr/>
        </p:nvSpPr>
        <p:spPr>
          <a:xfrm>
            <a:off x="7046503" y="2395728"/>
            <a:ext cx="2011680" cy="548640"/>
          </a:xfrm>
          <a:prstGeom prst="rect">
            <a:avLst/>
          </a:prstGeom>
          <a:noFill/>
        </p:spPr>
        <p:txBody>
          <a:bodyPr wrap="square" anchor="t" lIns="0" rIns="0" tIns="0" bIns="0">
            <a:spAutoFit/>
          </a:bodyPr>
          <a:lstStyle/>
          <a:p>
            <a:pPr algn="l">
              <a:spcAft>
                <a:spcPts val="600"/>
              </a:spcAft>
            </a:pPr>
            <a:r>
              <a:rPr sz="3400" b="1">
                <a:solidFill>
                  <a:srgbClr val="5FD68A"/>
                </a:solidFill>
                <a:latin typeface="Consolas"/>
              </a:rPr>
              <a:t>94.2%</a:t>
            </a:r>
          </a:p>
        </p:txBody>
      </p:sp>
      <p:sp>
        <p:nvSpPr>
          <p:cNvPr id="27" name="TextBox 26"/>
          <p:cNvSpPr txBox="1"/>
          <p:nvPr/>
        </p:nvSpPr>
        <p:spPr>
          <a:xfrm>
            <a:off x="7046503" y="2898648"/>
            <a:ext cx="2194560" cy="457200"/>
          </a:xfrm>
          <a:prstGeom prst="rect">
            <a:avLst/>
          </a:prstGeom>
          <a:noFill/>
        </p:spPr>
        <p:txBody>
          <a:bodyPr wrap="square" anchor="t" lIns="0" rIns="0" tIns="0" bIns="0">
            <a:spAutoFit/>
          </a:bodyPr>
          <a:lstStyle/>
          <a:p>
            <a:pPr algn="l">
              <a:lnSpc>
                <a:spcPct val="130000"/>
              </a:lnSpc>
              <a:spcAft>
                <a:spcPts val="600"/>
              </a:spcAft>
            </a:pPr>
            <a:r>
              <a:rPr sz="1200" b="0">
                <a:solidFill>
                  <a:srgbClr val="71766C"/>
                </a:solidFill>
                <a:latin typeface="Segoe UI"/>
              </a:rPr>
              <a:t>of rural Indian homes
have a phone</a:t>
            </a:r>
          </a:p>
        </p:txBody>
      </p:sp>
      <p:sp>
        <p:nvSpPr>
          <p:cNvPr id="28" name="TextBox 27"/>
          <p:cNvSpPr txBox="1"/>
          <p:nvPr/>
        </p:nvSpPr>
        <p:spPr>
          <a:xfrm>
            <a:off x="9515383" y="2395728"/>
            <a:ext cx="2011680" cy="548640"/>
          </a:xfrm>
          <a:prstGeom prst="rect">
            <a:avLst/>
          </a:prstGeom>
          <a:noFill/>
        </p:spPr>
        <p:txBody>
          <a:bodyPr wrap="square" anchor="t" lIns="0" rIns="0" tIns="0" bIns="0">
            <a:spAutoFit/>
          </a:bodyPr>
          <a:lstStyle/>
          <a:p>
            <a:pPr algn="l">
              <a:spcAft>
                <a:spcPts val="600"/>
              </a:spcAft>
            </a:pPr>
            <a:r>
              <a:rPr sz="3400" b="1">
                <a:solidFill>
                  <a:srgbClr val="F0EFE9"/>
                </a:solidFill>
                <a:latin typeface="Consolas"/>
              </a:rPr>
              <a:t>4.2%</a:t>
            </a:r>
          </a:p>
        </p:txBody>
      </p:sp>
      <p:sp>
        <p:nvSpPr>
          <p:cNvPr id="29" name="TextBox 28"/>
          <p:cNvSpPr txBox="1"/>
          <p:nvPr/>
        </p:nvSpPr>
        <p:spPr>
          <a:xfrm>
            <a:off x="9515383" y="2898648"/>
            <a:ext cx="2194560" cy="4572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have a computer</a:t>
            </a:r>
          </a:p>
        </p:txBody>
      </p:sp>
      <p:sp>
        <p:nvSpPr>
          <p:cNvPr id="30" name="TextBox 29"/>
          <p:cNvSpPr txBox="1"/>
          <p:nvPr/>
        </p:nvSpPr>
        <p:spPr>
          <a:xfrm>
            <a:off x="7046503" y="3584448"/>
            <a:ext cx="4303943" cy="100584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They are not our first customer, and we will not pretend they are. It is why the phone has to be the device that works, not the spare one. For most people it is the only computer in the house.</a:t>
            </a:r>
          </a:p>
        </p:txBody>
      </p:sp>
      <p:sp>
        <p:nvSpPr>
          <p:cNvPr id="31" name="TextBox 30"/>
          <p:cNvSpPr txBox="1"/>
          <p:nvPr/>
        </p:nvSpPr>
        <p:spPr>
          <a:xfrm>
            <a:off x="7046503" y="4498848"/>
            <a:ext cx="5486400" cy="27432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MoSPI, Comprehensive Annual Modular Survey 2022-23</a:t>
            </a:r>
          </a:p>
        </p:txBody>
      </p:sp>
      <p:sp>
        <p:nvSpPr>
          <p:cNvPr id="32" name="TextBox 31"/>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3" name="TextBox 32"/>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it runs best on the newest phones, and their engineers can check that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13 · BUILT WITH</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What it is made of.</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755648"/>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THE RUNTIME</a:t>
            </a:r>
          </a:p>
        </p:txBody>
      </p:sp>
      <p:sp>
        <p:nvSpPr>
          <p:cNvPr id="8" name="Rectangle 7"/>
          <p:cNvSpPr/>
          <p:nvPr/>
        </p:nvSpPr>
        <p:spPr>
          <a:xfrm>
            <a:off x="822960" y="24871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2395728"/>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Any GGUF model</a:t>
            </a:r>
          </a:p>
        </p:txBody>
      </p:sp>
      <p:sp>
        <p:nvSpPr>
          <p:cNvPr id="10" name="TextBox 9"/>
          <p:cNvSpPr txBox="1"/>
          <p:nvPr/>
        </p:nvSpPr>
        <p:spPr>
          <a:xfrm>
            <a:off x="1060704" y="2606040"/>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we read the header and size it ourselves</a:t>
            </a:r>
          </a:p>
        </p:txBody>
      </p:sp>
      <p:sp>
        <p:nvSpPr>
          <p:cNvPr id="11" name="Rectangle 10"/>
          <p:cNvSpPr/>
          <p:nvPr/>
        </p:nvSpPr>
        <p:spPr>
          <a:xfrm>
            <a:off x="822960" y="30540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2962656"/>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llama.cpp and ggml</a:t>
            </a:r>
          </a:p>
        </p:txBody>
      </p:sp>
      <p:sp>
        <p:nvSpPr>
          <p:cNvPr id="13" name="TextBox 12"/>
          <p:cNvSpPr txBox="1"/>
          <p:nvPr/>
        </p:nvSpPr>
        <p:spPr>
          <a:xfrm>
            <a:off x="1060704" y="3172968"/>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MIT, and we say so</a:t>
            </a:r>
          </a:p>
        </p:txBody>
      </p:sp>
      <p:sp>
        <p:nvSpPr>
          <p:cNvPr id="14" name="Rectangle 13"/>
          <p:cNvSpPr/>
          <p:nvPr/>
        </p:nvSpPr>
        <p:spPr>
          <a:xfrm>
            <a:off x="822960" y="362102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3529584"/>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Our own planner</a:t>
            </a:r>
          </a:p>
        </p:txBody>
      </p:sp>
      <p:sp>
        <p:nvSpPr>
          <p:cNvPr id="16" name="TextBox 15"/>
          <p:cNvSpPr txBox="1"/>
          <p:nvPr/>
        </p:nvSpPr>
        <p:spPr>
          <a:xfrm>
            <a:off x="1060704" y="3739896"/>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with seven tests</a:t>
            </a:r>
          </a:p>
        </p:txBody>
      </p:sp>
      <p:sp>
        <p:nvSpPr>
          <p:cNvPr id="17" name="Rounded Rectangle 16"/>
          <p:cNvSpPr/>
          <p:nvPr/>
        </p:nvSpPr>
        <p:spPr>
          <a:xfrm>
            <a:off x="4344314" y="1755648"/>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00346"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THE DEVICES</a:t>
            </a:r>
          </a:p>
        </p:txBody>
      </p:sp>
      <p:sp>
        <p:nvSpPr>
          <p:cNvPr id="19" name="Rectangle 18"/>
          <p:cNvSpPr/>
          <p:nvPr/>
        </p:nvSpPr>
        <p:spPr>
          <a:xfrm>
            <a:off x="4600346" y="24871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38090" y="2395728"/>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Kotlin and Compose</a:t>
            </a:r>
          </a:p>
        </p:txBody>
      </p:sp>
      <p:sp>
        <p:nvSpPr>
          <p:cNvPr id="21" name="TextBox 20"/>
          <p:cNvSpPr txBox="1"/>
          <p:nvPr/>
        </p:nvSpPr>
        <p:spPr>
          <a:xfrm>
            <a:off x="4838090" y="2606040"/>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one app, host or helper</a:t>
            </a:r>
          </a:p>
        </p:txBody>
      </p:sp>
      <p:sp>
        <p:nvSpPr>
          <p:cNvPr id="22" name="Rectangle 21"/>
          <p:cNvSpPr/>
          <p:nvPr/>
        </p:nvSpPr>
        <p:spPr>
          <a:xfrm>
            <a:off x="4600346" y="30540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38090" y="2962656"/>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Android NDK, arm64</a:t>
            </a:r>
          </a:p>
        </p:txBody>
      </p:sp>
      <p:sp>
        <p:nvSpPr>
          <p:cNvPr id="24" name="TextBox 23"/>
          <p:cNvSpPr txBox="1"/>
          <p:nvPr/>
        </p:nvSpPr>
        <p:spPr>
          <a:xfrm>
            <a:off x="4838090" y="3172968"/>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built for the phone's own chip</a:t>
            </a:r>
          </a:p>
        </p:txBody>
      </p:sp>
      <p:sp>
        <p:nvSpPr>
          <p:cNvPr id="25" name="Rectangle 24"/>
          <p:cNvSpPr/>
          <p:nvPr/>
        </p:nvSpPr>
        <p:spPr>
          <a:xfrm>
            <a:off x="4600346" y="362102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38090" y="3529584"/>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 foreground service</a:t>
            </a:r>
          </a:p>
        </p:txBody>
      </p:sp>
      <p:sp>
        <p:nvSpPr>
          <p:cNvPr id="27" name="TextBox 26"/>
          <p:cNvSpPr txBox="1"/>
          <p:nvPr/>
        </p:nvSpPr>
        <p:spPr>
          <a:xfrm>
            <a:off x="4838090" y="3739896"/>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so Android lets it keep running</a:t>
            </a:r>
          </a:p>
        </p:txBody>
      </p:sp>
      <p:sp>
        <p:nvSpPr>
          <p:cNvPr id="28" name="Rounded Rectangle 27"/>
          <p:cNvSpPr/>
          <p:nvPr/>
        </p:nvSpPr>
        <p:spPr>
          <a:xfrm>
            <a:off x="8121700" y="1755648"/>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77732"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THE LINK AND TOOLS</a:t>
            </a:r>
          </a:p>
        </p:txBody>
      </p:sp>
      <p:sp>
        <p:nvSpPr>
          <p:cNvPr id="30" name="Rectangle 29"/>
          <p:cNvSpPr/>
          <p:nvPr/>
        </p:nvSpPr>
        <p:spPr>
          <a:xfrm>
            <a:off x="8377732" y="24871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15476" y="2395728"/>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 Rust agent and web panel</a:t>
            </a:r>
          </a:p>
        </p:txBody>
      </p:sp>
      <p:sp>
        <p:nvSpPr>
          <p:cNvPr id="32" name="TextBox 31"/>
          <p:cNvSpPr txBox="1"/>
          <p:nvPr/>
        </p:nvSpPr>
        <p:spPr>
          <a:xfrm>
            <a:off x="8615476" y="2606040"/>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mesh host, mesh join, mesh ask</a:t>
            </a:r>
          </a:p>
        </p:txBody>
      </p:sp>
      <p:sp>
        <p:nvSpPr>
          <p:cNvPr id="33" name="Rectangle 32"/>
          <p:cNvSpPr/>
          <p:nvPr/>
        </p:nvSpPr>
        <p:spPr>
          <a:xfrm>
            <a:off x="8377732" y="30540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15476" y="2962656"/>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USB tethering</a:t>
            </a:r>
          </a:p>
        </p:txBody>
      </p:sp>
      <p:sp>
        <p:nvSpPr>
          <p:cNvPr id="35" name="TextBox 34"/>
          <p:cNvSpPr txBox="1"/>
          <p:nvPr/>
        </p:nvSpPr>
        <p:spPr>
          <a:xfrm>
            <a:off x="8615476" y="3172968"/>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2 to 3 ms</a:t>
            </a:r>
          </a:p>
        </p:txBody>
      </p:sp>
      <p:sp>
        <p:nvSpPr>
          <p:cNvPr id="36" name="Rectangle 35"/>
          <p:cNvSpPr/>
          <p:nvPr/>
        </p:nvSpPr>
        <p:spPr>
          <a:xfrm>
            <a:off x="8377732" y="362102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15476" y="3529584"/>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An OpenAI-style endpoint</a:t>
            </a:r>
          </a:p>
        </p:txBody>
      </p:sp>
      <p:sp>
        <p:nvSpPr>
          <p:cNvPr id="38" name="TextBox 37"/>
          <p:cNvSpPr txBox="1"/>
          <p:nvPr/>
        </p:nvSpPr>
        <p:spPr>
          <a:xfrm>
            <a:off x="8615476" y="3739896"/>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plus a CLI and a git hook</a:t>
            </a:r>
          </a:p>
        </p:txBody>
      </p:sp>
      <p:sp>
        <p:nvSpPr>
          <p:cNvPr id="39" name="Rectangle 38"/>
          <p:cNvSpPr/>
          <p:nvPr/>
        </p:nvSpPr>
        <p:spPr>
          <a:xfrm>
            <a:off x="8377732" y="418795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15476" y="4096512"/>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No cloud, no account</a:t>
            </a:r>
          </a:p>
        </p:txBody>
      </p:sp>
      <p:sp>
        <p:nvSpPr>
          <p:cNvPr id="41" name="TextBox 40"/>
          <p:cNvSpPr txBox="1"/>
          <p:nvPr/>
        </p:nvSpPr>
        <p:spPr>
          <a:xfrm>
            <a:off x="8615476" y="4306824"/>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nothing phones home</a:t>
            </a:r>
          </a:p>
        </p:txBody>
      </p:sp>
      <p:sp>
        <p:nvSpPr>
          <p:cNvPr id="42" name="TextBox 41"/>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43" name="TextBox 42"/>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github.com/prajwal-gunnala/maynards</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011680"/>
            <a:ext cx="9144000" cy="914400"/>
          </a:xfrm>
          <a:prstGeom prst="rect">
            <a:avLst/>
          </a:prstGeom>
          <a:noFill/>
        </p:spPr>
        <p:txBody>
          <a:bodyPr wrap="square" anchor="t" lIns="0" rIns="0" tIns="0" bIns="0">
            <a:spAutoFit/>
          </a:bodyPr>
          <a:lstStyle/>
          <a:p>
            <a:pPr algn="l">
              <a:spcAft>
                <a:spcPts val="600"/>
              </a:spcAft>
            </a:pPr>
            <a:r>
              <a:rPr sz="5200" b="1">
                <a:solidFill>
                  <a:srgbClr val="F0EFE9"/>
                </a:solidFill>
                <a:latin typeface="Segoe UI"/>
              </a:rPr>
              <a:t>Thank you</a:t>
            </a:r>
          </a:p>
        </p:txBody>
      </p:sp>
      <p:sp>
        <p:nvSpPr>
          <p:cNvPr id="4" name="TextBox 3"/>
          <p:cNvSpPr txBox="1"/>
          <p:nvPr/>
        </p:nvSpPr>
        <p:spPr>
          <a:xfrm>
            <a:off x="566928" y="3108960"/>
            <a:ext cx="8778240" cy="914400"/>
          </a:xfrm>
          <a:prstGeom prst="rect">
            <a:avLst/>
          </a:prstGeom>
          <a:noFill/>
        </p:spPr>
        <p:txBody>
          <a:bodyPr wrap="square" anchor="t" lIns="0" rIns="0" tIns="0" bIns="0">
            <a:spAutoFit/>
          </a:bodyPr>
          <a:lstStyle/>
          <a:p>
            <a:pPr algn="l">
              <a:lnSpc>
                <a:spcPct val="130000"/>
              </a:lnSpc>
              <a:spcAft>
                <a:spcPts val="600"/>
              </a:spcAft>
            </a:pPr>
            <a:r>
              <a:rPr sz="2100" b="0">
                <a:solidFill>
                  <a:srgbClr val="A8ACA1"/>
                </a:solidFill>
                <a:latin typeface="Segoe UI"/>
              </a:rPr>
              <a:t>A big model, on the devices you already own, with the internet switched off.</a:t>
            </a:r>
          </a:p>
        </p:txBody>
      </p:sp>
      <p:sp>
        <p:nvSpPr>
          <p:cNvPr id="5" name="TextBox 4"/>
          <p:cNvSpPr txBox="1"/>
          <p:nvPr/>
        </p:nvSpPr>
        <p:spPr>
          <a:xfrm>
            <a:off x="566928" y="4297680"/>
            <a:ext cx="4754880" cy="365760"/>
          </a:xfrm>
          <a:prstGeom prst="rect">
            <a:avLst/>
          </a:prstGeom>
          <a:noFill/>
        </p:spPr>
        <p:txBody>
          <a:bodyPr wrap="square" anchor="t" lIns="0" rIns="0" tIns="0" bIns="0">
            <a:spAutoFit/>
          </a:bodyPr>
          <a:lstStyle/>
          <a:p>
            <a:pPr algn="l">
              <a:spcAft>
                <a:spcPts val="600"/>
              </a:spcAft>
            </a:pPr>
            <a:r>
              <a:rPr sz="2000" b="1">
                <a:solidFill>
                  <a:srgbClr val="F0EFE9"/>
                </a:solidFill>
                <a:latin typeface="Segoe UI"/>
              </a:rPr>
              <a:t>Prajwal Gunnala</a:t>
            </a:r>
          </a:p>
        </p:txBody>
      </p:sp>
      <p:sp>
        <p:nvSpPr>
          <p:cNvPr id="6" name="TextBox 5"/>
          <p:cNvSpPr txBox="1"/>
          <p:nvPr/>
        </p:nvSpPr>
        <p:spPr>
          <a:xfrm>
            <a:off x="566928" y="4663440"/>
            <a:ext cx="4754880"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github.com/prajwal-gunnala/maynards</a:t>
            </a:r>
          </a:p>
        </p:txBody>
      </p:sp>
      <p:sp>
        <p:nvSpPr>
          <p:cNvPr id="7" name="TextBox 6"/>
          <p:cNvSpPr txBox="1"/>
          <p:nvPr/>
        </p:nvSpPr>
        <p:spPr>
          <a:xfrm>
            <a:off x="5687568" y="4297680"/>
            <a:ext cx="4754880" cy="365760"/>
          </a:xfrm>
          <a:prstGeom prst="rect">
            <a:avLst/>
          </a:prstGeom>
          <a:noFill/>
        </p:spPr>
        <p:txBody>
          <a:bodyPr wrap="square" anchor="t" lIns="0" rIns="0" tIns="0" bIns="0">
            <a:spAutoFit/>
          </a:bodyPr>
          <a:lstStyle/>
          <a:p>
            <a:pPr algn="l">
              <a:spcAft>
                <a:spcPts val="600"/>
              </a:spcAft>
            </a:pPr>
            <a:r>
              <a:rPr sz="2000" b="1">
                <a:solidFill>
                  <a:srgbClr val="F0EFE9"/>
                </a:solidFill>
                <a:latin typeface="Segoe UI"/>
              </a:rPr>
              <a:t>Yuva Raj Ambati</a:t>
            </a:r>
          </a:p>
        </p:txBody>
      </p:sp>
      <p:sp>
        <p:nvSpPr>
          <p:cNvPr id="8" name="TextBox 7"/>
          <p:cNvSpPr txBox="1"/>
          <p:nvPr/>
        </p:nvSpPr>
        <p:spPr>
          <a:xfrm>
            <a:off x="5687568" y="4663440"/>
            <a:ext cx="4754880"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every number here is in that repository</a:t>
            </a:r>
          </a:p>
        </p:txBody>
      </p:sp>
      <p:sp>
        <p:nvSpPr>
          <p:cNvPr id="9" name="Rounded Rectangle 8"/>
          <p:cNvSpPr/>
          <p:nvPr/>
        </p:nvSpPr>
        <p:spPr>
          <a:xfrm>
            <a:off x="566928" y="5394960"/>
            <a:ext cx="2468880" cy="4572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513832"/>
            <a:ext cx="2468880" cy="274320"/>
          </a:xfrm>
          <a:prstGeom prst="rect">
            <a:avLst/>
          </a:prstGeom>
          <a:noFill/>
        </p:spPr>
        <p:txBody>
          <a:bodyPr wrap="square" anchor="t" lIns="0" rIns="0" tIns="0" bIns="0">
            <a:spAutoFit/>
          </a:bodyPr>
          <a:lstStyle/>
          <a:p>
            <a:pPr algn="ctr">
              <a:spcAft>
                <a:spcPts val="600"/>
              </a:spcAft>
            </a:pPr>
            <a:r>
              <a:rPr sz="1200" b="0">
                <a:solidFill>
                  <a:srgbClr val="5FD68A"/>
                </a:solidFill>
                <a:latin typeface="Consolas"/>
              </a:rPr>
              <a:t>30B across three devices</a:t>
            </a:r>
          </a:p>
        </p:txBody>
      </p:sp>
      <p:sp>
        <p:nvSpPr>
          <p:cNvPr id="11" name="Rounded Rectangle 10"/>
          <p:cNvSpPr/>
          <p:nvPr/>
        </p:nvSpPr>
        <p:spPr>
          <a:xfrm>
            <a:off x="3218688" y="5394960"/>
            <a:ext cx="2468880" cy="4572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18688" y="5513832"/>
            <a:ext cx="2468880" cy="274320"/>
          </a:xfrm>
          <a:prstGeom prst="rect">
            <a:avLst/>
          </a:prstGeom>
          <a:noFill/>
        </p:spPr>
        <p:txBody>
          <a:bodyPr wrap="square" anchor="t" lIns="0" rIns="0" tIns="0" bIns="0">
            <a:spAutoFit/>
          </a:bodyPr>
          <a:lstStyle/>
          <a:p>
            <a:pPr algn="ctr">
              <a:spcAft>
                <a:spcPts val="600"/>
              </a:spcAft>
            </a:pPr>
            <a:r>
              <a:rPr sz="1200" b="0">
                <a:solidFill>
                  <a:srgbClr val="5FD68A"/>
                </a:solidFill>
                <a:latin typeface="Consolas"/>
              </a:rPr>
              <a:t>ready in 70 s</a:t>
            </a:r>
          </a:p>
        </p:txBody>
      </p:sp>
      <p:sp>
        <p:nvSpPr>
          <p:cNvPr id="13" name="Rounded Rectangle 12"/>
          <p:cNvSpPr/>
          <p:nvPr/>
        </p:nvSpPr>
        <p:spPr>
          <a:xfrm>
            <a:off x="5870448" y="5394960"/>
            <a:ext cx="2468880" cy="4572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70448" y="5513832"/>
            <a:ext cx="2468880" cy="274320"/>
          </a:xfrm>
          <a:prstGeom prst="rect">
            <a:avLst/>
          </a:prstGeom>
          <a:noFill/>
        </p:spPr>
        <p:txBody>
          <a:bodyPr wrap="square" anchor="t" lIns="0" rIns="0" tIns="0" bIns="0">
            <a:spAutoFit/>
          </a:bodyPr>
          <a:lstStyle/>
          <a:p>
            <a:pPr algn="ctr">
              <a:spcAft>
                <a:spcPts val="600"/>
              </a:spcAft>
            </a:pPr>
            <a:r>
              <a:rPr sz="1200" b="0">
                <a:solidFill>
                  <a:srgbClr val="5FD68A"/>
                </a:solidFill>
                <a:latin typeface="Consolas"/>
              </a:rPr>
              <a:t>6.6 words a second</a:t>
            </a:r>
          </a:p>
        </p:txBody>
      </p:sp>
      <p:sp>
        <p:nvSpPr>
          <p:cNvPr id="15" name="Rounded Rectangle 14"/>
          <p:cNvSpPr/>
          <p:nvPr/>
        </p:nvSpPr>
        <p:spPr>
          <a:xfrm>
            <a:off x="8522207" y="5394960"/>
            <a:ext cx="2468880" cy="4572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22207" y="5513832"/>
            <a:ext cx="2468880" cy="274320"/>
          </a:xfrm>
          <a:prstGeom prst="rect">
            <a:avLst/>
          </a:prstGeom>
          <a:noFill/>
        </p:spPr>
        <p:txBody>
          <a:bodyPr wrap="square" anchor="t" lIns="0" rIns="0" tIns="0" bIns="0">
            <a:spAutoFit/>
          </a:bodyPr>
          <a:lstStyle/>
          <a:p>
            <a:pPr algn="ctr">
              <a:spcAft>
                <a:spcPts val="600"/>
              </a:spcAft>
            </a:pPr>
            <a:r>
              <a:rPr sz="1200" b="0">
                <a:solidFill>
                  <a:srgbClr val="5FD68A"/>
                </a:solidFill>
                <a:latin typeface="Consolas"/>
              </a:rPr>
              <a:t>internet off</a:t>
            </a:r>
          </a:p>
        </p:txBody>
      </p:sp>
      <p:sp>
        <p:nvSpPr>
          <p:cNvPr id="17" name="TextBox 16"/>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Team Maynards</a:t>
            </a:r>
          </a:p>
        </p:txBody>
      </p:sp>
      <p:sp>
        <p:nvSpPr>
          <p:cNvPr id="18" name="TextBox 17"/>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iQOO Hackathon 2026 · Developer Tools</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