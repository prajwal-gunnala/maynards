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C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20624"/>
            <a:ext cx="11057839" cy="274320"/>
          </a:xfrm>
          <a:prstGeom prst="rect">
            <a:avLst/>
          </a:prstGeom>
          <a:noFill/>
        </p:spPr>
        <p:txBody>
          <a:bodyPr wrap="square" anchor="t" lIns="0" rIns="0" tIns="0" bIns="0">
            <a:spAutoFit/>
          </a:bodyPr>
          <a:lstStyle/>
          <a:p>
            <a:pPr algn="l">
              <a:spcAft>
                <a:spcPts val="600"/>
              </a:spcAft>
            </a:pPr>
            <a:r>
              <a:rPr sz="1200" b="0">
                <a:solidFill>
                  <a:srgbClr val="71766C"/>
                </a:solidFill>
                <a:latin typeface="Consolas"/>
              </a:rPr>
              <a:t>TEAM MAYNARDS · IQOO HACKATHON 2026 · DEVELOPER TOOLS</a:t>
            </a:r>
          </a:p>
        </p:txBody>
      </p:sp>
      <p:sp>
        <p:nvSpPr>
          <p:cNvPr id="4" name="TextBox 3"/>
          <p:cNvSpPr txBox="1"/>
          <p:nvPr/>
        </p:nvSpPr>
        <p:spPr>
          <a:xfrm>
            <a:off x="566928" y="2286000"/>
            <a:ext cx="8229600" cy="1097280"/>
          </a:xfrm>
          <a:prstGeom prst="rect">
            <a:avLst/>
          </a:prstGeom>
          <a:noFill/>
        </p:spPr>
        <p:txBody>
          <a:bodyPr wrap="square" anchor="t" lIns="0" rIns="0" tIns="0" bIns="0">
            <a:spAutoFit/>
          </a:bodyPr>
          <a:lstStyle/>
          <a:p>
            <a:pPr algn="l">
              <a:spcAft>
                <a:spcPts val="600"/>
              </a:spcAft>
            </a:pPr>
            <a:r>
              <a:rPr sz="6600" b="1">
                <a:solidFill>
                  <a:srgbClr val="F0EFE9"/>
                </a:solidFill>
                <a:latin typeface="Segoe UI"/>
              </a:rPr>
              <a:t>MeshAI</a:t>
            </a:r>
          </a:p>
        </p:txBody>
      </p:sp>
      <p:sp>
        <p:nvSpPr>
          <p:cNvPr id="5" name="TextBox 4"/>
          <p:cNvSpPr txBox="1"/>
          <p:nvPr/>
        </p:nvSpPr>
        <p:spPr>
          <a:xfrm>
            <a:off x="566928" y="3429000"/>
            <a:ext cx="7863840" cy="914400"/>
          </a:xfrm>
          <a:prstGeom prst="rect">
            <a:avLst/>
          </a:prstGeom>
          <a:noFill/>
        </p:spPr>
        <p:txBody>
          <a:bodyPr wrap="square" anchor="t" lIns="0" rIns="0" tIns="0" bIns="0">
            <a:spAutoFit/>
          </a:bodyPr>
          <a:lstStyle/>
          <a:p>
            <a:pPr algn="l">
              <a:lnSpc>
                <a:spcPct val="125000"/>
              </a:lnSpc>
              <a:spcAft>
                <a:spcPts val="600"/>
              </a:spcAft>
            </a:pPr>
            <a:r>
              <a:rPr sz="2400" b="0">
                <a:solidFill>
                  <a:srgbClr val="F0EFE9"/>
                </a:solidFill>
                <a:latin typeface="Segoe UI"/>
              </a:rPr>
              <a:t>Run big models on the devices you already own.</a:t>
            </a:r>
          </a:p>
        </p:txBody>
      </p:sp>
      <p:sp>
        <p:nvSpPr>
          <p:cNvPr id="6" name="TextBox 5"/>
          <p:cNvSpPr txBox="1"/>
          <p:nvPr/>
        </p:nvSpPr>
        <p:spPr>
          <a:xfrm>
            <a:off x="566928" y="4343400"/>
            <a:ext cx="9144000" cy="365760"/>
          </a:xfrm>
          <a:prstGeom prst="rect">
            <a:avLst/>
          </a:prstGeom>
          <a:noFill/>
        </p:spPr>
        <p:txBody>
          <a:bodyPr wrap="square" anchor="t" lIns="0" rIns="0" tIns="0" bIns="0">
            <a:spAutoFit/>
          </a:bodyPr>
          <a:lstStyle/>
          <a:p>
            <a:pPr algn="l">
              <a:spcAft>
                <a:spcPts val="600"/>
              </a:spcAft>
            </a:pPr>
            <a:r>
              <a:rPr sz="1600" b="0">
                <a:solidFill>
                  <a:srgbClr val="A8ACA1"/>
                </a:solidFill>
                <a:latin typeface="Segoe UI"/>
              </a:rPr>
              <a:t>A 30B model across one laptop and two phones. No cloud. No internet.</a:t>
            </a:r>
          </a:p>
        </p:txBody>
      </p:sp>
      <p:sp>
        <p:nvSpPr>
          <p:cNvPr id="7" name="Rounded Rectangle 6"/>
          <p:cNvSpPr/>
          <p:nvPr/>
        </p:nvSpPr>
        <p:spPr>
          <a:xfrm>
            <a:off x="566928" y="4983480"/>
            <a:ext cx="2148840" cy="45720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102352"/>
            <a:ext cx="2148840" cy="274320"/>
          </a:xfrm>
          <a:prstGeom prst="rect">
            <a:avLst/>
          </a:prstGeom>
          <a:noFill/>
        </p:spPr>
        <p:txBody>
          <a:bodyPr wrap="square" anchor="t" lIns="0" rIns="0" tIns="0" bIns="0">
            <a:spAutoFit/>
          </a:bodyPr>
          <a:lstStyle/>
          <a:p>
            <a:pPr algn="ctr">
              <a:spcAft>
                <a:spcPts val="600"/>
              </a:spcAft>
            </a:pPr>
            <a:r>
              <a:rPr sz="1300" b="0">
                <a:solidFill>
                  <a:srgbClr val="5FD68A"/>
                </a:solidFill>
                <a:latin typeface="Consolas"/>
              </a:rPr>
              <a:t>ready in 70 s</a:t>
            </a:r>
          </a:p>
        </p:txBody>
      </p:sp>
      <p:sp>
        <p:nvSpPr>
          <p:cNvPr id="9" name="Rounded Rectangle 8"/>
          <p:cNvSpPr/>
          <p:nvPr/>
        </p:nvSpPr>
        <p:spPr>
          <a:xfrm>
            <a:off x="2898648" y="4983480"/>
            <a:ext cx="2148840" cy="45720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98648" y="5102352"/>
            <a:ext cx="2148840" cy="274320"/>
          </a:xfrm>
          <a:prstGeom prst="rect">
            <a:avLst/>
          </a:prstGeom>
          <a:noFill/>
        </p:spPr>
        <p:txBody>
          <a:bodyPr wrap="square" anchor="t" lIns="0" rIns="0" tIns="0" bIns="0">
            <a:spAutoFit/>
          </a:bodyPr>
          <a:lstStyle/>
          <a:p>
            <a:pPr algn="ctr">
              <a:spcAft>
                <a:spcPts val="600"/>
              </a:spcAft>
            </a:pPr>
            <a:r>
              <a:rPr sz="1300" b="0">
                <a:solidFill>
                  <a:srgbClr val="A8ACA1"/>
                </a:solidFill>
                <a:latin typeface="Consolas"/>
              </a:rPr>
              <a:t>6.6 tokens per second</a:t>
            </a:r>
          </a:p>
        </p:txBody>
      </p:sp>
      <p:sp>
        <p:nvSpPr>
          <p:cNvPr id="11" name="Rounded Rectangle 10"/>
          <p:cNvSpPr/>
          <p:nvPr/>
        </p:nvSpPr>
        <p:spPr>
          <a:xfrm>
            <a:off x="5230368" y="4983480"/>
            <a:ext cx="2148840" cy="45720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30368" y="5102352"/>
            <a:ext cx="2148840" cy="274320"/>
          </a:xfrm>
          <a:prstGeom prst="rect">
            <a:avLst/>
          </a:prstGeom>
          <a:noFill/>
        </p:spPr>
        <p:txBody>
          <a:bodyPr wrap="square" anchor="t" lIns="0" rIns="0" tIns="0" bIns="0">
            <a:spAutoFit/>
          </a:bodyPr>
          <a:lstStyle/>
          <a:p>
            <a:pPr algn="ctr">
              <a:spcAft>
                <a:spcPts val="600"/>
              </a:spcAft>
            </a:pPr>
            <a:r>
              <a:rPr sz="1300" b="0">
                <a:solidFill>
                  <a:srgbClr val="A8ACA1"/>
                </a:solidFill>
                <a:latin typeface="Consolas"/>
              </a:rPr>
              <a:t>4 KB per word</a:t>
            </a:r>
          </a:p>
        </p:txBody>
      </p:sp>
      <p:sp>
        <p:nvSpPr>
          <p:cNvPr id="13" name="Rounded Rectangle 12"/>
          <p:cNvSpPr/>
          <p:nvPr/>
        </p:nvSpPr>
        <p:spPr>
          <a:xfrm>
            <a:off x="7562087" y="4983480"/>
            <a:ext cx="2148840" cy="45720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62087" y="5102352"/>
            <a:ext cx="2148840" cy="274320"/>
          </a:xfrm>
          <a:prstGeom prst="rect">
            <a:avLst/>
          </a:prstGeom>
          <a:noFill/>
        </p:spPr>
        <p:txBody>
          <a:bodyPr wrap="square" anchor="t" lIns="0" rIns="0" tIns="0" bIns="0">
            <a:spAutoFit/>
          </a:bodyPr>
          <a:lstStyle/>
          <a:p>
            <a:pPr algn="ctr">
              <a:spcAft>
                <a:spcPts val="600"/>
              </a:spcAft>
            </a:pPr>
            <a:r>
              <a:rPr sz="1300" b="0">
                <a:solidFill>
                  <a:srgbClr val="A8ACA1"/>
                </a:solidFill>
                <a:latin typeface="Consolas"/>
              </a:rPr>
              <a:t>internet off</a:t>
            </a:r>
          </a:p>
        </p:txBody>
      </p:sp>
      <p:sp>
        <p:nvSpPr>
          <p:cNvPr id="15" name="TextBox 14"/>
          <p:cNvSpPr txBox="1"/>
          <p:nvPr/>
        </p:nvSpPr>
        <p:spPr>
          <a:xfrm>
            <a:off x="566928" y="6291072"/>
            <a:ext cx="6400800"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Prajwal Gunnala · Yuva Raj Ambati</a:t>
            </a:r>
          </a:p>
        </p:txBody>
      </p:sp>
      <p:sp>
        <p:nvSpPr>
          <p:cNvPr id="16" name="TextBox 15"/>
          <p:cNvSpPr txBox="1"/>
          <p:nvPr/>
        </p:nvSpPr>
        <p:spPr>
          <a:xfrm>
            <a:off x="5223967" y="6291072"/>
            <a:ext cx="6400800" cy="274320"/>
          </a:xfrm>
          <a:prstGeom prst="rect">
            <a:avLst/>
          </a:prstGeom>
          <a:noFill/>
        </p:spPr>
        <p:txBody>
          <a:bodyPr wrap="square" anchor="t" lIns="0" rIns="0" tIns="0" bIns="0">
            <a:spAutoFit/>
          </a:bodyPr>
          <a:lstStyle/>
          <a:p>
            <a:pPr algn="r">
              <a:spcAft>
                <a:spcPts val="600"/>
              </a:spcAft>
            </a:pPr>
            <a:r>
              <a:rPr sz="1100" b="0">
                <a:solidFill>
                  <a:srgbClr val="71766C"/>
                </a:solidFill>
                <a:latin typeface="Consolas"/>
              </a:rPr>
              <a:t>27 September 2026</a:t>
            </a:r>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800">
        <p159:morph option="byObject"/>
      </p:transition>
    </mc:Choice>
    <mc:Fallback>
      <p:transition spd="slow">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C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20624"/>
            <a:ext cx="11057839" cy="274320"/>
          </a:xfrm>
          <a:prstGeom prst="rect">
            <a:avLst/>
          </a:prstGeom>
          <a:noFill/>
        </p:spPr>
        <p:txBody>
          <a:bodyPr wrap="square" anchor="t" lIns="0" rIns="0" tIns="0" bIns="0">
            <a:spAutoFit/>
          </a:bodyPr>
          <a:lstStyle/>
          <a:p>
            <a:pPr algn="l">
              <a:spcAft>
                <a:spcPts val="600"/>
              </a:spcAft>
            </a:pPr>
            <a:r>
              <a:rPr sz="1200" b="0">
                <a:solidFill>
                  <a:srgbClr val="71766C"/>
                </a:solidFill>
                <a:latin typeface="Consolas"/>
              </a:rPr>
              <a:t>01 · THE PROBLEM</a:t>
            </a:r>
          </a:p>
        </p:txBody>
      </p:sp>
      <p:sp>
        <p:nvSpPr>
          <p:cNvPr id="4" name="TextBox 3"/>
          <p:cNvSpPr txBox="1"/>
          <p:nvPr/>
        </p:nvSpPr>
        <p:spPr>
          <a:xfrm>
            <a:off x="566928" y="713232"/>
            <a:ext cx="11057839" cy="731520"/>
          </a:xfrm>
          <a:prstGeom prst="rect">
            <a:avLst/>
          </a:prstGeom>
          <a:noFill/>
        </p:spPr>
        <p:txBody>
          <a:bodyPr wrap="square" anchor="t" lIns="0" rIns="0" tIns="0" bIns="0">
            <a:spAutoFit/>
          </a:bodyPr>
          <a:lstStyle/>
          <a:p>
            <a:pPr algn="l">
              <a:spcAft>
                <a:spcPts val="600"/>
              </a:spcAft>
            </a:pPr>
            <a:r>
              <a:rPr sz="4000" b="1">
                <a:solidFill>
                  <a:srgbClr val="F0EFE9"/>
                </a:solidFill>
                <a:latin typeface="Segoe UI"/>
              </a:rPr>
              <a:t>Your model has to fit in memory.</a:t>
            </a:r>
          </a:p>
        </p:txBody>
      </p:sp>
      <p:sp>
        <p:nvSpPr>
          <p:cNvPr id="5" name="TextBox 4"/>
          <p:cNvSpPr txBox="1"/>
          <p:nvPr/>
        </p:nvSpPr>
        <p:spPr>
          <a:xfrm>
            <a:off x="566928" y="1481328"/>
            <a:ext cx="8778240" cy="548640"/>
          </a:xfrm>
          <a:prstGeom prst="rect">
            <a:avLst/>
          </a:prstGeom>
          <a:noFill/>
        </p:spPr>
        <p:txBody>
          <a:bodyPr wrap="square" anchor="t" lIns="0" rIns="0" tIns="0" bIns="0">
            <a:spAutoFit/>
          </a:bodyPr>
          <a:lstStyle/>
          <a:p>
            <a:pPr algn="l">
              <a:lnSpc>
                <a:spcPct val="125000"/>
              </a:lnSpc>
              <a:spcAft>
                <a:spcPts val="600"/>
              </a:spcAft>
            </a:pPr>
            <a:r>
              <a:rPr sz="1600" b="0">
                <a:solidFill>
                  <a:srgbClr val="A8ACA1"/>
                </a:solidFill>
                <a:latin typeface="Segoe UI"/>
              </a:rPr>
              <a:t>If it does not fit, you cannot run it. So people run small models, and small models get it wrong.</a:t>
            </a:r>
          </a:p>
        </p:txBody>
      </p:sp>
      <p:sp>
        <p:nvSpPr>
          <p:cNvPr id="6" name="Rectangle 5"/>
          <p:cNvSpPr/>
          <p:nvPr/>
        </p:nvSpPr>
        <p:spPr>
          <a:xfrm>
            <a:off x="566928" y="1975104"/>
            <a:ext cx="11057839" cy="9525"/>
          </a:xfrm>
          <a:prstGeom prst="rect">
            <a:avLst/>
          </a:prstGeom>
          <a:solidFill>
            <a:srgbClr val="2A2F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2249424"/>
            <a:ext cx="5391759" cy="356616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487168"/>
            <a:ext cx="4843119"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WHAT A MODEL NEEDS</a:t>
            </a:r>
          </a:p>
        </p:txBody>
      </p:sp>
      <p:sp>
        <p:nvSpPr>
          <p:cNvPr id="9" name="TextBox 8"/>
          <p:cNvSpPr txBox="1"/>
          <p:nvPr/>
        </p:nvSpPr>
        <p:spPr>
          <a:xfrm>
            <a:off x="841248" y="2852928"/>
            <a:ext cx="3745839" cy="274320"/>
          </a:xfrm>
          <a:prstGeom prst="rect">
            <a:avLst/>
          </a:prstGeom>
          <a:noFill/>
        </p:spPr>
        <p:txBody>
          <a:bodyPr wrap="square" anchor="t" lIns="0" rIns="0" tIns="0" bIns="0">
            <a:spAutoFit/>
          </a:bodyPr>
          <a:lstStyle/>
          <a:p>
            <a:pPr algn="l">
              <a:spcAft>
                <a:spcPts val="600"/>
              </a:spcAft>
            </a:pPr>
            <a:r>
              <a:rPr sz="1500" b="0">
                <a:solidFill>
                  <a:srgbClr val="F0EFE9"/>
                </a:solidFill>
                <a:latin typeface="Segoe UI"/>
              </a:rPr>
              <a:t>Qwen3 0.6B</a:t>
            </a:r>
          </a:p>
        </p:txBody>
      </p:sp>
      <p:sp>
        <p:nvSpPr>
          <p:cNvPr id="10" name="TextBox 9"/>
          <p:cNvSpPr txBox="1"/>
          <p:nvPr/>
        </p:nvSpPr>
        <p:spPr>
          <a:xfrm>
            <a:off x="4404207" y="2852928"/>
            <a:ext cx="1280160" cy="274320"/>
          </a:xfrm>
          <a:prstGeom prst="rect">
            <a:avLst/>
          </a:prstGeom>
          <a:noFill/>
        </p:spPr>
        <p:txBody>
          <a:bodyPr wrap="square" anchor="t" lIns="0" rIns="0" tIns="0" bIns="0">
            <a:spAutoFit/>
          </a:bodyPr>
          <a:lstStyle/>
          <a:p>
            <a:pPr algn="r">
              <a:spcAft>
                <a:spcPts val="600"/>
              </a:spcAft>
            </a:pPr>
            <a:r>
              <a:rPr sz="1500" b="0">
                <a:solidFill>
                  <a:srgbClr val="A8ACA1"/>
                </a:solidFill>
                <a:latin typeface="Consolas"/>
              </a:rPr>
              <a:t>0.64 GB</a:t>
            </a:r>
          </a:p>
        </p:txBody>
      </p:sp>
      <p:sp>
        <p:nvSpPr>
          <p:cNvPr id="11" name="TextBox 10"/>
          <p:cNvSpPr txBox="1"/>
          <p:nvPr/>
        </p:nvSpPr>
        <p:spPr>
          <a:xfrm>
            <a:off x="841248" y="3236976"/>
            <a:ext cx="3745839" cy="274320"/>
          </a:xfrm>
          <a:prstGeom prst="rect">
            <a:avLst/>
          </a:prstGeom>
          <a:noFill/>
        </p:spPr>
        <p:txBody>
          <a:bodyPr wrap="square" anchor="t" lIns="0" rIns="0" tIns="0" bIns="0">
            <a:spAutoFit/>
          </a:bodyPr>
          <a:lstStyle/>
          <a:p>
            <a:pPr algn="l">
              <a:spcAft>
                <a:spcPts val="600"/>
              </a:spcAft>
            </a:pPr>
            <a:r>
              <a:rPr sz="1500" b="0">
                <a:solidFill>
                  <a:srgbClr val="F0EFE9"/>
                </a:solidFill>
                <a:latin typeface="Segoe UI"/>
              </a:rPr>
              <a:t>Qwen3 8B</a:t>
            </a:r>
          </a:p>
        </p:txBody>
      </p:sp>
      <p:sp>
        <p:nvSpPr>
          <p:cNvPr id="12" name="TextBox 11"/>
          <p:cNvSpPr txBox="1"/>
          <p:nvPr/>
        </p:nvSpPr>
        <p:spPr>
          <a:xfrm>
            <a:off x="4404207" y="3236976"/>
            <a:ext cx="1280160" cy="274320"/>
          </a:xfrm>
          <a:prstGeom prst="rect">
            <a:avLst/>
          </a:prstGeom>
          <a:noFill/>
        </p:spPr>
        <p:txBody>
          <a:bodyPr wrap="square" anchor="t" lIns="0" rIns="0" tIns="0" bIns="0">
            <a:spAutoFit/>
          </a:bodyPr>
          <a:lstStyle/>
          <a:p>
            <a:pPr algn="r">
              <a:spcAft>
                <a:spcPts val="600"/>
              </a:spcAft>
            </a:pPr>
            <a:r>
              <a:rPr sz="1500" b="0">
                <a:solidFill>
                  <a:srgbClr val="A8ACA1"/>
                </a:solidFill>
                <a:latin typeface="Consolas"/>
              </a:rPr>
              <a:t>4.7 GB</a:t>
            </a:r>
          </a:p>
        </p:txBody>
      </p:sp>
      <p:sp>
        <p:nvSpPr>
          <p:cNvPr id="13" name="TextBox 12"/>
          <p:cNvSpPr txBox="1"/>
          <p:nvPr/>
        </p:nvSpPr>
        <p:spPr>
          <a:xfrm>
            <a:off x="841248" y="3621024"/>
            <a:ext cx="3745839" cy="274320"/>
          </a:xfrm>
          <a:prstGeom prst="rect">
            <a:avLst/>
          </a:prstGeom>
          <a:noFill/>
        </p:spPr>
        <p:txBody>
          <a:bodyPr wrap="square" anchor="t" lIns="0" rIns="0" tIns="0" bIns="0">
            <a:spAutoFit/>
          </a:bodyPr>
          <a:lstStyle/>
          <a:p>
            <a:pPr algn="l">
              <a:spcAft>
                <a:spcPts val="600"/>
              </a:spcAft>
            </a:pPr>
            <a:r>
              <a:rPr sz="1500" b="0">
                <a:solidFill>
                  <a:srgbClr val="F0EFE9"/>
                </a:solidFill>
                <a:latin typeface="Segoe UI"/>
              </a:rPr>
              <a:t>gpt-oss 20B</a:t>
            </a:r>
          </a:p>
        </p:txBody>
      </p:sp>
      <p:sp>
        <p:nvSpPr>
          <p:cNvPr id="14" name="TextBox 13"/>
          <p:cNvSpPr txBox="1"/>
          <p:nvPr/>
        </p:nvSpPr>
        <p:spPr>
          <a:xfrm>
            <a:off x="4404207" y="3621024"/>
            <a:ext cx="1280160" cy="274320"/>
          </a:xfrm>
          <a:prstGeom prst="rect">
            <a:avLst/>
          </a:prstGeom>
          <a:noFill/>
        </p:spPr>
        <p:txBody>
          <a:bodyPr wrap="square" anchor="t" lIns="0" rIns="0" tIns="0" bIns="0">
            <a:spAutoFit/>
          </a:bodyPr>
          <a:lstStyle/>
          <a:p>
            <a:pPr algn="r">
              <a:spcAft>
                <a:spcPts val="600"/>
              </a:spcAft>
            </a:pPr>
            <a:r>
              <a:rPr sz="1500" b="0">
                <a:solidFill>
                  <a:srgbClr val="A8ACA1"/>
                </a:solidFill>
                <a:latin typeface="Consolas"/>
              </a:rPr>
              <a:t>12.1 GB</a:t>
            </a:r>
          </a:p>
        </p:txBody>
      </p:sp>
      <p:sp>
        <p:nvSpPr>
          <p:cNvPr id="15" name="TextBox 14"/>
          <p:cNvSpPr txBox="1"/>
          <p:nvPr/>
        </p:nvSpPr>
        <p:spPr>
          <a:xfrm>
            <a:off x="841248" y="4005072"/>
            <a:ext cx="3745839" cy="274320"/>
          </a:xfrm>
          <a:prstGeom prst="rect">
            <a:avLst/>
          </a:prstGeom>
          <a:noFill/>
        </p:spPr>
        <p:txBody>
          <a:bodyPr wrap="square" anchor="t" lIns="0" rIns="0" tIns="0" bIns="0">
            <a:spAutoFit/>
          </a:bodyPr>
          <a:lstStyle/>
          <a:p>
            <a:pPr algn="l">
              <a:spcAft>
                <a:spcPts val="600"/>
              </a:spcAft>
            </a:pPr>
            <a:r>
              <a:rPr sz="1500" b="1">
                <a:solidFill>
                  <a:srgbClr val="5FD68A"/>
                </a:solidFill>
                <a:latin typeface="Segoe UI"/>
              </a:rPr>
              <a:t>Qwen3-Coder 30B</a:t>
            </a:r>
          </a:p>
        </p:txBody>
      </p:sp>
      <p:sp>
        <p:nvSpPr>
          <p:cNvPr id="16" name="TextBox 15"/>
          <p:cNvSpPr txBox="1"/>
          <p:nvPr/>
        </p:nvSpPr>
        <p:spPr>
          <a:xfrm>
            <a:off x="4404207" y="4005072"/>
            <a:ext cx="1280160" cy="274320"/>
          </a:xfrm>
          <a:prstGeom prst="rect">
            <a:avLst/>
          </a:prstGeom>
          <a:noFill/>
        </p:spPr>
        <p:txBody>
          <a:bodyPr wrap="square" anchor="t" lIns="0" rIns="0" tIns="0" bIns="0">
            <a:spAutoFit/>
          </a:bodyPr>
          <a:lstStyle/>
          <a:p>
            <a:pPr algn="r">
              <a:spcAft>
                <a:spcPts val="600"/>
              </a:spcAft>
            </a:pPr>
            <a:r>
              <a:rPr sz="1500" b="0">
                <a:solidFill>
                  <a:srgbClr val="5FD68A"/>
                </a:solidFill>
                <a:latin typeface="Consolas"/>
              </a:rPr>
              <a:t>18.6 GB</a:t>
            </a:r>
          </a:p>
        </p:txBody>
      </p:sp>
      <p:sp>
        <p:nvSpPr>
          <p:cNvPr id="17" name="TextBox 16"/>
          <p:cNvSpPr txBox="1"/>
          <p:nvPr/>
        </p:nvSpPr>
        <p:spPr>
          <a:xfrm>
            <a:off x="841248" y="4535424"/>
            <a:ext cx="4843119"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WHAT A DEVICE HAS FREE</a:t>
            </a:r>
          </a:p>
        </p:txBody>
      </p:sp>
      <p:sp>
        <p:nvSpPr>
          <p:cNvPr id="18" name="TextBox 17"/>
          <p:cNvSpPr txBox="1"/>
          <p:nvPr/>
        </p:nvSpPr>
        <p:spPr>
          <a:xfrm>
            <a:off x="841248" y="4901184"/>
            <a:ext cx="3745839" cy="274320"/>
          </a:xfrm>
          <a:prstGeom prst="rect">
            <a:avLst/>
          </a:prstGeom>
          <a:noFill/>
        </p:spPr>
        <p:txBody>
          <a:bodyPr wrap="square" anchor="t" lIns="0" rIns="0" tIns="0" bIns="0">
            <a:spAutoFit/>
          </a:bodyPr>
          <a:lstStyle/>
          <a:p>
            <a:pPr algn="l">
              <a:spcAft>
                <a:spcPts val="600"/>
              </a:spcAft>
            </a:pPr>
            <a:r>
              <a:rPr sz="1400" b="0">
                <a:solidFill>
                  <a:srgbClr val="F0EFE9"/>
                </a:solidFill>
                <a:latin typeface="Segoe UI"/>
              </a:rPr>
              <a:t>A budget laptop</a:t>
            </a:r>
          </a:p>
        </p:txBody>
      </p:sp>
      <p:sp>
        <p:nvSpPr>
          <p:cNvPr id="19" name="TextBox 18"/>
          <p:cNvSpPr txBox="1"/>
          <p:nvPr/>
        </p:nvSpPr>
        <p:spPr>
          <a:xfrm>
            <a:off x="3855567" y="4901184"/>
            <a:ext cx="1828800" cy="274320"/>
          </a:xfrm>
          <a:prstGeom prst="rect">
            <a:avLst/>
          </a:prstGeom>
          <a:noFill/>
        </p:spPr>
        <p:txBody>
          <a:bodyPr wrap="square" anchor="t" lIns="0" rIns="0" tIns="0" bIns="0">
            <a:spAutoFit/>
          </a:bodyPr>
          <a:lstStyle/>
          <a:p>
            <a:pPr algn="r">
              <a:spcAft>
                <a:spcPts val="600"/>
              </a:spcAft>
            </a:pPr>
            <a:r>
              <a:rPr sz="1400" b="0">
                <a:solidFill>
                  <a:srgbClr val="A8ACA1"/>
                </a:solidFill>
                <a:latin typeface="Consolas"/>
              </a:rPr>
              <a:t>about 4 GB</a:t>
            </a:r>
          </a:p>
        </p:txBody>
      </p:sp>
      <p:sp>
        <p:nvSpPr>
          <p:cNvPr id="20" name="TextBox 19"/>
          <p:cNvSpPr txBox="1"/>
          <p:nvPr/>
        </p:nvSpPr>
        <p:spPr>
          <a:xfrm>
            <a:off x="841248" y="5230368"/>
            <a:ext cx="3745839" cy="274320"/>
          </a:xfrm>
          <a:prstGeom prst="rect">
            <a:avLst/>
          </a:prstGeom>
          <a:noFill/>
        </p:spPr>
        <p:txBody>
          <a:bodyPr wrap="square" anchor="t" lIns="0" rIns="0" tIns="0" bIns="0">
            <a:spAutoFit/>
          </a:bodyPr>
          <a:lstStyle/>
          <a:p>
            <a:pPr algn="l">
              <a:spcAft>
                <a:spcPts val="600"/>
              </a:spcAft>
            </a:pPr>
            <a:r>
              <a:rPr sz="1400" b="0">
                <a:solidFill>
                  <a:srgbClr val="F0EFE9"/>
                </a:solidFill>
                <a:latin typeface="Segoe UI"/>
              </a:rPr>
              <a:t>One 16 GB phone</a:t>
            </a:r>
          </a:p>
        </p:txBody>
      </p:sp>
      <p:sp>
        <p:nvSpPr>
          <p:cNvPr id="21" name="TextBox 20"/>
          <p:cNvSpPr txBox="1"/>
          <p:nvPr/>
        </p:nvSpPr>
        <p:spPr>
          <a:xfrm>
            <a:off x="3855567" y="5230368"/>
            <a:ext cx="1828800" cy="274320"/>
          </a:xfrm>
          <a:prstGeom prst="rect">
            <a:avLst/>
          </a:prstGeom>
          <a:noFill/>
        </p:spPr>
        <p:txBody>
          <a:bodyPr wrap="square" anchor="t" lIns="0" rIns="0" tIns="0" bIns="0">
            <a:spAutoFit/>
          </a:bodyPr>
          <a:lstStyle/>
          <a:p>
            <a:pPr algn="r">
              <a:spcAft>
                <a:spcPts val="600"/>
              </a:spcAft>
            </a:pPr>
            <a:r>
              <a:rPr sz="1400" b="0">
                <a:solidFill>
                  <a:srgbClr val="A8ACA1"/>
                </a:solidFill>
                <a:latin typeface="Consolas"/>
              </a:rPr>
              <a:t>about 8.7 GB</a:t>
            </a:r>
          </a:p>
        </p:txBody>
      </p:sp>
      <p:sp>
        <p:nvSpPr>
          <p:cNvPr id="22" name="TextBox 21"/>
          <p:cNvSpPr txBox="1"/>
          <p:nvPr/>
        </p:nvSpPr>
        <p:spPr>
          <a:xfrm>
            <a:off x="841248" y="5559552"/>
            <a:ext cx="3745839" cy="274320"/>
          </a:xfrm>
          <a:prstGeom prst="rect">
            <a:avLst/>
          </a:prstGeom>
          <a:noFill/>
        </p:spPr>
        <p:txBody>
          <a:bodyPr wrap="square" anchor="t" lIns="0" rIns="0" tIns="0" bIns="0">
            <a:spAutoFit/>
          </a:bodyPr>
          <a:lstStyle/>
          <a:p>
            <a:pPr algn="l">
              <a:spcAft>
                <a:spcPts val="600"/>
              </a:spcAft>
            </a:pPr>
            <a:r>
              <a:rPr sz="1400" b="1">
                <a:solidFill>
                  <a:srgbClr val="5FD68A"/>
                </a:solidFill>
                <a:latin typeface="Segoe UI"/>
              </a:rPr>
              <a:t>The three together</a:t>
            </a:r>
          </a:p>
        </p:txBody>
      </p:sp>
      <p:sp>
        <p:nvSpPr>
          <p:cNvPr id="23" name="TextBox 22"/>
          <p:cNvSpPr txBox="1"/>
          <p:nvPr/>
        </p:nvSpPr>
        <p:spPr>
          <a:xfrm>
            <a:off x="3855567" y="5559552"/>
            <a:ext cx="1828800" cy="274320"/>
          </a:xfrm>
          <a:prstGeom prst="rect">
            <a:avLst/>
          </a:prstGeom>
          <a:noFill/>
        </p:spPr>
        <p:txBody>
          <a:bodyPr wrap="square" anchor="t" lIns="0" rIns="0" tIns="0" bIns="0">
            <a:spAutoFit/>
          </a:bodyPr>
          <a:lstStyle/>
          <a:p>
            <a:pPr algn="r">
              <a:spcAft>
                <a:spcPts val="600"/>
              </a:spcAft>
            </a:pPr>
            <a:r>
              <a:rPr sz="1400" b="0">
                <a:solidFill>
                  <a:srgbClr val="5FD68A"/>
                </a:solidFill>
                <a:latin typeface="Consolas"/>
              </a:rPr>
              <a:t>about 20 GB</a:t>
            </a:r>
          </a:p>
        </p:txBody>
      </p:sp>
      <p:sp>
        <p:nvSpPr>
          <p:cNvPr id="24" name="Rounded Rectangle 23"/>
          <p:cNvSpPr/>
          <p:nvPr/>
        </p:nvSpPr>
        <p:spPr>
          <a:xfrm>
            <a:off x="6233007" y="2249424"/>
            <a:ext cx="5391759" cy="356616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07327" y="2487168"/>
            <a:ext cx="4843119"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SMALL MODELS GET IT WRONG</a:t>
            </a:r>
          </a:p>
        </p:txBody>
      </p:sp>
      <p:sp>
        <p:nvSpPr>
          <p:cNvPr id="26" name="TextBox 25"/>
          <p:cNvSpPr txBox="1"/>
          <p:nvPr/>
        </p:nvSpPr>
        <p:spPr>
          <a:xfrm>
            <a:off x="6507327" y="2798064"/>
            <a:ext cx="4843119" cy="457200"/>
          </a:xfrm>
          <a:prstGeom prst="rect">
            <a:avLst/>
          </a:prstGeom>
          <a:noFill/>
        </p:spPr>
        <p:txBody>
          <a:bodyPr wrap="square" anchor="t" lIns="0" rIns="0" tIns="0" bIns="0">
            <a:spAutoFit/>
          </a:bodyPr>
          <a:lstStyle/>
          <a:p>
            <a:pPr algn="l">
              <a:lnSpc>
                <a:spcPct val="130000"/>
              </a:lnSpc>
              <a:spcAft>
                <a:spcPts val="600"/>
              </a:spcAft>
            </a:pPr>
            <a:r>
              <a:rPr sz="1400" b="0">
                <a:solidFill>
                  <a:srgbClr val="A8ACA1"/>
                </a:solidFill>
                <a:latin typeface="Segoe UI"/>
              </a:rPr>
              <a:t>We asked three setups the same 15 coding problems and ran their answers against the tests.</a:t>
            </a:r>
          </a:p>
        </p:txBody>
      </p:sp>
      <p:sp>
        <p:nvSpPr>
          <p:cNvPr id="27" name="Rounded Rectangle 26"/>
          <p:cNvSpPr/>
          <p:nvPr/>
        </p:nvSpPr>
        <p:spPr>
          <a:xfrm>
            <a:off x="6690207" y="4700016"/>
            <a:ext cx="1051560" cy="384048"/>
          </a:xfrm>
          <a:prstGeom prst="roundRect">
            <a:avLst>
              <a:gd name="adj" fmla="val 18000"/>
            </a:avLst>
          </a:prstGeom>
          <a:solidFill>
            <a:srgbClr val="2A2F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90207" y="4389120"/>
            <a:ext cx="1051560" cy="274320"/>
          </a:xfrm>
          <a:prstGeom prst="rect">
            <a:avLst/>
          </a:prstGeom>
          <a:noFill/>
        </p:spPr>
        <p:txBody>
          <a:bodyPr wrap="square" anchor="t" lIns="0" rIns="0" tIns="0" bIns="0">
            <a:spAutoFit/>
          </a:bodyPr>
          <a:lstStyle/>
          <a:p>
            <a:pPr algn="ctr">
              <a:spcAft>
                <a:spcPts val="600"/>
              </a:spcAft>
            </a:pPr>
            <a:r>
              <a:rPr sz="1700" b="0">
                <a:solidFill>
                  <a:srgbClr val="71766C"/>
                </a:solidFill>
                <a:latin typeface="Consolas"/>
              </a:rPr>
              <a:t>13%</a:t>
            </a:r>
          </a:p>
        </p:txBody>
      </p:sp>
      <p:sp>
        <p:nvSpPr>
          <p:cNvPr id="29" name="TextBox 28"/>
          <p:cNvSpPr txBox="1"/>
          <p:nvPr/>
        </p:nvSpPr>
        <p:spPr>
          <a:xfrm>
            <a:off x="6690207" y="5175504"/>
            <a:ext cx="1051560" cy="457200"/>
          </a:xfrm>
          <a:prstGeom prst="rect">
            <a:avLst/>
          </a:prstGeom>
          <a:noFill/>
        </p:spPr>
        <p:txBody>
          <a:bodyPr wrap="square" anchor="t" lIns="0" rIns="0" tIns="0" bIns="0">
            <a:spAutoFit/>
          </a:bodyPr>
          <a:lstStyle/>
          <a:p>
            <a:pPr algn="ctr">
              <a:spcAft>
                <a:spcPts val="600"/>
              </a:spcAft>
            </a:pPr>
            <a:r>
              <a:rPr sz="1100" b="0">
                <a:solidFill>
                  <a:srgbClr val="71766C"/>
                </a:solidFill>
                <a:latin typeface="Consolas"/>
              </a:rPr>
              <a:t>0.6B  2 of 15</a:t>
            </a:r>
          </a:p>
        </p:txBody>
      </p:sp>
      <p:sp>
        <p:nvSpPr>
          <p:cNvPr id="30" name="Rounded Rectangle 29"/>
          <p:cNvSpPr/>
          <p:nvPr/>
        </p:nvSpPr>
        <p:spPr>
          <a:xfrm>
            <a:off x="8107526" y="3712464"/>
            <a:ext cx="1051560" cy="1371600"/>
          </a:xfrm>
          <a:prstGeom prst="roundRect">
            <a:avLst>
              <a:gd name="adj" fmla="val 18000"/>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107526" y="3401568"/>
            <a:ext cx="1051560" cy="274320"/>
          </a:xfrm>
          <a:prstGeom prst="rect">
            <a:avLst/>
          </a:prstGeom>
          <a:noFill/>
        </p:spPr>
        <p:txBody>
          <a:bodyPr wrap="square" anchor="t" lIns="0" rIns="0" tIns="0" bIns="0">
            <a:spAutoFit/>
          </a:bodyPr>
          <a:lstStyle/>
          <a:p>
            <a:pPr algn="ctr">
              <a:spcAft>
                <a:spcPts val="600"/>
              </a:spcAft>
            </a:pPr>
            <a:r>
              <a:rPr sz="1700" b="0">
                <a:solidFill>
                  <a:srgbClr val="5FD68A"/>
                </a:solidFill>
                <a:latin typeface="Consolas"/>
              </a:rPr>
              <a:t>47%</a:t>
            </a:r>
          </a:p>
        </p:txBody>
      </p:sp>
      <p:sp>
        <p:nvSpPr>
          <p:cNvPr id="32" name="TextBox 31"/>
          <p:cNvSpPr txBox="1"/>
          <p:nvPr/>
        </p:nvSpPr>
        <p:spPr>
          <a:xfrm>
            <a:off x="8107526" y="5175504"/>
            <a:ext cx="1051560" cy="457200"/>
          </a:xfrm>
          <a:prstGeom prst="rect">
            <a:avLst/>
          </a:prstGeom>
          <a:noFill/>
        </p:spPr>
        <p:txBody>
          <a:bodyPr wrap="square" anchor="t" lIns="0" rIns="0" tIns="0" bIns="0">
            <a:spAutoFit/>
          </a:bodyPr>
          <a:lstStyle/>
          <a:p>
            <a:pPr algn="ctr">
              <a:spcAft>
                <a:spcPts val="600"/>
              </a:spcAft>
            </a:pPr>
            <a:r>
              <a:rPr sz="1100" b="0">
                <a:solidFill>
                  <a:srgbClr val="71766C"/>
                </a:solidFill>
                <a:latin typeface="Consolas"/>
              </a:rPr>
              <a:t>1.7B  7 of 15</a:t>
            </a:r>
          </a:p>
        </p:txBody>
      </p:sp>
      <p:sp>
        <p:nvSpPr>
          <p:cNvPr id="33" name="Rounded Rectangle 32"/>
          <p:cNvSpPr/>
          <p:nvPr/>
        </p:nvSpPr>
        <p:spPr>
          <a:xfrm>
            <a:off x="9524847" y="3255264"/>
            <a:ext cx="1051560" cy="1828800"/>
          </a:xfrm>
          <a:prstGeom prst="roundRect">
            <a:avLst>
              <a:gd name="adj" fmla="val 4000"/>
            </a:avLst>
          </a:prstGeom>
          <a:solidFill>
            <a:srgbClr val="0B0C0B"/>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524847" y="2944368"/>
            <a:ext cx="1051560" cy="274320"/>
          </a:xfrm>
          <a:prstGeom prst="rect">
            <a:avLst/>
          </a:prstGeom>
          <a:noFill/>
        </p:spPr>
        <p:txBody>
          <a:bodyPr wrap="square" anchor="t" lIns="0" rIns="0" tIns="0" bIns="0">
            <a:spAutoFit/>
          </a:bodyPr>
          <a:lstStyle/>
          <a:p>
            <a:pPr algn="ctr">
              <a:spcAft>
                <a:spcPts val="600"/>
              </a:spcAft>
            </a:pPr>
            <a:r>
              <a:rPr sz="1700" b="0">
                <a:solidFill>
                  <a:srgbClr val="71766C"/>
                </a:solidFill>
                <a:latin typeface="Consolas"/>
              </a:rPr>
              <a:t>?</a:t>
            </a:r>
          </a:p>
        </p:txBody>
      </p:sp>
      <p:sp>
        <p:nvSpPr>
          <p:cNvPr id="35" name="TextBox 34"/>
          <p:cNvSpPr txBox="1"/>
          <p:nvPr/>
        </p:nvSpPr>
        <p:spPr>
          <a:xfrm>
            <a:off x="9524847" y="5175504"/>
            <a:ext cx="1051560" cy="457200"/>
          </a:xfrm>
          <a:prstGeom prst="rect">
            <a:avLst/>
          </a:prstGeom>
          <a:noFill/>
        </p:spPr>
        <p:txBody>
          <a:bodyPr wrap="square" anchor="t" lIns="0" rIns="0" tIns="0" bIns="0">
            <a:spAutoFit/>
          </a:bodyPr>
          <a:lstStyle/>
          <a:p>
            <a:pPr algn="ctr">
              <a:spcAft>
                <a:spcPts val="600"/>
              </a:spcAft>
            </a:pPr>
            <a:r>
              <a:rPr sz="1100" b="0">
                <a:solidFill>
                  <a:srgbClr val="71766C"/>
                </a:solidFill>
                <a:latin typeface="Consolas"/>
              </a:rPr>
              <a:t>30B  18.6 GB</a:t>
            </a:r>
          </a:p>
        </p:txBody>
      </p:sp>
      <p:sp>
        <p:nvSpPr>
          <p:cNvPr id="36" name="TextBox 35"/>
          <p:cNvSpPr txBox="1"/>
          <p:nvPr/>
        </p:nvSpPr>
        <p:spPr>
          <a:xfrm>
            <a:off x="566928" y="6291072"/>
            <a:ext cx="6400800"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MeshAI</a:t>
            </a:r>
          </a:p>
        </p:txBody>
      </p:sp>
      <p:sp>
        <p:nvSpPr>
          <p:cNvPr id="37" name="TextBox 36"/>
          <p:cNvSpPr txBox="1"/>
          <p:nvPr/>
        </p:nvSpPr>
        <p:spPr>
          <a:xfrm>
            <a:off x="5223967" y="6291072"/>
            <a:ext cx="6400800" cy="274320"/>
          </a:xfrm>
          <a:prstGeom prst="rect">
            <a:avLst/>
          </a:prstGeom>
          <a:noFill/>
        </p:spPr>
        <p:txBody>
          <a:bodyPr wrap="square" anchor="t" lIns="0" rIns="0" tIns="0" bIns="0">
            <a:spAutoFit/>
          </a:bodyPr>
          <a:lstStyle/>
          <a:p>
            <a:pPr algn="r">
              <a:spcAft>
                <a:spcPts val="600"/>
              </a:spcAft>
            </a:pPr>
            <a:r>
              <a:rPr sz="1100" b="0">
                <a:solidFill>
                  <a:srgbClr val="71766C"/>
                </a:solidFill>
                <a:latin typeface="Consolas"/>
              </a:rPr>
              <a:t>measured 27 September · results/REPORT.md</a:t>
            </a:r>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800">
        <p159:morph option="byObject"/>
      </p:transition>
    </mc:Choice>
    <mc:Fallback>
      <p:transition spd="slow">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C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20624"/>
            <a:ext cx="11057839" cy="274320"/>
          </a:xfrm>
          <a:prstGeom prst="rect">
            <a:avLst/>
          </a:prstGeom>
          <a:noFill/>
        </p:spPr>
        <p:txBody>
          <a:bodyPr wrap="square" anchor="t" lIns="0" rIns="0" tIns="0" bIns="0">
            <a:spAutoFit/>
          </a:bodyPr>
          <a:lstStyle/>
          <a:p>
            <a:pPr algn="l">
              <a:spcAft>
                <a:spcPts val="600"/>
              </a:spcAft>
            </a:pPr>
            <a:r>
              <a:rPr sz="1200" b="0">
                <a:solidFill>
                  <a:srgbClr val="71766C"/>
                </a:solidFill>
                <a:latin typeface="Consolas"/>
              </a:rPr>
              <a:t>02 · WHAT WE BUILT</a:t>
            </a:r>
          </a:p>
        </p:txBody>
      </p:sp>
      <p:sp>
        <p:nvSpPr>
          <p:cNvPr id="4" name="TextBox 3"/>
          <p:cNvSpPr txBox="1"/>
          <p:nvPr/>
        </p:nvSpPr>
        <p:spPr>
          <a:xfrm>
            <a:off x="566928" y="713232"/>
            <a:ext cx="11057839" cy="731520"/>
          </a:xfrm>
          <a:prstGeom prst="rect">
            <a:avLst/>
          </a:prstGeom>
          <a:noFill/>
        </p:spPr>
        <p:txBody>
          <a:bodyPr wrap="square" anchor="t" lIns="0" rIns="0" tIns="0" bIns="0">
            <a:spAutoFit/>
          </a:bodyPr>
          <a:lstStyle/>
          <a:p>
            <a:pPr algn="l">
              <a:spcAft>
                <a:spcPts val="600"/>
              </a:spcAft>
            </a:pPr>
            <a:r>
              <a:rPr sz="4000" b="1">
                <a:solidFill>
                  <a:srgbClr val="F0EFE9"/>
                </a:solidFill>
                <a:latin typeface="Segoe UI"/>
              </a:rPr>
              <a:t>Put the devices together and run the big model.</a:t>
            </a:r>
          </a:p>
        </p:txBody>
      </p:sp>
      <p:sp>
        <p:nvSpPr>
          <p:cNvPr id="5" name="TextBox 4"/>
          <p:cNvSpPr txBox="1"/>
          <p:nvPr/>
        </p:nvSpPr>
        <p:spPr>
          <a:xfrm>
            <a:off x="566928" y="1481328"/>
            <a:ext cx="8778240" cy="548640"/>
          </a:xfrm>
          <a:prstGeom prst="rect">
            <a:avLst/>
          </a:prstGeom>
          <a:noFill/>
        </p:spPr>
        <p:txBody>
          <a:bodyPr wrap="square" anchor="t" lIns="0" rIns="0" tIns="0" bIns="0">
            <a:spAutoFit/>
          </a:bodyPr>
          <a:lstStyle/>
          <a:p>
            <a:pPr algn="l">
              <a:lnSpc>
                <a:spcPct val="125000"/>
              </a:lnSpc>
              <a:spcAft>
                <a:spcPts val="600"/>
              </a:spcAft>
            </a:pPr>
            <a:r>
              <a:rPr sz="1600" b="0">
                <a:solidFill>
                  <a:srgbClr val="A8ACA1"/>
                </a:solidFill>
                <a:latin typeface="Segoe UI"/>
              </a:rPr>
              <a:t>One device plans and answers. The others hold part of the model. Your tools do not change.</a:t>
            </a:r>
          </a:p>
        </p:txBody>
      </p:sp>
      <p:sp>
        <p:nvSpPr>
          <p:cNvPr id="6" name="Rectangle 5"/>
          <p:cNvSpPr/>
          <p:nvPr/>
        </p:nvSpPr>
        <p:spPr>
          <a:xfrm>
            <a:off x="566928" y="1975104"/>
            <a:ext cx="11057839" cy="9525"/>
          </a:xfrm>
          <a:prstGeom prst="rect">
            <a:avLst/>
          </a:prstGeom>
          <a:solidFill>
            <a:srgbClr val="2A2F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2432304"/>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340864"/>
            <a:ext cx="6345936" cy="274320"/>
          </a:xfrm>
          <a:prstGeom prst="rect">
            <a:avLst/>
          </a:prstGeom>
          <a:noFill/>
        </p:spPr>
        <p:txBody>
          <a:bodyPr wrap="square" anchor="t" lIns="0" rIns="0" tIns="0" bIns="0">
            <a:spAutoFit/>
          </a:bodyPr>
          <a:lstStyle/>
          <a:p>
            <a:pPr algn="l">
              <a:spcAft>
                <a:spcPts val="600"/>
              </a:spcAft>
            </a:pPr>
            <a:r>
              <a:rPr sz="1600" b="0">
                <a:solidFill>
                  <a:srgbClr val="F0EFE9"/>
                </a:solidFill>
                <a:latin typeface="Segoe UI"/>
              </a:rPr>
              <a:t>Phones and laptops in one cluster</a:t>
            </a:r>
          </a:p>
        </p:txBody>
      </p:sp>
      <p:sp>
        <p:nvSpPr>
          <p:cNvPr id="9" name="TextBox 8"/>
          <p:cNvSpPr txBox="1"/>
          <p:nvPr/>
        </p:nvSpPr>
        <p:spPr>
          <a:xfrm>
            <a:off x="804672" y="2551176"/>
            <a:ext cx="6345936" cy="228600"/>
          </a:xfrm>
          <a:prstGeom prst="rect">
            <a:avLst/>
          </a:prstGeom>
          <a:noFill/>
        </p:spPr>
        <p:txBody>
          <a:bodyPr wrap="square" anchor="t" lIns="0" rIns="0" tIns="0" bIns="0">
            <a:spAutoFit/>
          </a:bodyPr>
          <a:lstStyle/>
          <a:p>
            <a:pPr algn="l">
              <a:spcAft>
                <a:spcPts val="600"/>
              </a:spcAft>
            </a:pPr>
            <a:r>
              <a:rPr sz="1200" b="0">
                <a:solidFill>
                  <a:srgbClr val="71766C"/>
                </a:solidFill>
                <a:latin typeface="Segoe UI"/>
              </a:rPr>
              <a:t>any Android phone, any laptop, any GGUF model</a:t>
            </a:r>
          </a:p>
        </p:txBody>
      </p:sp>
      <p:sp>
        <p:nvSpPr>
          <p:cNvPr id="10" name="Rectangle 9"/>
          <p:cNvSpPr/>
          <p:nvPr/>
        </p:nvSpPr>
        <p:spPr>
          <a:xfrm>
            <a:off x="566928" y="2999232"/>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2907792"/>
            <a:ext cx="6345936" cy="274320"/>
          </a:xfrm>
          <a:prstGeom prst="rect">
            <a:avLst/>
          </a:prstGeom>
          <a:noFill/>
        </p:spPr>
        <p:txBody>
          <a:bodyPr wrap="square" anchor="t" lIns="0" rIns="0" tIns="0" bIns="0">
            <a:spAutoFit/>
          </a:bodyPr>
          <a:lstStyle/>
          <a:p>
            <a:pPr algn="l">
              <a:spcAft>
                <a:spcPts val="600"/>
              </a:spcAft>
            </a:pPr>
            <a:r>
              <a:rPr sz="1600" b="0">
                <a:solidFill>
                  <a:srgbClr val="F0EFE9"/>
                </a:solidFill>
                <a:latin typeface="Segoe UI"/>
              </a:rPr>
              <a:t>One device decides who holds what</a:t>
            </a:r>
          </a:p>
        </p:txBody>
      </p:sp>
      <p:sp>
        <p:nvSpPr>
          <p:cNvPr id="12" name="TextBox 11"/>
          <p:cNvSpPr txBox="1"/>
          <p:nvPr/>
        </p:nvSpPr>
        <p:spPr>
          <a:xfrm>
            <a:off x="804672" y="3118104"/>
            <a:ext cx="6345936" cy="228600"/>
          </a:xfrm>
          <a:prstGeom prst="rect">
            <a:avLst/>
          </a:prstGeom>
          <a:noFill/>
        </p:spPr>
        <p:txBody>
          <a:bodyPr wrap="square" anchor="t" lIns="0" rIns="0" tIns="0" bIns="0">
            <a:spAutoFit/>
          </a:bodyPr>
          <a:lstStyle/>
          <a:p>
            <a:pPr algn="l">
              <a:spcAft>
                <a:spcPts val="600"/>
              </a:spcAft>
            </a:pPr>
            <a:r>
              <a:rPr sz="1200" b="0">
                <a:solidFill>
                  <a:srgbClr val="71766C"/>
                </a:solidFill>
                <a:latin typeface="Segoe UI"/>
              </a:rPr>
              <a:t>it reads free memory, heat, battery and link speed</a:t>
            </a:r>
          </a:p>
        </p:txBody>
      </p:sp>
      <p:sp>
        <p:nvSpPr>
          <p:cNvPr id="13" name="Rectangle 12"/>
          <p:cNvSpPr/>
          <p:nvPr/>
        </p:nvSpPr>
        <p:spPr>
          <a:xfrm>
            <a:off x="566928" y="3566160"/>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3474720"/>
            <a:ext cx="6345936" cy="274320"/>
          </a:xfrm>
          <a:prstGeom prst="rect">
            <a:avLst/>
          </a:prstGeom>
          <a:noFill/>
        </p:spPr>
        <p:txBody>
          <a:bodyPr wrap="square" anchor="t" lIns="0" rIns="0" tIns="0" bIns="0">
            <a:spAutoFit/>
          </a:bodyPr>
          <a:lstStyle/>
          <a:p>
            <a:pPr algn="l">
              <a:spcAft>
                <a:spcPts val="600"/>
              </a:spcAft>
            </a:pPr>
            <a:r>
              <a:rPr sz="1600" b="0">
                <a:solidFill>
                  <a:srgbClr val="F0EFE9"/>
                </a:solidFill>
                <a:latin typeface="Segoe UI"/>
              </a:rPr>
              <a:t>Only about 4 KB crosses the cable per word</a:t>
            </a:r>
          </a:p>
        </p:txBody>
      </p:sp>
      <p:sp>
        <p:nvSpPr>
          <p:cNvPr id="15" name="TextBox 14"/>
          <p:cNvSpPr txBox="1"/>
          <p:nvPr/>
        </p:nvSpPr>
        <p:spPr>
          <a:xfrm>
            <a:off x="804672" y="3685032"/>
            <a:ext cx="6345936" cy="228600"/>
          </a:xfrm>
          <a:prstGeom prst="rect">
            <a:avLst/>
          </a:prstGeom>
          <a:noFill/>
        </p:spPr>
        <p:txBody>
          <a:bodyPr wrap="square" anchor="t" lIns="0" rIns="0" tIns="0" bIns="0">
            <a:spAutoFit/>
          </a:bodyPr>
          <a:lstStyle/>
          <a:p>
            <a:pPr algn="l">
              <a:spcAft>
                <a:spcPts val="600"/>
              </a:spcAft>
            </a:pPr>
            <a:r>
              <a:rPr sz="1200" b="0">
                <a:solidFill>
                  <a:srgbClr val="71766C"/>
                </a:solidFill>
                <a:latin typeface="Segoe UI"/>
              </a:rPr>
              <a:t>the 18.6 GB of weights never move</a:t>
            </a:r>
          </a:p>
        </p:txBody>
      </p:sp>
      <p:sp>
        <p:nvSpPr>
          <p:cNvPr id="16" name="Rectangle 15"/>
          <p:cNvSpPr/>
          <p:nvPr/>
        </p:nvSpPr>
        <p:spPr>
          <a:xfrm>
            <a:off x="566928" y="4133088"/>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4041648"/>
            <a:ext cx="6345936" cy="274320"/>
          </a:xfrm>
          <a:prstGeom prst="rect">
            <a:avLst/>
          </a:prstGeom>
          <a:noFill/>
        </p:spPr>
        <p:txBody>
          <a:bodyPr wrap="square" anchor="t" lIns="0" rIns="0" tIns="0" bIns="0">
            <a:spAutoFit/>
          </a:bodyPr>
          <a:lstStyle/>
          <a:p>
            <a:pPr algn="l">
              <a:spcAft>
                <a:spcPts val="600"/>
              </a:spcAft>
            </a:pPr>
            <a:r>
              <a:rPr sz="1600" b="0">
                <a:solidFill>
                  <a:srgbClr val="F0EFE9"/>
                </a:solidFill>
                <a:latin typeface="Segoe UI"/>
              </a:rPr>
              <a:t>It says no when a device would slow you down</a:t>
            </a:r>
          </a:p>
        </p:txBody>
      </p:sp>
      <p:sp>
        <p:nvSpPr>
          <p:cNvPr id="18" name="TextBox 17"/>
          <p:cNvSpPr txBox="1"/>
          <p:nvPr/>
        </p:nvSpPr>
        <p:spPr>
          <a:xfrm>
            <a:off x="804672" y="4251960"/>
            <a:ext cx="6345936" cy="228600"/>
          </a:xfrm>
          <a:prstGeom prst="rect">
            <a:avLst/>
          </a:prstGeom>
          <a:noFill/>
        </p:spPr>
        <p:txBody>
          <a:bodyPr wrap="square" anchor="t" lIns="0" rIns="0" tIns="0" bIns="0">
            <a:spAutoFit/>
          </a:bodyPr>
          <a:lstStyle/>
          <a:p>
            <a:pPr algn="l">
              <a:spcAft>
                <a:spcPts val="600"/>
              </a:spcAft>
            </a:pPr>
            <a:r>
              <a:rPr sz="1200" b="0">
                <a:solidFill>
                  <a:srgbClr val="71766C"/>
                </a:solidFill>
                <a:latin typeface="Segoe UI"/>
              </a:rPr>
              <a:t>in a sentence you can read</a:t>
            </a:r>
          </a:p>
        </p:txBody>
      </p:sp>
      <p:sp>
        <p:nvSpPr>
          <p:cNvPr id="19" name="Rectangle 18"/>
          <p:cNvSpPr/>
          <p:nvPr/>
        </p:nvSpPr>
        <p:spPr>
          <a:xfrm>
            <a:off x="566928" y="4700016"/>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 y="4608576"/>
            <a:ext cx="6345936" cy="274320"/>
          </a:xfrm>
          <a:prstGeom prst="rect">
            <a:avLst/>
          </a:prstGeom>
          <a:noFill/>
        </p:spPr>
        <p:txBody>
          <a:bodyPr wrap="square" anchor="t" lIns="0" rIns="0" tIns="0" bIns="0">
            <a:spAutoFit/>
          </a:bodyPr>
          <a:lstStyle/>
          <a:p>
            <a:pPr algn="l">
              <a:spcAft>
                <a:spcPts val="600"/>
              </a:spcAft>
            </a:pPr>
            <a:r>
              <a:rPr sz="1600" b="0">
                <a:solidFill>
                  <a:srgbClr val="F0EFE9"/>
                </a:solidFill>
                <a:latin typeface="Segoe UI"/>
              </a:rPr>
              <a:t>Nothing leaves your devices</a:t>
            </a:r>
          </a:p>
        </p:txBody>
      </p:sp>
      <p:sp>
        <p:nvSpPr>
          <p:cNvPr id="21" name="TextBox 20"/>
          <p:cNvSpPr txBox="1"/>
          <p:nvPr/>
        </p:nvSpPr>
        <p:spPr>
          <a:xfrm>
            <a:off x="804672" y="4818888"/>
            <a:ext cx="6345936" cy="228600"/>
          </a:xfrm>
          <a:prstGeom prst="rect">
            <a:avLst/>
          </a:prstGeom>
          <a:noFill/>
        </p:spPr>
        <p:txBody>
          <a:bodyPr wrap="square" anchor="t" lIns="0" rIns="0" tIns="0" bIns="0">
            <a:spAutoFit/>
          </a:bodyPr>
          <a:lstStyle/>
          <a:p>
            <a:pPr algn="l">
              <a:spcAft>
                <a:spcPts val="600"/>
              </a:spcAft>
            </a:pPr>
            <a:r>
              <a:rPr sz="1200" b="0">
                <a:solidFill>
                  <a:srgbClr val="71766C"/>
                </a:solidFill>
                <a:latin typeface="Segoe UI"/>
              </a:rPr>
              <a:t>the demo runs with the internet off</a:t>
            </a:r>
          </a:p>
        </p:txBody>
      </p:sp>
      <p:sp>
        <p:nvSpPr>
          <p:cNvPr id="22" name="Rounded Rectangle 21"/>
          <p:cNvSpPr/>
          <p:nvPr/>
        </p:nvSpPr>
        <p:spPr>
          <a:xfrm>
            <a:off x="7516368" y="2340864"/>
            <a:ext cx="4108399" cy="2926080"/>
          </a:xfrm>
          <a:prstGeom prst="roundRect">
            <a:avLst>
              <a:gd name="adj" fmla="val 4000"/>
            </a:avLst>
          </a:prstGeom>
          <a:solidFill>
            <a:srgbClr val="142E20"/>
          </a:solidFill>
          <a:ln w="9525">
            <a:solidFill>
              <a:srgbClr val="5FD6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08976" y="2615184"/>
            <a:ext cx="3657600" cy="274320"/>
          </a:xfrm>
          <a:prstGeom prst="rect">
            <a:avLst/>
          </a:prstGeom>
          <a:noFill/>
        </p:spPr>
        <p:txBody>
          <a:bodyPr wrap="square" anchor="t" lIns="0" rIns="0" tIns="0" bIns="0">
            <a:spAutoFit/>
          </a:bodyPr>
          <a:lstStyle/>
          <a:p>
            <a:pPr algn="l">
              <a:spcAft>
                <a:spcPts val="600"/>
              </a:spcAft>
            </a:pPr>
            <a:r>
              <a:rPr sz="1100" b="0">
                <a:solidFill>
                  <a:srgbClr val="5FD68A"/>
                </a:solidFill>
                <a:latin typeface="Consolas"/>
              </a:rPr>
              <a:t>THE PHONE IS NOT AN ACCESSORY</a:t>
            </a:r>
          </a:p>
        </p:txBody>
      </p:sp>
      <p:sp>
        <p:nvSpPr>
          <p:cNvPr id="24" name="TextBox 23"/>
          <p:cNvSpPr txBox="1"/>
          <p:nvPr/>
        </p:nvSpPr>
        <p:spPr>
          <a:xfrm>
            <a:off x="7808976" y="2962656"/>
            <a:ext cx="3523183" cy="2011680"/>
          </a:xfrm>
          <a:prstGeom prst="rect">
            <a:avLst/>
          </a:prstGeom>
          <a:noFill/>
        </p:spPr>
        <p:txBody>
          <a:bodyPr wrap="square" anchor="t" lIns="0" rIns="0" tIns="0" bIns="0">
            <a:spAutoFit/>
          </a:bodyPr>
          <a:lstStyle/>
          <a:p>
            <a:pPr algn="l">
              <a:lnSpc>
                <a:spcPct val="135000"/>
              </a:lnSpc>
              <a:spcAft>
                <a:spcPts val="600"/>
              </a:spcAft>
            </a:pPr>
            <a:r>
              <a:rPr sz="1600" b="0">
                <a:solidFill>
                  <a:srgbClr val="F0EFE9"/>
                </a:solidFill>
                <a:latin typeface="Segoe UI"/>
              </a:rPr>
              <a:t>A phone can be the host: it plans the split, runs the model and answers.
Every other system treats a phone as a client that asks a server.</a:t>
            </a:r>
          </a:p>
        </p:txBody>
      </p:sp>
      <p:sp>
        <p:nvSpPr>
          <p:cNvPr id="25" name="TextBox 24"/>
          <p:cNvSpPr txBox="1"/>
          <p:nvPr/>
        </p:nvSpPr>
        <p:spPr>
          <a:xfrm>
            <a:off x="566928" y="6291072"/>
            <a:ext cx="6400800"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MeshAI</a:t>
            </a:r>
          </a:p>
        </p:txBody>
      </p:sp>
      <p:sp>
        <p:nvSpPr>
          <p:cNvPr id="26" name="TextBox 25"/>
          <p:cNvSpPr txBox="1"/>
          <p:nvPr/>
        </p:nvSpPr>
        <p:spPr>
          <a:xfrm>
            <a:off x="5223967" y="6291072"/>
            <a:ext cx="6400800" cy="274320"/>
          </a:xfrm>
          <a:prstGeom prst="rect">
            <a:avLst/>
          </a:prstGeom>
          <a:noFill/>
        </p:spPr>
        <p:txBody>
          <a:bodyPr wrap="square" anchor="t" lIns="0" rIns="0" tIns="0" bIns="0">
            <a:spAutoFit/>
          </a:bodyPr>
          <a:lstStyle/>
          <a:p>
            <a:pPr algn="r">
              <a:spcAft>
                <a:spcPts val="600"/>
              </a:spcAft>
            </a:pPr>
            <a:r>
              <a:rPr sz="1100" b="0">
                <a:solidFill>
                  <a:srgbClr val="71766C"/>
                </a:solidFill>
                <a:latin typeface="Consolas"/>
              </a:rPr>
              <a:t>one app · host role or helper role</a:t>
            </a:r>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800">
        <p159:morph option="byObject"/>
      </p:transition>
    </mc:Choice>
    <mc:Fallback>
      <p:transition spd="slow">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C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20624"/>
            <a:ext cx="11057839" cy="274320"/>
          </a:xfrm>
          <a:prstGeom prst="rect">
            <a:avLst/>
          </a:prstGeom>
          <a:noFill/>
        </p:spPr>
        <p:txBody>
          <a:bodyPr wrap="square" anchor="t" lIns="0" rIns="0" tIns="0" bIns="0">
            <a:spAutoFit/>
          </a:bodyPr>
          <a:lstStyle/>
          <a:p>
            <a:pPr algn="l">
              <a:spcAft>
                <a:spcPts val="600"/>
              </a:spcAft>
            </a:pPr>
            <a:r>
              <a:rPr sz="1200" b="0">
                <a:solidFill>
                  <a:srgbClr val="71766C"/>
                </a:solidFill>
                <a:latin typeface="Consolas"/>
              </a:rPr>
              <a:t>03 · HOW IT WORKS</a:t>
            </a:r>
          </a:p>
        </p:txBody>
      </p:sp>
      <p:sp>
        <p:nvSpPr>
          <p:cNvPr id="4" name="TextBox 3"/>
          <p:cNvSpPr txBox="1"/>
          <p:nvPr/>
        </p:nvSpPr>
        <p:spPr>
          <a:xfrm>
            <a:off x="566928" y="713232"/>
            <a:ext cx="11057839" cy="731520"/>
          </a:xfrm>
          <a:prstGeom prst="rect">
            <a:avLst/>
          </a:prstGeom>
          <a:noFill/>
        </p:spPr>
        <p:txBody>
          <a:bodyPr wrap="square" anchor="t" lIns="0" rIns="0" tIns="0" bIns="0">
            <a:spAutoFit/>
          </a:bodyPr>
          <a:lstStyle/>
          <a:p>
            <a:pPr algn="l">
              <a:spcAft>
                <a:spcPts val="600"/>
              </a:spcAft>
            </a:pPr>
            <a:r>
              <a:rPr sz="4000" b="1">
                <a:solidFill>
                  <a:srgbClr val="F0EFE9"/>
                </a:solidFill>
                <a:latin typeface="Segoe UI"/>
              </a:rPr>
              <a:t>One word goes through all 48 layers, then comes back.</a:t>
            </a:r>
          </a:p>
        </p:txBody>
      </p:sp>
      <p:sp>
        <p:nvSpPr>
          <p:cNvPr id="5" name="Rectangle 4"/>
          <p:cNvSpPr/>
          <p:nvPr/>
        </p:nvSpPr>
        <p:spPr>
          <a:xfrm>
            <a:off x="566928" y="1481328"/>
            <a:ext cx="11057839" cy="9525"/>
          </a:xfrm>
          <a:prstGeom prst="rect">
            <a:avLst/>
          </a:prstGeom>
          <a:solidFill>
            <a:srgbClr val="2A2F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66928" y="1892808"/>
            <a:ext cx="4114800" cy="265176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2084832"/>
            <a:ext cx="3657600" cy="274320"/>
          </a:xfrm>
          <a:prstGeom prst="rect">
            <a:avLst/>
          </a:prstGeom>
          <a:noFill/>
        </p:spPr>
        <p:txBody>
          <a:bodyPr wrap="square" anchor="t" lIns="0" rIns="0" tIns="0" bIns="0">
            <a:spAutoFit/>
          </a:bodyPr>
          <a:lstStyle/>
          <a:p>
            <a:pPr algn="l">
              <a:spcAft>
                <a:spcPts val="600"/>
              </a:spcAft>
            </a:pPr>
            <a:r>
              <a:rPr sz="1100" b="0">
                <a:solidFill>
                  <a:srgbClr val="5FD68A"/>
                </a:solidFill>
                <a:latin typeface="Consolas"/>
              </a:rPr>
              <a:t>THIS LAPTOP · THE HOST</a:t>
            </a:r>
          </a:p>
        </p:txBody>
      </p:sp>
      <p:sp>
        <p:nvSpPr>
          <p:cNvPr id="8" name="TextBox 7"/>
          <p:cNvSpPr txBox="1"/>
          <p:nvPr/>
        </p:nvSpPr>
        <p:spPr>
          <a:xfrm>
            <a:off x="804672" y="2414016"/>
            <a:ext cx="3657600" cy="274320"/>
          </a:xfrm>
          <a:prstGeom prst="rect">
            <a:avLst/>
          </a:prstGeom>
          <a:noFill/>
        </p:spPr>
        <p:txBody>
          <a:bodyPr wrap="square" anchor="t" lIns="0" rIns="0" tIns="0" bIns="0">
            <a:spAutoFit/>
          </a:bodyPr>
          <a:lstStyle/>
          <a:p>
            <a:pPr algn="l">
              <a:spcAft>
                <a:spcPts val="600"/>
              </a:spcAft>
            </a:pPr>
            <a:r>
              <a:rPr sz="1200" b="0">
                <a:solidFill>
                  <a:srgbClr val="A8ACA1"/>
                </a:solidFill>
                <a:latin typeface="Segoe UI"/>
              </a:rPr>
              <a:t>Embeddings and output head stay here</a:t>
            </a:r>
          </a:p>
        </p:txBody>
      </p:sp>
      <p:sp>
        <p:nvSpPr>
          <p:cNvPr id="9" name="Rounded Rectangle 8"/>
          <p:cNvSpPr/>
          <p:nvPr/>
        </p:nvSpPr>
        <p:spPr>
          <a:xfrm>
            <a:off x="804672" y="2670048"/>
            <a:ext cx="3639312" cy="182880"/>
          </a:xfrm>
          <a:prstGeom prst="roundRect">
            <a:avLst>
              <a:gd name="adj" fmla="val 18000"/>
            </a:avLst>
          </a:prstGeom>
          <a:solidFill>
            <a:srgbClr val="2C5E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990088"/>
            <a:ext cx="3657600" cy="274320"/>
          </a:xfrm>
          <a:prstGeom prst="rect">
            <a:avLst/>
          </a:prstGeom>
          <a:noFill/>
        </p:spPr>
        <p:txBody>
          <a:bodyPr wrap="square" anchor="t" lIns="0" rIns="0" tIns="0" bIns="0">
            <a:spAutoFit/>
          </a:bodyPr>
          <a:lstStyle/>
          <a:p>
            <a:pPr algn="l">
              <a:spcAft>
                <a:spcPts val="600"/>
              </a:spcAft>
            </a:pPr>
            <a:r>
              <a:rPr sz="1200" b="0">
                <a:solidFill>
                  <a:srgbClr val="A8ACA1"/>
                </a:solidFill>
                <a:latin typeface="Segoe UI"/>
              </a:rPr>
              <a:t>Layers 0–22 · 9.19 GB</a:t>
            </a:r>
          </a:p>
        </p:txBody>
      </p:sp>
      <p:sp>
        <p:nvSpPr>
          <p:cNvPr id="11" name="Rounded Rectangle 10"/>
          <p:cNvSpPr/>
          <p:nvPr/>
        </p:nvSpPr>
        <p:spPr>
          <a:xfrm>
            <a:off x="804672" y="3246120"/>
            <a:ext cx="128016" cy="384048"/>
          </a:xfrm>
          <a:prstGeom prst="roundRect">
            <a:avLst>
              <a:gd name="adj" fmla="val 18000"/>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61948" y="3246120"/>
            <a:ext cx="128016" cy="384048"/>
          </a:xfrm>
          <a:prstGeom prst="roundRect">
            <a:avLst>
              <a:gd name="adj" fmla="val 18000"/>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119224" y="3246120"/>
            <a:ext cx="128016" cy="384048"/>
          </a:xfrm>
          <a:prstGeom prst="roundRect">
            <a:avLst>
              <a:gd name="adj" fmla="val 18000"/>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276500" y="3246120"/>
            <a:ext cx="128016" cy="384048"/>
          </a:xfrm>
          <a:prstGeom prst="roundRect">
            <a:avLst>
              <a:gd name="adj" fmla="val 18000"/>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433776" y="3246120"/>
            <a:ext cx="128016" cy="384048"/>
          </a:xfrm>
          <a:prstGeom prst="roundRect">
            <a:avLst>
              <a:gd name="adj" fmla="val 18000"/>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591052" y="3246120"/>
            <a:ext cx="128016" cy="384048"/>
          </a:xfrm>
          <a:prstGeom prst="roundRect">
            <a:avLst>
              <a:gd name="adj" fmla="val 18000"/>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748328" y="3246120"/>
            <a:ext cx="128016" cy="384048"/>
          </a:xfrm>
          <a:prstGeom prst="roundRect">
            <a:avLst>
              <a:gd name="adj" fmla="val 18000"/>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905604" y="3246120"/>
            <a:ext cx="128016" cy="384048"/>
          </a:xfrm>
          <a:prstGeom prst="roundRect">
            <a:avLst>
              <a:gd name="adj" fmla="val 18000"/>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2062880" y="3246120"/>
            <a:ext cx="128016" cy="384048"/>
          </a:xfrm>
          <a:prstGeom prst="roundRect">
            <a:avLst>
              <a:gd name="adj" fmla="val 18000"/>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2220156" y="3246120"/>
            <a:ext cx="128016" cy="384048"/>
          </a:xfrm>
          <a:prstGeom prst="roundRect">
            <a:avLst>
              <a:gd name="adj" fmla="val 18000"/>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377432" y="3246120"/>
            <a:ext cx="128016" cy="384048"/>
          </a:xfrm>
          <a:prstGeom prst="roundRect">
            <a:avLst>
              <a:gd name="adj" fmla="val 18000"/>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534708" y="3246120"/>
            <a:ext cx="128016" cy="384048"/>
          </a:xfrm>
          <a:prstGeom prst="roundRect">
            <a:avLst>
              <a:gd name="adj" fmla="val 18000"/>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2691984" y="3246120"/>
            <a:ext cx="128016" cy="384048"/>
          </a:xfrm>
          <a:prstGeom prst="roundRect">
            <a:avLst>
              <a:gd name="adj" fmla="val 18000"/>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849260" y="3246120"/>
            <a:ext cx="128016" cy="384048"/>
          </a:xfrm>
          <a:prstGeom prst="roundRect">
            <a:avLst>
              <a:gd name="adj" fmla="val 18000"/>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3006536" y="3246120"/>
            <a:ext cx="128016" cy="384048"/>
          </a:xfrm>
          <a:prstGeom prst="roundRect">
            <a:avLst>
              <a:gd name="adj" fmla="val 18000"/>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3163812" y="3246120"/>
            <a:ext cx="128016" cy="384048"/>
          </a:xfrm>
          <a:prstGeom prst="roundRect">
            <a:avLst>
              <a:gd name="adj" fmla="val 18000"/>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3321088" y="3246120"/>
            <a:ext cx="128016" cy="384048"/>
          </a:xfrm>
          <a:prstGeom prst="roundRect">
            <a:avLst>
              <a:gd name="adj" fmla="val 18000"/>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3478364" y="3246120"/>
            <a:ext cx="128016" cy="384048"/>
          </a:xfrm>
          <a:prstGeom prst="roundRect">
            <a:avLst>
              <a:gd name="adj" fmla="val 18000"/>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3635640" y="3246120"/>
            <a:ext cx="128016" cy="384048"/>
          </a:xfrm>
          <a:prstGeom prst="roundRect">
            <a:avLst>
              <a:gd name="adj" fmla="val 18000"/>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3792916" y="3246120"/>
            <a:ext cx="128016" cy="384048"/>
          </a:xfrm>
          <a:prstGeom prst="roundRect">
            <a:avLst>
              <a:gd name="adj" fmla="val 18000"/>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3950192" y="3246120"/>
            <a:ext cx="128016" cy="384048"/>
          </a:xfrm>
          <a:prstGeom prst="roundRect">
            <a:avLst>
              <a:gd name="adj" fmla="val 18000"/>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4107468" y="3246120"/>
            <a:ext cx="128016" cy="384048"/>
          </a:xfrm>
          <a:prstGeom prst="roundRect">
            <a:avLst>
              <a:gd name="adj" fmla="val 18000"/>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4264744" y="3246120"/>
            <a:ext cx="128016" cy="384048"/>
          </a:xfrm>
          <a:prstGeom prst="roundRect">
            <a:avLst>
              <a:gd name="adj" fmla="val 18000"/>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04672" y="3813048"/>
            <a:ext cx="3657600" cy="457200"/>
          </a:xfrm>
          <a:prstGeom prst="rect">
            <a:avLst/>
          </a:prstGeom>
          <a:noFill/>
        </p:spPr>
        <p:txBody>
          <a:bodyPr wrap="square" anchor="t" lIns="0" rIns="0" tIns="0" bIns="0">
            <a:spAutoFit/>
          </a:bodyPr>
          <a:lstStyle/>
          <a:p>
            <a:pPr algn="l">
              <a:lnSpc>
                <a:spcPct val="130000"/>
              </a:lnSpc>
              <a:spcAft>
                <a:spcPts val="600"/>
              </a:spcAft>
            </a:pPr>
            <a:r>
              <a:rPr sz="1200" b="0">
                <a:solidFill>
                  <a:srgbClr val="71766C"/>
                </a:solidFill>
                <a:latin typeface="Segoe UI"/>
              </a:rPr>
              <a:t>Plans the split · serves one endpoint · reads the model file once</a:t>
            </a:r>
          </a:p>
        </p:txBody>
      </p:sp>
      <p:sp>
        <p:nvSpPr>
          <p:cNvPr id="35" name="Rounded Rectangle 34"/>
          <p:cNvSpPr/>
          <p:nvPr/>
        </p:nvSpPr>
        <p:spPr>
          <a:xfrm>
            <a:off x="5093208" y="1892808"/>
            <a:ext cx="1737360" cy="265176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276088" y="2084832"/>
            <a:ext cx="1371600" cy="274320"/>
          </a:xfrm>
          <a:prstGeom prst="rect">
            <a:avLst/>
          </a:prstGeom>
          <a:noFill/>
        </p:spPr>
        <p:txBody>
          <a:bodyPr wrap="square" anchor="t" lIns="0" rIns="0" tIns="0" bIns="0">
            <a:spAutoFit/>
          </a:bodyPr>
          <a:lstStyle/>
          <a:p>
            <a:pPr algn="l">
              <a:spcAft>
                <a:spcPts val="600"/>
              </a:spcAft>
            </a:pPr>
            <a:r>
              <a:rPr sz="1100" b="0">
                <a:solidFill>
                  <a:srgbClr val="A78BFA"/>
                </a:solidFill>
                <a:latin typeface="Consolas"/>
              </a:rPr>
              <a:t>A PHONE</a:t>
            </a:r>
          </a:p>
        </p:txBody>
      </p:sp>
      <p:sp>
        <p:nvSpPr>
          <p:cNvPr id="37" name="TextBox 36"/>
          <p:cNvSpPr txBox="1"/>
          <p:nvPr/>
        </p:nvSpPr>
        <p:spPr>
          <a:xfrm>
            <a:off x="5276088" y="2414016"/>
            <a:ext cx="1371600" cy="274320"/>
          </a:xfrm>
          <a:prstGeom prst="rect">
            <a:avLst/>
          </a:prstGeom>
          <a:noFill/>
        </p:spPr>
        <p:txBody>
          <a:bodyPr wrap="square" anchor="t" lIns="0" rIns="0" tIns="0" bIns="0">
            <a:spAutoFit/>
          </a:bodyPr>
          <a:lstStyle/>
          <a:p>
            <a:pPr algn="l">
              <a:spcAft>
                <a:spcPts val="600"/>
              </a:spcAft>
            </a:pPr>
            <a:r>
              <a:rPr sz="1200" b="0">
                <a:solidFill>
                  <a:srgbClr val="A8ACA1"/>
                </a:solidFill>
                <a:latin typeface="Segoe UI"/>
              </a:rPr>
              <a:t>Layers 23–42</a:t>
            </a:r>
          </a:p>
        </p:txBody>
      </p:sp>
      <p:sp>
        <p:nvSpPr>
          <p:cNvPr id="38" name="TextBox 37"/>
          <p:cNvSpPr txBox="1"/>
          <p:nvPr/>
        </p:nvSpPr>
        <p:spPr>
          <a:xfrm>
            <a:off x="5276088" y="2651760"/>
            <a:ext cx="1371600" cy="274320"/>
          </a:xfrm>
          <a:prstGeom prst="rect">
            <a:avLst/>
          </a:prstGeom>
          <a:noFill/>
        </p:spPr>
        <p:txBody>
          <a:bodyPr wrap="square" anchor="t" lIns="0" rIns="0" tIns="0" bIns="0">
            <a:spAutoFit/>
          </a:bodyPr>
          <a:lstStyle/>
          <a:p>
            <a:pPr algn="l">
              <a:spcAft>
                <a:spcPts val="600"/>
              </a:spcAft>
            </a:pPr>
            <a:r>
              <a:rPr sz="1200" b="0">
                <a:solidFill>
                  <a:srgbClr val="71766C"/>
                </a:solidFill>
                <a:latin typeface="Consolas"/>
              </a:rPr>
              <a:t>7.53 GB</a:t>
            </a:r>
          </a:p>
        </p:txBody>
      </p:sp>
      <p:sp>
        <p:nvSpPr>
          <p:cNvPr id="39" name="Rounded Rectangle 38"/>
          <p:cNvSpPr/>
          <p:nvPr/>
        </p:nvSpPr>
        <p:spPr>
          <a:xfrm>
            <a:off x="5276088" y="2944368"/>
            <a:ext cx="1371600" cy="53035"/>
          </a:xfrm>
          <a:prstGeom prst="roundRect">
            <a:avLst>
              <a:gd name="adj" fmla="val 18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5276088" y="3015691"/>
            <a:ext cx="1371600" cy="53035"/>
          </a:xfrm>
          <a:prstGeom prst="roundRect">
            <a:avLst>
              <a:gd name="adj" fmla="val 18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5276088" y="3087014"/>
            <a:ext cx="1371600" cy="53035"/>
          </a:xfrm>
          <a:prstGeom prst="roundRect">
            <a:avLst>
              <a:gd name="adj" fmla="val 18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5276088" y="3158337"/>
            <a:ext cx="1371600" cy="53035"/>
          </a:xfrm>
          <a:prstGeom prst="roundRect">
            <a:avLst>
              <a:gd name="adj" fmla="val 18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5276088" y="3229660"/>
            <a:ext cx="1371600" cy="53035"/>
          </a:xfrm>
          <a:prstGeom prst="roundRect">
            <a:avLst>
              <a:gd name="adj" fmla="val 18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276088" y="3300983"/>
            <a:ext cx="1371600" cy="53035"/>
          </a:xfrm>
          <a:prstGeom prst="roundRect">
            <a:avLst>
              <a:gd name="adj" fmla="val 18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5276088" y="3372306"/>
            <a:ext cx="1371600" cy="53035"/>
          </a:xfrm>
          <a:prstGeom prst="roundRect">
            <a:avLst>
              <a:gd name="adj" fmla="val 18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5276088" y="3443629"/>
            <a:ext cx="1371600" cy="53035"/>
          </a:xfrm>
          <a:prstGeom prst="roundRect">
            <a:avLst>
              <a:gd name="adj" fmla="val 18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5276088" y="3514952"/>
            <a:ext cx="1371600" cy="53035"/>
          </a:xfrm>
          <a:prstGeom prst="roundRect">
            <a:avLst>
              <a:gd name="adj" fmla="val 18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5276088" y="3586275"/>
            <a:ext cx="1371600" cy="53035"/>
          </a:xfrm>
          <a:prstGeom prst="roundRect">
            <a:avLst>
              <a:gd name="adj" fmla="val 18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5276088" y="3657598"/>
            <a:ext cx="1371600" cy="53035"/>
          </a:xfrm>
          <a:prstGeom prst="roundRect">
            <a:avLst>
              <a:gd name="adj" fmla="val 18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5276088" y="3728921"/>
            <a:ext cx="1371600" cy="53035"/>
          </a:xfrm>
          <a:prstGeom prst="roundRect">
            <a:avLst>
              <a:gd name="adj" fmla="val 18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5276088" y="3800244"/>
            <a:ext cx="1371600" cy="53035"/>
          </a:xfrm>
          <a:prstGeom prst="roundRect">
            <a:avLst>
              <a:gd name="adj" fmla="val 18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5276088" y="3871567"/>
            <a:ext cx="1371600" cy="53035"/>
          </a:xfrm>
          <a:prstGeom prst="roundRect">
            <a:avLst>
              <a:gd name="adj" fmla="val 18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5276088" y="3942890"/>
            <a:ext cx="1371600" cy="53035"/>
          </a:xfrm>
          <a:prstGeom prst="roundRect">
            <a:avLst>
              <a:gd name="adj" fmla="val 18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5276088" y="4014213"/>
            <a:ext cx="1371600" cy="53035"/>
          </a:xfrm>
          <a:prstGeom prst="roundRect">
            <a:avLst>
              <a:gd name="adj" fmla="val 18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5276088" y="4085536"/>
            <a:ext cx="1371600" cy="53035"/>
          </a:xfrm>
          <a:prstGeom prst="roundRect">
            <a:avLst>
              <a:gd name="adj" fmla="val 18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5276088" y="4156859"/>
            <a:ext cx="1371600" cy="53035"/>
          </a:xfrm>
          <a:prstGeom prst="roundRect">
            <a:avLst>
              <a:gd name="adj" fmla="val 18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5276088" y="4228182"/>
            <a:ext cx="1371600" cy="53035"/>
          </a:xfrm>
          <a:prstGeom prst="roundRect">
            <a:avLst>
              <a:gd name="adj" fmla="val 18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5276088" y="4299505"/>
            <a:ext cx="1371600" cy="53035"/>
          </a:xfrm>
          <a:prstGeom prst="roundRect">
            <a:avLst>
              <a:gd name="adj" fmla="val 18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276088" y="4151376"/>
            <a:ext cx="1371600" cy="274320"/>
          </a:xfrm>
          <a:prstGeom prst="rect">
            <a:avLst/>
          </a:prstGeom>
          <a:noFill/>
        </p:spPr>
        <p:txBody>
          <a:bodyPr wrap="square" anchor="t" lIns="0" rIns="0" tIns="0" bIns="0">
            <a:spAutoFit/>
          </a:bodyPr>
          <a:lstStyle/>
          <a:p>
            <a:pPr algn="l">
              <a:spcAft>
                <a:spcPts val="600"/>
              </a:spcAft>
            </a:pPr>
            <a:r>
              <a:rPr sz="1100" b="0">
                <a:solidFill>
                  <a:srgbClr val="71766C"/>
                </a:solidFill>
                <a:latin typeface="Segoe UI"/>
              </a:rPr>
              <a:t>keeps its layers</a:t>
            </a:r>
          </a:p>
        </p:txBody>
      </p:sp>
      <p:sp>
        <p:nvSpPr>
          <p:cNvPr id="60" name="Rounded Rectangle 59"/>
          <p:cNvSpPr/>
          <p:nvPr/>
        </p:nvSpPr>
        <p:spPr>
          <a:xfrm>
            <a:off x="7196328" y="1892808"/>
            <a:ext cx="1737360" cy="265176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379208" y="2084832"/>
            <a:ext cx="1371600" cy="274320"/>
          </a:xfrm>
          <a:prstGeom prst="rect">
            <a:avLst/>
          </a:prstGeom>
          <a:noFill/>
        </p:spPr>
        <p:txBody>
          <a:bodyPr wrap="square" anchor="t" lIns="0" rIns="0" tIns="0" bIns="0">
            <a:spAutoFit/>
          </a:bodyPr>
          <a:lstStyle/>
          <a:p>
            <a:pPr algn="l">
              <a:spcAft>
                <a:spcPts val="600"/>
              </a:spcAft>
            </a:pPr>
            <a:r>
              <a:rPr sz="1100" b="0">
                <a:solidFill>
                  <a:srgbClr val="A78BFA"/>
                </a:solidFill>
                <a:latin typeface="Consolas"/>
              </a:rPr>
              <a:t>A PHONE</a:t>
            </a:r>
          </a:p>
        </p:txBody>
      </p:sp>
      <p:sp>
        <p:nvSpPr>
          <p:cNvPr id="62" name="TextBox 61"/>
          <p:cNvSpPr txBox="1"/>
          <p:nvPr/>
        </p:nvSpPr>
        <p:spPr>
          <a:xfrm>
            <a:off x="7379208" y="2414016"/>
            <a:ext cx="1371600" cy="274320"/>
          </a:xfrm>
          <a:prstGeom prst="rect">
            <a:avLst/>
          </a:prstGeom>
          <a:noFill/>
        </p:spPr>
        <p:txBody>
          <a:bodyPr wrap="square" anchor="t" lIns="0" rIns="0" tIns="0" bIns="0">
            <a:spAutoFit/>
          </a:bodyPr>
          <a:lstStyle/>
          <a:p>
            <a:pPr algn="l">
              <a:spcAft>
                <a:spcPts val="600"/>
              </a:spcAft>
            </a:pPr>
            <a:r>
              <a:rPr sz="1200" b="0">
                <a:solidFill>
                  <a:srgbClr val="A8ACA1"/>
                </a:solidFill>
                <a:latin typeface="Segoe UI"/>
              </a:rPr>
              <a:t>Layers 43–47</a:t>
            </a:r>
          </a:p>
        </p:txBody>
      </p:sp>
      <p:sp>
        <p:nvSpPr>
          <p:cNvPr id="63" name="TextBox 62"/>
          <p:cNvSpPr txBox="1"/>
          <p:nvPr/>
        </p:nvSpPr>
        <p:spPr>
          <a:xfrm>
            <a:off x="7379208" y="2651760"/>
            <a:ext cx="1371600" cy="274320"/>
          </a:xfrm>
          <a:prstGeom prst="rect">
            <a:avLst/>
          </a:prstGeom>
          <a:noFill/>
        </p:spPr>
        <p:txBody>
          <a:bodyPr wrap="square" anchor="t" lIns="0" rIns="0" tIns="0" bIns="0">
            <a:spAutoFit/>
          </a:bodyPr>
          <a:lstStyle/>
          <a:p>
            <a:pPr algn="l">
              <a:spcAft>
                <a:spcPts val="600"/>
              </a:spcAft>
            </a:pPr>
            <a:r>
              <a:rPr sz="1200" b="0">
                <a:solidFill>
                  <a:srgbClr val="71766C"/>
                </a:solidFill>
                <a:latin typeface="Consolas"/>
              </a:rPr>
              <a:t>2.04 GB</a:t>
            </a:r>
          </a:p>
        </p:txBody>
      </p:sp>
      <p:sp>
        <p:nvSpPr>
          <p:cNvPr id="64" name="Rounded Rectangle 63"/>
          <p:cNvSpPr/>
          <p:nvPr/>
        </p:nvSpPr>
        <p:spPr>
          <a:xfrm>
            <a:off x="7379208" y="2944368"/>
            <a:ext cx="1371600" cy="53035"/>
          </a:xfrm>
          <a:prstGeom prst="roundRect">
            <a:avLst>
              <a:gd name="adj" fmla="val 18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7379208" y="3015691"/>
            <a:ext cx="1371600" cy="53035"/>
          </a:xfrm>
          <a:prstGeom prst="roundRect">
            <a:avLst>
              <a:gd name="adj" fmla="val 18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ounded Rectangle 65"/>
          <p:cNvSpPr/>
          <p:nvPr/>
        </p:nvSpPr>
        <p:spPr>
          <a:xfrm>
            <a:off x="7379208" y="3087014"/>
            <a:ext cx="1371600" cy="53035"/>
          </a:xfrm>
          <a:prstGeom prst="roundRect">
            <a:avLst>
              <a:gd name="adj" fmla="val 18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ounded Rectangle 66"/>
          <p:cNvSpPr/>
          <p:nvPr/>
        </p:nvSpPr>
        <p:spPr>
          <a:xfrm>
            <a:off x="7379208" y="3158337"/>
            <a:ext cx="1371600" cy="53035"/>
          </a:xfrm>
          <a:prstGeom prst="roundRect">
            <a:avLst>
              <a:gd name="adj" fmla="val 18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ounded Rectangle 67"/>
          <p:cNvSpPr/>
          <p:nvPr/>
        </p:nvSpPr>
        <p:spPr>
          <a:xfrm>
            <a:off x="7379208" y="3229660"/>
            <a:ext cx="1371600" cy="53035"/>
          </a:xfrm>
          <a:prstGeom prst="roundRect">
            <a:avLst>
              <a:gd name="adj" fmla="val 18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379208" y="4151376"/>
            <a:ext cx="1371600" cy="274320"/>
          </a:xfrm>
          <a:prstGeom prst="rect">
            <a:avLst/>
          </a:prstGeom>
          <a:noFill/>
        </p:spPr>
        <p:txBody>
          <a:bodyPr wrap="square" anchor="t" lIns="0" rIns="0" tIns="0" bIns="0">
            <a:spAutoFit/>
          </a:bodyPr>
          <a:lstStyle/>
          <a:p>
            <a:pPr algn="l">
              <a:spcAft>
                <a:spcPts val="600"/>
              </a:spcAft>
            </a:pPr>
            <a:r>
              <a:rPr sz="1100" b="0">
                <a:solidFill>
                  <a:srgbClr val="71766C"/>
                </a:solidFill>
                <a:latin typeface="Segoe UI"/>
              </a:rPr>
              <a:t>ready in 70 s</a:t>
            </a:r>
          </a:p>
        </p:txBody>
      </p:sp>
      <p:sp>
        <p:nvSpPr>
          <p:cNvPr id="70" name="Rounded Rectangle 69"/>
          <p:cNvSpPr/>
          <p:nvPr/>
        </p:nvSpPr>
        <p:spPr>
          <a:xfrm>
            <a:off x="9253728" y="1892808"/>
            <a:ext cx="2371039" cy="265176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9509760" y="2121408"/>
            <a:ext cx="2377440" cy="274320"/>
          </a:xfrm>
          <a:prstGeom prst="rect">
            <a:avLst/>
          </a:prstGeom>
          <a:noFill/>
        </p:spPr>
        <p:txBody>
          <a:bodyPr wrap="square" anchor="t" lIns="0" rIns="0" tIns="0" bIns="0">
            <a:spAutoFit/>
          </a:bodyPr>
          <a:lstStyle/>
          <a:p>
            <a:pPr algn="l">
              <a:spcAft>
                <a:spcPts val="600"/>
              </a:spcAft>
            </a:pPr>
            <a:r>
              <a:rPr sz="1900" b="1">
                <a:solidFill>
                  <a:srgbClr val="F0EFE9"/>
                </a:solidFill>
                <a:latin typeface="Consolas"/>
              </a:rPr>
              <a:t>48 layers</a:t>
            </a:r>
          </a:p>
        </p:txBody>
      </p:sp>
      <p:sp>
        <p:nvSpPr>
          <p:cNvPr id="72" name="TextBox 71"/>
          <p:cNvSpPr txBox="1"/>
          <p:nvPr/>
        </p:nvSpPr>
        <p:spPr>
          <a:xfrm>
            <a:off x="9509760" y="2395728"/>
            <a:ext cx="2377440" cy="274320"/>
          </a:xfrm>
          <a:prstGeom prst="rect">
            <a:avLst/>
          </a:prstGeom>
          <a:noFill/>
        </p:spPr>
        <p:txBody>
          <a:bodyPr wrap="square" anchor="t" lIns="0" rIns="0" tIns="0" bIns="0">
            <a:spAutoFit/>
          </a:bodyPr>
          <a:lstStyle/>
          <a:p>
            <a:pPr algn="l">
              <a:spcAft>
                <a:spcPts val="600"/>
              </a:spcAft>
            </a:pPr>
            <a:r>
              <a:rPr sz="1100" b="0">
                <a:solidFill>
                  <a:srgbClr val="71766C"/>
                </a:solidFill>
                <a:latin typeface="Segoe UI"/>
              </a:rPr>
              <a:t>one pass, in order</a:t>
            </a:r>
          </a:p>
        </p:txBody>
      </p:sp>
      <p:sp>
        <p:nvSpPr>
          <p:cNvPr id="73" name="TextBox 72"/>
          <p:cNvSpPr txBox="1"/>
          <p:nvPr/>
        </p:nvSpPr>
        <p:spPr>
          <a:xfrm>
            <a:off x="9509760" y="2697480"/>
            <a:ext cx="2377440" cy="274320"/>
          </a:xfrm>
          <a:prstGeom prst="rect">
            <a:avLst/>
          </a:prstGeom>
          <a:noFill/>
        </p:spPr>
        <p:txBody>
          <a:bodyPr wrap="square" anchor="t" lIns="0" rIns="0" tIns="0" bIns="0">
            <a:spAutoFit/>
          </a:bodyPr>
          <a:lstStyle/>
          <a:p>
            <a:pPr algn="l">
              <a:spcAft>
                <a:spcPts val="600"/>
              </a:spcAft>
            </a:pPr>
            <a:r>
              <a:rPr sz="1900" b="1">
                <a:solidFill>
                  <a:srgbClr val="5FD68A"/>
                </a:solidFill>
                <a:latin typeface="Consolas"/>
              </a:rPr>
              <a:t>4 KB</a:t>
            </a:r>
          </a:p>
        </p:txBody>
      </p:sp>
      <p:sp>
        <p:nvSpPr>
          <p:cNvPr id="74" name="TextBox 73"/>
          <p:cNvSpPr txBox="1"/>
          <p:nvPr/>
        </p:nvSpPr>
        <p:spPr>
          <a:xfrm>
            <a:off x="9509760" y="2971800"/>
            <a:ext cx="2377440" cy="274320"/>
          </a:xfrm>
          <a:prstGeom prst="rect">
            <a:avLst/>
          </a:prstGeom>
          <a:noFill/>
        </p:spPr>
        <p:txBody>
          <a:bodyPr wrap="square" anchor="t" lIns="0" rIns="0" tIns="0" bIns="0">
            <a:spAutoFit/>
          </a:bodyPr>
          <a:lstStyle/>
          <a:p>
            <a:pPr algn="l">
              <a:spcAft>
                <a:spcPts val="600"/>
              </a:spcAft>
            </a:pPr>
            <a:r>
              <a:rPr sz="1100" b="0">
                <a:solidFill>
                  <a:srgbClr val="71766C"/>
                </a:solidFill>
                <a:latin typeface="Segoe UI"/>
              </a:rPr>
              <a:t>crosses each cable, per word</a:t>
            </a:r>
          </a:p>
        </p:txBody>
      </p:sp>
      <p:sp>
        <p:nvSpPr>
          <p:cNvPr id="75" name="TextBox 74"/>
          <p:cNvSpPr txBox="1"/>
          <p:nvPr/>
        </p:nvSpPr>
        <p:spPr>
          <a:xfrm>
            <a:off x="9509760" y="3273552"/>
            <a:ext cx="2377440" cy="274320"/>
          </a:xfrm>
          <a:prstGeom prst="rect">
            <a:avLst/>
          </a:prstGeom>
          <a:noFill/>
        </p:spPr>
        <p:txBody>
          <a:bodyPr wrap="square" anchor="t" lIns="0" rIns="0" tIns="0" bIns="0">
            <a:spAutoFit/>
          </a:bodyPr>
          <a:lstStyle/>
          <a:p>
            <a:pPr algn="l">
              <a:spcAft>
                <a:spcPts val="600"/>
              </a:spcAft>
            </a:pPr>
            <a:r>
              <a:rPr sz="1900" b="1">
                <a:solidFill>
                  <a:srgbClr val="F0EFE9"/>
                </a:solidFill>
                <a:latin typeface="Consolas"/>
              </a:rPr>
              <a:t>18.6 GB</a:t>
            </a:r>
          </a:p>
        </p:txBody>
      </p:sp>
      <p:sp>
        <p:nvSpPr>
          <p:cNvPr id="76" name="TextBox 75"/>
          <p:cNvSpPr txBox="1"/>
          <p:nvPr/>
        </p:nvSpPr>
        <p:spPr>
          <a:xfrm>
            <a:off x="9509760" y="3547872"/>
            <a:ext cx="2377440" cy="274320"/>
          </a:xfrm>
          <a:prstGeom prst="rect">
            <a:avLst/>
          </a:prstGeom>
          <a:noFill/>
        </p:spPr>
        <p:txBody>
          <a:bodyPr wrap="square" anchor="t" lIns="0" rIns="0" tIns="0" bIns="0">
            <a:spAutoFit/>
          </a:bodyPr>
          <a:lstStyle/>
          <a:p>
            <a:pPr algn="l">
              <a:spcAft>
                <a:spcPts val="600"/>
              </a:spcAft>
            </a:pPr>
            <a:r>
              <a:rPr sz="1100" b="0">
                <a:solidFill>
                  <a:srgbClr val="71766C"/>
                </a:solidFill>
                <a:latin typeface="Segoe UI"/>
              </a:rPr>
              <a:t>of weights never move</a:t>
            </a:r>
          </a:p>
        </p:txBody>
      </p:sp>
      <p:sp>
        <p:nvSpPr>
          <p:cNvPr id="77" name="TextBox 76"/>
          <p:cNvSpPr txBox="1"/>
          <p:nvPr/>
        </p:nvSpPr>
        <p:spPr>
          <a:xfrm>
            <a:off x="9509760" y="3849624"/>
            <a:ext cx="2377440" cy="274320"/>
          </a:xfrm>
          <a:prstGeom prst="rect">
            <a:avLst/>
          </a:prstGeom>
          <a:noFill/>
        </p:spPr>
        <p:txBody>
          <a:bodyPr wrap="square" anchor="t" lIns="0" rIns="0" tIns="0" bIns="0">
            <a:spAutoFit/>
          </a:bodyPr>
          <a:lstStyle/>
          <a:p>
            <a:pPr algn="l">
              <a:spcAft>
                <a:spcPts val="600"/>
              </a:spcAft>
            </a:pPr>
            <a:r>
              <a:rPr sz="1900" b="1">
                <a:solidFill>
                  <a:srgbClr val="F0EFE9"/>
                </a:solidFill>
                <a:latin typeface="Consolas"/>
              </a:rPr>
              <a:t>2–3 ms</a:t>
            </a:r>
          </a:p>
        </p:txBody>
      </p:sp>
      <p:sp>
        <p:nvSpPr>
          <p:cNvPr id="78" name="TextBox 77"/>
          <p:cNvSpPr txBox="1"/>
          <p:nvPr/>
        </p:nvSpPr>
        <p:spPr>
          <a:xfrm>
            <a:off x="9509760" y="4123944"/>
            <a:ext cx="2377440" cy="274320"/>
          </a:xfrm>
          <a:prstGeom prst="rect">
            <a:avLst/>
          </a:prstGeom>
          <a:noFill/>
        </p:spPr>
        <p:txBody>
          <a:bodyPr wrap="square" anchor="t" lIns="0" rIns="0" tIns="0" bIns="0">
            <a:spAutoFit/>
          </a:bodyPr>
          <a:lstStyle/>
          <a:p>
            <a:pPr algn="l">
              <a:spcAft>
                <a:spcPts val="600"/>
              </a:spcAft>
            </a:pPr>
            <a:r>
              <a:rPr sz="1100" b="0">
                <a:solidFill>
                  <a:srgbClr val="71766C"/>
                </a:solidFill>
                <a:latin typeface="Segoe UI"/>
              </a:rPr>
              <a:t>over the USB cable</a:t>
            </a:r>
          </a:p>
        </p:txBody>
      </p:sp>
      <p:sp>
        <p:nvSpPr>
          <p:cNvPr id="79" name="Rounded Rectangle 78"/>
          <p:cNvSpPr/>
          <p:nvPr/>
        </p:nvSpPr>
        <p:spPr>
          <a:xfrm>
            <a:off x="566928" y="4727448"/>
            <a:ext cx="3503066" cy="86868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786384" y="4892040"/>
            <a:ext cx="3064154" cy="274320"/>
          </a:xfrm>
          <a:prstGeom prst="rect">
            <a:avLst/>
          </a:prstGeom>
          <a:noFill/>
        </p:spPr>
        <p:txBody>
          <a:bodyPr wrap="square" anchor="t" lIns="0" rIns="0" tIns="0" bIns="0">
            <a:spAutoFit/>
          </a:bodyPr>
          <a:lstStyle/>
          <a:p>
            <a:pPr algn="l">
              <a:spcAft>
                <a:spcPts val="600"/>
              </a:spcAft>
            </a:pPr>
            <a:r>
              <a:rPr sz="1400" b="1">
                <a:solidFill>
                  <a:srgbClr val="F0EFE9"/>
                </a:solidFill>
                <a:latin typeface="Segoe UI"/>
              </a:rPr>
              <a:t>The host decides</a:t>
            </a:r>
          </a:p>
        </p:txBody>
      </p:sp>
      <p:sp>
        <p:nvSpPr>
          <p:cNvPr id="81" name="TextBox 80"/>
          <p:cNvSpPr txBox="1"/>
          <p:nvPr/>
        </p:nvSpPr>
        <p:spPr>
          <a:xfrm>
            <a:off x="786384" y="5184648"/>
            <a:ext cx="3064154" cy="365760"/>
          </a:xfrm>
          <a:prstGeom prst="rect">
            <a:avLst/>
          </a:prstGeom>
          <a:noFill/>
        </p:spPr>
        <p:txBody>
          <a:bodyPr wrap="square" anchor="t" lIns="0" rIns="0" tIns="0" bIns="0">
            <a:spAutoFit/>
          </a:bodyPr>
          <a:lstStyle/>
          <a:p>
            <a:pPr algn="l">
              <a:lnSpc>
                <a:spcPct val="125000"/>
              </a:lnSpc>
              <a:spcAft>
                <a:spcPts val="600"/>
              </a:spcAft>
            </a:pPr>
            <a:r>
              <a:rPr sz="1200" b="0">
                <a:solidFill>
                  <a:srgbClr val="71766C"/>
                </a:solidFill>
                <a:latin typeface="Segoe UI"/>
              </a:rPr>
              <a:t>from live memory, heat, battery and link speed</a:t>
            </a:r>
          </a:p>
        </p:txBody>
      </p:sp>
      <p:sp>
        <p:nvSpPr>
          <p:cNvPr id="82" name="Rounded Rectangle 81"/>
          <p:cNvSpPr/>
          <p:nvPr/>
        </p:nvSpPr>
        <p:spPr>
          <a:xfrm>
            <a:off x="4344314" y="4727448"/>
            <a:ext cx="3503066" cy="86868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4563770" y="4892040"/>
            <a:ext cx="3064154" cy="274320"/>
          </a:xfrm>
          <a:prstGeom prst="rect">
            <a:avLst/>
          </a:prstGeom>
          <a:noFill/>
        </p:spPr>
        <p:txBody>
          <a:bodyPr wrap="square" anchor="t" lIns="0" rIns="0" tIns="0" bIns="0">
            <a:spAutoFit/>
          </a:bodyPr>
          <a:lstStyle/>
          <a:p>
            <a:pPr algn="l">
              <a:spcAft>
                <a:spcPts val="600"/>
              </a:spcAft>
            </a:pPr>
            <a:r>
              <a:rPr sz="1400" b="1">
                <a:solidFill>
                  <a:srgbClr val="F0EFE9"/>
                </a:solidFill>
                <a:latin typeface="Segoe UI"/>
              </a:rPr>
              <a:t>The phone never sees your prompt</a:t>
            </a:r>
          </a:p>
        </p:txBody>
      </p:sp>
      <p:sp>
        <p:nvSpPr>
          <p:cNvPr id="84" name="TextBox 83"/>
          <p:cNvSpPr txBox="1"/>
          <p:nvPr/>
        </p:nvSpPr>
        <p:spPr>
          <a:xfrm>
            <a:off x="4563770" y="5184648"/>
            <a:ext cx="3064154" cy="365760"/>
          </a:xfrm>
          <a:prstGeom prst="rect">
            <a:avLst/>
          </a:prstGeom>
          <a:noFill/>
        </p:spPr>
        <p:txBody>
          <a:bodyPr wrap="square" anchor="t" lIns="0" rIns="0" tIns="0" bIns="0">
            <a:spAutoFit/>
          </a:bodyPr>
          <a:lstStyle/>
          <a:p>
            <a:pPr algn="l">
              <a:lnSpc>
                <a:spcPct val="125000"/>
              </a:lnSpc>
              <a:spcAft>
                <a:spcPts val="600"/>
              </a:spcAft>
            </a:pPr>
            <a:r>
              <a:rPr sz="1200" b="0">
                <a:solidFill>
                  <a:srgbClr val="71766C"/>
                </a:solidFill>
                <a:latin typeface="Segoe UI"/>
              </a:rPr>
              <a:t>it gets numbers, computes, sends numbers back</a:t>
            </a:r>
          </a:p>
        </p:txBody>
      </p:sp>
      <p:sp>
        <p:nvSpPr>
          <p:cNvPr id="85" name="Rounded Rectangle 84"/>
          <p:cNvSpPr/>
          <p:nvPr/>
        </p:nvSpPr>
        <p:spPr>
          <a:xfrm>
            <a:off x="8121700" y="4727448"/>
            <a:ext cx="3503066" cy="86868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8341156" y="4892040"/>
            <a:ext cx="3064154" cy="274320"/>
          </a:xfrm>
          <a:prstGeom prst="rect">
            <a:avLst/>
          </a:prstGeom>
          <a:noFill/>
        </p:spPr>
        <p:txBody>
          <a:bodyPr wrap="square" anchor="t" lIns="0" rIns="0" tIns="0" bIns="0">
            <a:spAutoFit/>
          </a:bodyPr>
          <a:lstStyle/>
          <a:p>
            <a:pPr algn="l">
              <a:spcAft>
                <a:spcPts val="600"/>
              </a:spcAft>
            </a:pPr>
            <a:r>
              <a:rPr sz="1400" b="1">
                <a:solidFill>
                  <a:srgbClr val="F0EFE9"/>
                </a:solidFill>
                <a:latin typeface="Segoe UI"/>
              </a:rPr>
              <a:t>The head stays home</a:t>
            </a:r>
          </a:p>
        </p:txBody>
      </p:sp>
      <p:sp>
        <p:nvSpPr>
          <p:cNvPr id="87" name="TextBox 86"/>
          <p:cNvSpPr txBox="1"/>
          <p:nvPr/>
        </p:nvSpPr>
        <p:spPr>
          <a:xfrm>
            <a:off x="8341156" y="5184648"/>
            <a:ext cx="3064154" cy="365760"/>
          </a:xfrm>
          <a:prstGeom prst="rect">
            <a:avLst/>
          </a:prstGeom>
          <a:noFill/>
        </p:spPr>
        <p:txBody>
          <a:bodyPr wrap="square" anchor="t" lIns="0" rIns="0" tIns="0" bIns="0">
            <a:spAutoFit/>
          </a:bodyPr>
          <a:lstStyle/>
          <a:p>
            <a:pPr algn="l">
              <a:lnSpc>
                <a:spcPct val="125000"/>
              </a:lnSpc>
              <a:spcAft>
                <a:spcPts val="600"/>
              </a:spcAft>
            </a:pPr>
            <a:r>
              <a:rPr sz="1200" b="0">
                <a:solidFill>
                  <a:srgbClr val="71766C"/>
                </a:solidFill>
                <a:latin typeface="Segoe UI"/>
              </a:rPr>
              <a:t>which is why only kilobytes cross</a:t>
            </a:r>
          </a:p>
        </p:txBody>
      </p:sp>
      <p:sp>
        <p:nvSpPr>
          <p:cNvPr id="88" name="TextBox 87"/>
          <p:cNvSpPr txBox="1"/>
          <p:nvPr/>
        </p:nvSpPr>
        <p:spPr>
          <a:xfrm>
            <a:off x="566928" y="6291072"/>
            <a:ext cx="6400800"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MeshAI</a:t>
            </a:r>
          </a:p>
        </p:txBody>
      </p:sp>
      <p:sp>
        <p:nvSpPr>
          <p:cNvPr id="89" name="TextBox 88"/>
          <p:cNvSpPr txBox="1"/>
          <p:nvPr/>
        </p:nvSpPr>
        <p:spPr>
          <a:xfrm>
            <a:off x="5223967" y="6291072"/>
            <a:ext cx="6400800" cy="274320"/>
          </a:xfrm>
          <a:prstGeom prst="rect">
            <a:avLst/>
          </a:prstGeom>
          <a:noFill/>
        </p:spPr>
        <p:txBody>
          <a:bodyPr wrap="square" anchor="t" lIns="0" rIns="0" tIns="0" bIns="0">
            <a:spAutoFit/>
          </a:bodyPr>
          <a:lstStyle/>
          <a:p>
            <a:pPr algn="r">
              <a:spcAft>
                <a:spcPts val="600"/>
              </a:spcAft>
            </a:pPr>
            <a:r>
              <a:rPr sz="1100" b="0">
                <a:solidFill>
                  <a:srgbClr val="71766C"/>
                </a:solidFill>
                <a:latin typeface="Consolas"/>
              </a:rPr>
              <a:t>the configuration we measured on 27 September</a:t>
            </a:r>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800">
        <p159:morph option="byObject"/>
      </p:transition>
    </mc:Choice>
    <mc:Fallback>
      <p:transition spd="slow">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C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20624"/>
            <a:ext cx="11057839" cy="274320"/>
          </a:xfrm>
          <a:prstGeom prst="rect">
            <a:avLst/>
          </a:prstGeom>
          <a:noFill/>
        </p:spPr>
        <p:txBody>
          <a:bodyPr wrap="square" anchor="t" lIns="0" rIns="0" tIns="0" bIns="0">
            <a:spAutoFit/>
          </a:bodyPr>
          <a:lstStyle/>
          <a:p>
            <a:pPr algn="l">
              <a:spcAft>
                <a:spcPts val="600"/>
              </a:spcAft>
            </a:pPr>
            <a:r>
              <a:rPr sz="1200" b="0">
                <a:solidFill>
                  <a:srgbClr val="71766C"/>
                </a:solidFill>
                <a:latin typeface="Consolas"/>
              </a:rPr>
              <a:t>04 · WHAT WE FIXED</a:t>
            </a:r>
          </a:p>
        </p:txBody>
      </p:sp>
      <p:sp>
        <p:nvSpPr>
          <p:cNvPr id="4" name="TextBox 3"/>
          <p:cNvSpPr txBox="1"/>
          <p:nvPr/>
        </p:nvSpPr>
        <p:spPr>
          <a:xfrm>
            <a:off x="566928" y="713232"/>
            <a:ext cx="11057839" cy="731520"/>
          </a:xfrm>
          <a:prstGeom prst="rect">
            <a:avLst/>
          </a:prstGeom>
          <a:noFill/>
        </p:spPr>
        <p:txBody>
          <a:bodyPr wrap="square" anchor="t" lIns="0" rIns="0" tIns="0" bIns="0">
            <a:spAutoFit/>
          </a:bodyPr>
          <a:lstStyle/>
          <a:p>
            <a:pPr algn="l">
              <a:spcAft>
                <a:spcPts val="600"/>
              </a:spcAft>
            </a:pPr>
            <a:r>
              <a:rPr sz="4000" b="1">
                <a:solidFill>
                  <a:srgbClr val="F0EFE9"/>
                </a:solidFill>
                <a:latin typeface="Segoe UI"/>
              </a:rPr>
              <a:t>Three things made it slow. We fixed all three.</a:t>
            </a:r>
          </a:p>
        </p:txBody>
      </p:sp>
      <p:sp>
        <p:nvSpPr>
          <p:cNvPr id="5" name="Rectangle 4"/>
          <p:cNvSpPr/>
          <p:nvPr/>
        </p:nvSpPr>
        <p:spPr>
          <a:xfrm>
            <a:off x="566928" y="1481328"/>
            <a:ext cx="11057839" cy="9525"/>
          </a:xfrm>
          <a:prstGeom prst="rect">
            <a:avLst/>
          </a:prstGeom>
          <a:solidFill>
            <a:srgbClr val="2A2F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66928" y="1847088"/>
            <a:ext cx="3503066" cy="228600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048256"/>
            <a:ext cx="2991002" cy="274320"/>
          </a:xfrm>
          <a:prstGeom prst="rect">
            <a:avLst/>
          </a:prstGeom>
          <a:noFill/>
        </p:spPr>
        <p:txBody>
          <a:bodyPr wrap="square" anchor="t" lIns="0" rIns="0" tIns="0" bIns="0">
            <a:spAutoFit/>
          </a:bodyPr>
          <a:lstStyle/>
          <a:p>
            <a:pPr algn="l">
              <a:spcAft>
                <a:spcPts val="600"/>
              </a:spcAft>
            </a:pPr>
            <a:r>
              <a:rPr sz="1400" b="0">
                <a:solidFill>
                  <a:srgbClr val="71766C"/>
                </a:solidFill>
                <a:latin typeface="Segoe UI"/>
              </a:rPr>
              <a:t>Loading the model</a:t>
            </a:r>
          </a:p>
        </p:txBody>
      </p:sp>
      <p:sp>
        <p:nvSpPr>
          <p:cNvPr id="8" name="TextBox 7"/>
          <p:cNvSpPr txBox="1"/>
          <p:nvPr/>
        </p:nvSpPr>
        <p:spPr>
          <a:xfrm>
            <a:off x="822960" y="2377440"/>
            <a:ext cx="2991002" cy="457200"/>
          </a:xfrm>
          <a:prstGeom prst="rect">
            <a:avLst/>
          </a:prstGeom>
          <a:noFill/>
        </p:spPr>
        <p:txBody>
          <a:bodyPr wrap="square" anchor="t" lIns="0" rIns="0" tIns="0" bIns="0">
            <a:spAutoFit/>
          </a:bodyPr>
          <a:lstStyle/>
          <a:p>
            <a:pPr algn="l">
              <a:spcAft>
                <a:spcPts val="0"/>
              </a:spcAft>
            </a:pPr>
            <a:r>
              <a:rPr sz="2600" b="1">
                <a:solidFill>
                  <a:srgbClr val="71766C"/>
                </a:solidFill>
                <a:latin typeface="Consolas"/>
              </a:rPr>
              <a:t>517 s  </a:t>
            </a:r>
          </a:p>
          <a:p>
            <a:pPr algn="l">
              <a:spcAft>
                <a:spcPts val="0"/>
              </a:spcAft>
            </a:pPr>
            <a:r>
              <a:rPr sz="2600" b="1">
                <a:solidFill>
                  <a:srgbClr val="5FD68A"/>
                </a:solidFill>
                <a:latin typeface="Consolas"/>
              </a:rPr>
              <a:t>→ 70 s</a:t>
            </a:r>
          </a:p>
        </p:txBody>
      </p:sp>
      <p:sp>
        <p:nvSpPr>
          <p:cNvPr id="9" name="TextBox 8"/>
          <p:cNvSpPr txBox="1"/>
          <p:nvPr/>
        </p:nvSpPr>
        <p:spPr>
          <a:xfrm>
            <a:off x="822960" y="2990088"/>
            <a:ext cx="2991002" cy="914400"/>
          </a:xfrm>
          <a:prstGeom prst="rect">
            <a:avLst/>
          </a:prstGeom>
          <a:noFill/>
        </p:spPr>
        <p:txBody>
          <a:bodyPr wrap="square" anchor="t" lIns="0" rIns="0" tIns="0" bIns="0">
            <a:spAutoFit/>
          </a:bodyPr>
          <a:lstStyle/>
          <a:p>
            <a:pPr algn="l">
              <a:lnSpc>
                <a:spcPct val="135000"/>
              </a:lnSpc>
              <a:spcAft>
                <a:spcPts val="600"/>
              </a:spcAft>
            </a:pPr>
            <a:r>
              <a:rPr sz="1300" b="0">
                <a:solidFill>
                  <a:srgbClr val="A8ACA1"/>
                </a:solidFill>
                <a:latin typeface="Segoe UI"/>
              </a:rPr>
              <a:t>It was reading the file in scattered pieces. Now it reads it once, start to finish.</a:t>
            </a:r>
          </a:p>
        </p:txBody>
      </p:sp>
      <p:sp>
        <p:nvSpPr>
          <p:cNvPr id="10" name="Rounded Rectangle 9"/>
          <p:cNvSpPr/>
          <p:nvPr/>
        </p:nvSpPr>
        <p:spPr>
          <a:xfrm>
            <a:off x="4344314" y="1847088"/>
            <a:ext cx="3503066" cy="228600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00346" y="2048256"/>
            <a:ext cx="2991002" cy="274320"/>
          </a:xfrm>
          <a:prstGeom prst="rect">
            <a:avLst/>
          </a:prstGeom>
          <a:noFill/>
        </p:spPr>
        <p:txBody>
          <a:bodyPr wrap="square" anchor="t" lIns="0" rIns="0" tIns="0" bIns="0">
            <a:spAutoFit/>
          </a:bodyPr>
          <a:lstStyle/>
          <a:p>
            <a:pPr algn="l">
              <a:spcAft>
                <a:spcPts val="600"/>
              </a:spcAft>
            </a:pPr>
            <a:r>
              <a:rPr sz="1400" b="0">
                <a:solidFill>
                  <a:srgbClr val="71766C"/>
                </a:solidFill>
                <a:latin typeface="Segoe UI"/>
              </a:rPr>
              <a:t>A split it has not used</a:t>
            </a:r>
          </a:p>
        </p:txBody>
      </p:sp>
      <p:sp>
        <p:nvSpPr>
          <p:cNvPr id="12" name="TextBox 11"/>
          <p:cNvSpPr txBox="1"/>
          <p:nvPr/>
        </p:nvSpPr>
        <p:spPr>
          <a:xfrm>
            <a:off x="4600346" y="2377440"/>
            <a:ext cx="2991002" cy="457200"/>
          </a:xfrm>
          <a:prstGeom prst="rect">
            <a:avLst/>
          </a:prstGeom>
          <a:noFill/>
        </p:spPr>
        <p:txBody>
          <a:bodyPr wrap="square" anchor="t" lIns="0" rIns="0" tIns="0" bIns="0">
            <a:spAutoFit/>
          </a:bodyPr>
          <a:lstStyle/>
          <a:p>
            <a:pPr algn="l">
              <a:spcAft>
                <a:spcPts val="0"/>
              </a:spcAft>
            </a:pPr>
            <a:r>
              <a:rPr sz="2600" b="1">
                <a:solidFill>
                  <a:srgbClr val="71766C"/>
                </a:solidFill>
                <a:latin typeface="Consolas"/>
              </a:rPr>
              <a:t>437 s  </a:t>
            </a:r>
          </a:p>
          <a:p>
            <a:pPr algn="l">
              <a:spcAft>
                <a:spcPts val="0"/>
              </a:spcAft>
            </a:pPr>
            <a:r>
              <a:rPr sz="2600" b="1">
                <a:solidFill>
                  <a:srgbClr val="5FD68A"/>
                </a:solidFill>
                <a:latin typeface="Consolas"/>
              </a:rPr>
              <a:t>→ 70 s</a:t>
            </a:r>
          </a:p>
        </p:txBody>
      </p:sp>
      <p:sp>
        <p:nvSpPr>
          <p:cNvPr id="13" name="TextBox 12"/>
          <p:cNvSpPr txBox="1"/>
          <p:nvPr/>
        </p:nvSpPr>
        <p:spPr>
          <a:xfrm>
            <a:off x="4600346" y="2990088"/>
            <a:ext cx="2991002" cy="914400"/>
          </a:xfrm>
          <a:prstGeom prst="rect">
            <a:avLst/>
          </a:prstGeom>
          <a:noFill/>
        </p:spPr>
        <p:txBody>
          <a:bodyPr wrap="square" anchor="t" lIns="0" rIns="0" tIns="0" bIns="0">
            <a:spAutoFit/>
          </a:bodyPr>
          <a:lstStyle/>
          <a:p>
            <a:pPr algn="l">
              <a:lnSpc>
                <a:spcPct val="135000"/>
              </a:lnSpc>
              <a:spcAft>
                <a:spcPts val="600"/>
              </a:spcAft>
            </a:pPr>
            <a:r>
              <a:rPr sz="1300" b="0">
                <a:solidFill>
                  <a:srgbClr val="A8ACA1"/>
                </a:solidFill>
                <a:latin typeface="Segoe UI"/>
              </a:rPr>
              <a:t>Each device now keeps its own layers, checked against the original file.</a:t>
            </a:r>
          </a:p>
        </p:txBody>
      </p:sp>
      <p:sp>
        <p:nvSpPr>
          <p:cNvPr id="14" name="Rounded Rectangle 13"/>
          <p:cNvSpPr/>
          <p:nvPr/>
        </p:nvSpPr>
        <p:spPr>
          <a:xfrm>
            <a:off x="8121700" y="1847088"/>
            <a:ext cx="3503066" cy="228600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77732" y="2048256"/>
            <a:ext cx="2991002" cy="274320"/>
          </a:xfrm>
          <a:prstGeom prst="rect">
            <a:avLst/>
          </a:prstGeom>
          <a:noFill/>
        </p:spPr>
        <p:txBody>
          <a:bodyPr wrap="square" anchor="t" lIns="0" rIns="0" tIns="0" bIns="0">
            <a:spAutoFit/>
          </a:bodyPr>
          <a:lstStyle/>
          <a:p>
            <a:pPr algn="l">
              <a:spcAft>
                <a:spcPts val="600"/>
              </a:spcAft>
            </a:pPr>
            <a:r>
              <a:rPr sz="1400" b="0">
                <a:solidFill>
                  <a:srgbClr val="71766C"/>
                </a:solidFill>
                <a:latin typeface="Segoe UI"/>
              </a:rPr>
              <a:t>First word in a long chat</a:t>
            </a:r>
          </a:p>
        </p:txBody>
      </p:sp>
      <p:sp>
        <p:nvSpPr>
          <p:cNvPr id="16" name="TextBox 15"/>
          <p:cNvSpPr txBox="1"/>
          <p:nvPr/>
        </p:nvSpPr>
        <p:spPr>
          <a:xfrm>
            <a:off x="8377732" y="2377440"/>
            <a:ext cx="2991002" cy="457200"/>
          </a:xfrm>
          <a:prstGeom prst="rect">
            <a:avLst/>
          </a:prstGeom>
          <a:noFill/>
        </p:spPr>
        <p:txBody>
          <a:bodyPr wrap="square" anchor="t" lIns="0" rIns="0" tIns="0" bIns="0">
            <a:spAutoFit/>
          </a:bodyPr>
          <a:lstStyle/>
          <a:p>
            <a:pPr algn="l">
              <a:spcAft>
                <a:spcPts val="0"/>
              </a:spcAft>
            </a:pPr>
            <a:r>
              <a:rPr sz="2600" b="1">
                <a:solidFill>
                  <a:srgbClr val="71766C"/>
                </a:solidFill>
                <a:latin typeface="Consolas"/>
              </a:rPr>
              <a:t>slow  </a:t>
            </a:r>
          </a:p>
          <a:p>
            <a:pPr algn="l">
              <a:spcAft>
                <a:spcPts val="0"/>
              </a:spcAft>
            </a:pPr>
            <a:r>
              <a:rPr sz="2600" b="1">
                <a:solidFill>
                  <a:srgbClr val="5FD68A"/>
                </a:solidFill>
                <a:latin typeface="Consolas"/>
              </a:rPr>
              <a:t>→ fast</a:t>
            </a:r>
          </a:p>
        </p:txBody>
      </p:sp>
      <p:sp>
        <p:nvSpPr>
          <p:cNvPr id="17" name="TextBox 16"/>
          <p:cNvSpPr txBox="1"/>
          <p:nvPr/>
        </p:nvSpPr>
        <p:spPr>
          <a:xfrm>
            <a:off x="8377732" y="2990088"/>
            <a:ext cx="2991002" cy="914400"/>
          </a:xfrm>
          <a:prstGeom prst="rect">
            <a:avLst/>
          </a:prstGeom>
          <a:noFill/>
        </p:spPr>
        <p:txBody>
          <a:bodyPr wrap="square" anchor="t" lIns="0" rIns="0" tIns="0" bIns="0">
            <a:spAutoFit/>
          </a:bodyPr>
          <a:lstStyle/>
          <a:p>
            <a:pPr algn="l">
              <a:lnSpc>
                <a:spcPct val="135000"/>
              </a:lnSpc>
              <a:spcAft>
                <a:spcPts val="600"/>
              </a:spcAft>
            </a:pPr>
            <a:r>
              <a:rPr sz="1300" b="0">
                <a:solidFill>
                  <a:srgbClr val="A8ACA1"/>
                </a:solidFill>
                <a:latin typeface="Segoe UI"/>
              </a:rPr>
              <a:t>One conversation slot, so the chat stays in cache instead of being read again.</a:t>
            </a:r>
          </a:p>
        </p:txBody>
      </p:sp>
      <p:sp>
        <p:nvSpPr>
          <p:cNvPr id="18" name="Rounded Rectangle 17"/>
          <p:cNvSpPr/>
          <p:nvPr/>
        </p:nvSpPr>
        <p:spPr>
          <a:xfrm>
            <a:off x="566928" y="4361688"/>
            <a:ext cx="11057839" cy="169164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8" y="4581144"/>
            <a:ext cx="5486400"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AND THE REST</a:t>
            </a:r>
          </a:p>
        </p:txBody>
      </p:sp>
      <p:sp>
        <p:nvSpPr>
          <p:cNvPr id="20" name="Rectangle 19"/>
          <p:cNvSpPr/>
          <p:nvPr/>
        </p:nvSpPr>
        <p:spPr>
          <a:xfrm>
            <a:off x="841248" y="5020056"/>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78992" y="4928616"/>
            <a:ext cx="4882896" cy="274320"/>
          </a:xfrm>
          <a:prstGeom prst="rect">
            <a:avLst/>
          </a:prstGeom>
          <a:noFill/>
        </p:spPr>
        <p:txBody>
          <a:bodyPr wrap="square" anchor="t" lIns="0" rIns="0" tIns="0" bIns="0">
            <a:spAutoFit/>
          </a:bodyPr>
          <a:lstStyle/>
          <a:p>
            <a:pPr algn="l">
              <a:spcAft>
                <a:spcPts val="600"/>
              </a:spcAft>
            </a:pPr>
            <a:r>
              <a:rPr sz="1400" b="0">
                <a:solidFill>
                  <a:srgbClr val="F0EFE9"/>
                </a:solidFill>
                <a:latin typeface="Segoe UI"/>
              </a:rPr>
              <a:t>The head stays on the host</a:t>
            </a:r>
          </a:p>
        </p:txBody>
      </p:sp>
      <p:sp>
        <p:nvSpPr>
          <p:cNvPr id="22" name="TextBox 21"/>
          <p:cNvSpPr txBox="1"/>
          <p:nvPr/>
        </p:nvSpPr>
        <p:spPr>
          <a:xfrm>
            <a:off x="1078992" y="5138928"/>
            <a:ext cx="4882896" cy="228600"/>
          </a:xfrm>
          <a:prstGeom prst="rect">
            <a:avLst/>
          </a:prstGeom>
          <a:noFill/>
        </p:spPr>
        <p:txBody>
          <a:bodyPr wrap="square" anchor="t" lIns="0" rIns="0" tIns="0" bIns="0">
            <a:spAutoFit/>
          </a:bodyPr>
          <a:lstStyle/>
          <a:p>
            <a:pPr algn="l">
              <a:spcAft>
                <a:spcPts val="600"/>
              </a:spcAft>
            </a:pPr>
            <a:r>
              <a:rPr sz="1200" b="0">
                <a:solidFill>
                  <a:srgbClr val="71766C"/>
                </a:solidFill>
                <a:latin typeface="Segoe UI"/>
              </a:rPr>
              <a:t>so only a few KB cross per word</a:t>
            </a:r>
          </a:p>
        </p:txBody>
      </p:sp>
      <p:sp>
        <p:nvSpPr>
          <p:cNvPr id="23" name="Rectangle 22"/>
          <p:cNvSpPr/>
          <p:nvPr/>
        </p:nvSpPr>
        <p:spPr>
          <a:xfrm>
            <a:off x="841248" y="5495544"/>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78992" y="5404104"/>
            <a:ext cx="4882896" cy="274320"/>
          </a:xfrm>
          <a:prstGeom prst="rect">
            <a:avLst/>
          </a:prstGeom>
          <a:noFill/>
        </p:spPr>
        <p:txBody>
          <a:bodyPr wrap="square" anchor="t" lIns="0" rIns="0" tIns="0" bIns="0">
            <a:spAutoFit/>
          </a:bodyPr>
          <a:lstStyle/>
          <a:p>
            <a:pPr algn="l">
              <a:spcAft>
                <a:spcPts val="600"/>
              </a:spcAft>
            </a:pPr>
            <a:r>
              <a:rPr sz="1400" b="0">
                <a:solidFill>
                  <a:srgbClr val="F0EFE9"/>
                </a:solidFill>
                <a:latin typeface="Segoe UI"/>
              </a:rPr>
              <a:t>We take the middle ping, not the average</a:t>
            </a:r>
          </a:p>
        </p:txBody>
      </p:sp>
      <p:sp>
        <p:nvSpPr>
          <p:cNvPr id="25" name="TextBox 24"/>
          <p:cNvSpPr txBox="1"/>
          <p:nvPr/>
        </p:nvSpPr>
        <p:spPr>
          <a:xfrm>
            <a:off x="1078992" y="5614416"/>
            <a:ext cx="4882896" cy="228600"/>
          </a:xfrm>
          <a:prstGeom prst="rect">
            <a:avLst/>
          </a:prstGeom>
          <a:noFill/>
        </p:spPr>
        <p:txBody>
          <a:bodyPr wrap="square" anchor="t" lIns="0" rIns="0" tIns="0" bIns="0">
            <a:spAutoFit/>
          </a:bodyPr>
          <a:lstStyle/>
          <a:p>
            <a:pPr algn="l">
              <a:spcAft>
                <a:spcPts val="600"/>
              </a:spcAft>
            </a:pPr>
            <a:r>
              <a:rPr sz="1200" b="0">
                <a:solidFill>
                  <a:srgbClr val="71766C"/>
                </a:solidFill>
                <a:latin typeface="Segoe UI"/>
              </a:rPr>
              <a:t>one bad spike cannot throw out a good device</a:t>
            </a:r>
          </a:p>
        </p:txBody>
      </p:sp>
      <p:sp>
        <p:nvSpPr>
          <p:cNvPr id="26" name="Rectangle 25"/>
          <p:cNvSpPr/>
          <p:nvPr/>
        </p:nvSpPr>
        <p:spPr>
          <a:xfrm>
            <a:off x="6419088" y="5020056"/>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56832" y="4928616"/>
            <a:ext cx="4882896" cy="274320"/>
          </a:xfrm>
          <a:prstGeom prst="rect">
            <a:avLst/>
          </a:prstGeom>
          <a:noFill/>
        </p:spPr>
        <p:txBody>
          <a:bodyPr wrap="square" anchor="t" lIns="0" rIns="0" tIns="0" bIns="0">
            <a:spAutoFit/>
          </a:bodyPr>
          <a:lstStyle/>
          <a:p>
            <a:pPr algn="l">
              <a:spcAft>
                <a:spcPts val="600"/>
              </a:spcAft>
            </a:pPr>
            <a:r>
              <a:rPr sz="1400" b="0">
                <a:solidFill>
                  <a:srgbClr val="F0EFE9"/>
                </a:solidFill>
                <a:latin typeface="Segoe UI"/>
              </a:rPr>
              <a:t>We tested it hot, not cold</a:t>
            </a:r>
          </a:p>
        </p:txBody>
      </p:sp>
      <p:sp>
        <p:nvSpPr>
          <p:cNvPr id="28" name="TextBox 27"/>
          <p:cNvSpPr txBox="1"/>
          <p:nvPr/>
        </p:nvSpPr>
        <p:spPr>
          <a:xfrm>
            <a:off x="6656832" y="5138928"/>
            <a:ext cx="4882896" cy="228600"/>
          </a:xfrm>
          <a:prstGeom prst="rect">
            <a:avLst/>
          </a:prstGeom>
          <a:noFill/>
        </p:spPr>
        <p:txBody>
          <a:bodyPr wrap="square" anchor="t" lIns="0" rIns="0" tIns="0" bIns="0">
            <a:spAutoFit/>
          </a:bodyPr>
          <a:lstStyle/>
          <a:p>
            <a:pPr algn="l">
              <a:spcAft>
                <a:spcPts val="600"/>
              </a:spcAft>
            </a:pPr>
            <a:r>
              <a:rPr sz="1200" b="0">
                <a:solidFill>
                  <a:srgbClr val="71766C"/>
                </a:solidFill>
                <a:latin typeface="Segoe UI"/>
              </a:rPr>
              <a:t>11.4 to 5.3 tokens/s as the phone goes 34.6 to 47.5 °C</a:t>
            </a:r>
          </a:p>
        </p:txBody>
      </p:sp>
      <p:sp>
        <p:nvSpPr>
          <p:cNvPr id="29" name="Rectangle 28"/>
          <p:cNvSpPr/>
          <p:nvPr/>
        </p:nvSpPr>
        <p:spPr>
          <a:xfrm>
            <a:off x="6419088" y="5495544"/>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56832" y="5404104"/>
            <a:ext cx="4882896" cy="274320"/>
          </a:xfrm>
          <a:prstGeom prst="rect">
            <a:avLst/>
          </a:prstGeom>
          <a:noFill/>
        </p:spPr>
        <p:txBody>
          <a:bodyPr wrap="square" anchor="t" lIns="0" rIns="0" tIns="0" bIns="0">
            <a:spAutoFit/>
          </a:bodyPr>
          <a:lstStyle/>
          <a:p>
            <a:pPr algn="l">
              <a:spcAft>
                <a:spcPts val="600"/>
              </a:spcAft>
            </a:pPr>
            <a:r>
              <a:rPr sz="1400" b="0">
                <a:solidFill>
                  <a:srgbClr val="F0EFE9"/>
                </a:solidFill>
                <a:latin typeface="Segoe UI"/>
              </a:rPr>
              <a:t>Photos and text on two phones at once</a:t>
            </a:r>
          </a:p>
        </p:txBody>
      </p:sp>
      <p:sp>
        <p:nvSpPr>
          <p:cNvPr id="31" name="TextBox 30"/>
          <p:cNvSpPr txBox="1"/>
          <p:nvPr/>
        </p:nvSpPr>
        <p:spPr>
          <a:xfrm>
            <a:off x="6656832" y="5614416"/>
            <a:ext cx="4882896" cy="228600"/>
          </a:xfrm>
          <a:prstGeom prst="rect">
            <a:avLst/>
          </a:prstGeom>
          <a:noFill/>
        </p:spPr>
        <p:txBody>
          <a:bodyPr wrap="square" anchor="t" lIns="0" rIns="0" tIns="0" bIns="0">
            <a:spAutoFit/>
          </a:bodyPr>
          <a:lstStyle/>
          <a:p>
            <a:pPr algn="l">
              <a:spcAft>
                <a:spcPts val="600"/>
              </a:spcAft>
            </a:pPr>
            <a:r>
              <a:rPr sz="1200" b="0">
                <a:solidFill>
                  <a:srgbClr val="71766C"/>
                </a:solidFill>
                <a:latin typeface="Segoe UI"/>
              </a:rPr>
              <a:t>each answer says which device produced it</a:t>
            </a:r>
          </a:p>
        </p:txBody>
      </p:sp>
      <p:sp>
        <p:nvSpPr>
          <p:cNvPr id="32" name="TextBox 31"/>
          <p:cNvSpPr txBox="1"/>
          <p:nvPr/>
        </p:nvSpPr>
        <p:spPr>
          <a:xfrm>
            <a:off x="566928" y="6291072"/>
            <a:ext cx="6400800"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MeshAI</a:t>
            </a:r>
          </a:p>
        </p:txBody>
      </p:sp>
      <p:sp>
        <p:nvSpPr>
          <p:cNvPr id="33" name="TextBox 32"/>
          <p:cNvSpPr txBox="1"/>
          <p:nvPr/>
        </p:nvSpPr>
        <p:spPr>
          <a:xfrm>
            <a:off x="5223967" y="6291072"/>
            <a:ext cx="6400800" cy="274320"/>
          </a:xfrm>
          <a:prstGeom prst="rect">
            <a:avLst/>
          </a:prstGeom>
          <a:noFill/>
        </p:spPr>
        <p:txBody>
          <a:bodyPr wrap="square" anchor="t" lIns="0" rIns="0" tIns="0" bIns="0">
            <a:spAutoFit/>
          </a:bodyPr>
          <a:lstStyle/>
          <a:p>
            <a:pPr algn="r">
              <a:spcAft>
                <a:spcPts val="600"/>
              </a:spcAft>
            </a:pPr>
            <a:r>
              <a:rPr sz="1100" b="0">
                <a:solidFill>
                  <a:srgbClr val="71766C"/>
                </a:solidFill>
                <a:latin typeface="Consolas"/>
              </a:rPr>
              <a:t>every figure in docs/measurements.md, with its conditions</a:t>
            </a:r>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800">
        <p159:morph option="byObject"/>
      </p:transition>
    </mc:Choice>
    <mc:Fallback>
      <p:transition spd="slow">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C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20624"/>
            <a:ext cx="11057839" cy="274320"/>
          </a:xfrm>
          <a:prstGeom prst="rect">
            <a:avLst/>
          </a:prstGeom>
          <a:noFill/>
        </p:spPr>
        <p:txBody>
          <a:bodyPr wrap="square" anchor="t" lIns="0" rIns="0" tIns="0" bIns="0">
            <a:spAutoFit/>
          </a:bodyPr>
          <a:lstStyle/>
          <a:p>
            <a:pPr algn="l">
              <a:spcAft>
                <a:spcPts val="600"/>
              </a:spcAft>
            </a:pPr>
            <a:r>
              <a:rPr sz="1200" b="0">
                <a:solidFill>
                  <a:srgbClr val="71766C"/>
                </a:solidFill>
                <a:latin typeface="Consolas"/>
              </a:rPr>
              <a:t>05 · WHY THIS IS HARD</a:t>
            </a:r>
          </a:p>
        </p:txBody>
      </p:sp>
      <p:sp>
        <p:nvSpPr>
          <p:cNvPr id="4" name="TextBox 3"/>
          <p:cNvSpPr txBox="1"/>
          <p:nvPr/>
        </p:nvSpPr>
        <p:spPr>
          <a:xfrm>
            <a:off x="566928" y="713232"/>
            <a:ext cx="11057839" cy="731520"/>
          </a:xfrm>
          <a:prstGeom prst="rect">
            <a:avLst/>
          </a:prstGeom>
          <a:noFill/>
        </p:spPr>
        <p:txBody>
          <a:bodyPr wrap="square" anchor="t" lIns="0" rIns="0" tIns="0" bIns="0">
            <a:spAutoFit/>
          </a:bodyPr>
          <a:lstStyle/>
          <a:p>
            <a:pPr algn="l">
              <a:spcAft>
                <a:spcPts val="600"/>
              </a:spcAft>
            </a:pPr>
            <a:r>
              <a:rPr sz="4000" b="1">
                <a:solidFill>
                  <a:srgbClr val="F0EFE9"/>
                </a:solidFill>
                <a:latin typeface="Segoe UI"/>
              </a:rPr>
              <a:t>The cable is the whole trick.</a:t>
            </a:r>
          </a:p>
        </p:txBody>
      </p:sp>
      <p:sp>
        <p:nvSpPr>
          <p:cNvPr id="5" name="TextBox 4"/>
          <p:cNvSpPr txBox="1"/>
          <p:nvPr/>
        </p:nvSpPr>
        <p:spPr>
          <a:xfrm>
            <a:off x="566928" y="1481328"/>
            <a:ext cx="8778240" cy="548640"/>
          </a:xfrm>
          <a:prstGeom prst="rect">
            <a:avLst/>
          </a:prstGeom>
          <a:noFill/>
        </p:spPr>
        <p:txBody>
          <a:bodyPr wrap="square" anchor="t" lIns="0" rIns="0" tIns="0" bIns="0">
            <a:spAutoFit/>
          </a:bodyPr>
          <a:lstStyle/>
          <a:p>
            <a:pPr algn="l">
              <a:lnSpc>
                <a:spcPct val="125000"/>
              </a:lnSpc>
              <a:spcAft>
                <a:spcPts val="600"/>
              </a:spcAft>
            </a:pPr>
            <a:r>
              <a:rPr sz="1600" b="0">
                <a:solidFill>
                  <a:srgbClr val="A8ACA1"/>
                </a:solidFill>
                <a:latin typeface="Segoe UI"/>
              </a:rPr>
              <a:t>Every word has to travel to the other device and back. So the speed of the link decides everything.</a:t>
            </a:r>
          </a:p>
        </p:txBody>
      </p:sp>
      <p:sp>
        <p:nvSpPr>
          <p:cNvPr id="6" name="Rectangle 5"/>
          <p:cNvSpPr/>
          <p:nvPr/>
        </p:nvSpPr>
        <p:spPr>
          <a:xfrm>
            <a:off x="566928" y="1975104"/>
            <a:ext cx="11057839" cy="9525"/>
          </a:xfrm>
          <a:prstGeom prst="rect">
            <a:avLst/>
          </a:prstGeom>
          <a:solidFill>
            <a:srgbClr val="2A2F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2249424"/>
            <a:ext cx="5391759" cy="320040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487168"/>
            <a:ext cx="4843119"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HOW LONG A ROUND TRIP TAKES</a:t>
            </a:r>
          </a:p>
        </p:txBody>
      </p:sp>
      <p:sp>
        <p:nvSpPr>
          <p:cNvPr id="9" name="Rounded Rectangle 8"/>
          <p:cNvSpPr/>
          <p:nvPr/>
        </p:nvSpPr>
        <p:spPr>
          <a:xfrm>
            <a:off x="1115568" y="4809744"/>
            <a:ext cx="1097280" cy="228600"/>
          </a:xfrm>
          <a:prstGeom prst="roundRect">
            <a:avLst>
              <a:gd name="adj" fmla="val 18000"/>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15568" y="4517136"/>
            <a:ext cx="1097280" cy="274320"/>
          </a:xfrm>
          <a:prstGeom prst="rect">
            <a:avLst/>
          </a:prstGeom>
          <a:noFill/>
        </p:spPr>
        <p:txBody>
          <a:bodyPr wrap="square" anchor="t" lIns="0" rIns="0" tIns="0" bIns="0">
            <a:spAutoFit/>
          </a:bodyPr>
          <a:lstStyle/>
          <a:p>
            <a:pPr algn="ctr">
              <a:spcAft>
                <a:spcPts val="600"/>
              </a:spcAft>
            </a:pPr>
            <a:r>
              <a:rPr sz="1300" b="0">
                <a:solidFill>
                  <a:srgbClr val="5FD68A"/>
                </a:solidFill>
                <a:latin typeface="Consolas"/>
              </a:rPr>
              <a:t>2–3 ms</a:t>
            </a:r>
          </a:p>
        </p:txBody>
      </p:sp>
      <p:sp>
        <p:nvSpPr>
          <p:cNvPr id="11" name="TextBox 10"/>
          <p:cNvSpPr txBox="1"/>
          <p:nvPr/>
        </p:nvSpPr>
        <p:spPr>
          <a:xfrm>
            <a:off x="1115568" y="5111496"/>
            <a:ext cx="1097280" cy="457200"/>
          </a:xfrm>
          <a:prstGeom prst="rect">
            <a:avLst/>
          </a:prstGeom>
          <a:noFill/>
        </p:spPr>
        <p:txBody>
          <a:bodyPr wrap="square" anchor="t" lIns="0" rIns="0" tIns="0" bIns="0">
            <a:spAutoFit/>
          </a:bodyPr>
          <a:lstStyle/>
          <a:p>
            <a:pPr algn="ctr">
              <a:spcAft>
                <a:spcPts val="600"/>
              </a:spcAft>
            </a:pPr>
            <a:r>
              <a:rPr sz="1200" b="0">
                <a:solidFill>
                  <a:srgbClr val="A8ACA1"/>
                </a:solidFill>
                <a:latin typeface="Segoe UI"/>
              </a:rPr>
              <a:t>USB cable</a:t>
            </a:r>
          </a:p>
        </p:txBody>
      </p:sp>
      <p:sp>
        <p:nvSpPr>
          <p:cNvPr id="12" name="TextBox 11"/>
          <p:cNvSpPr txBox="1"/>
          <p:nvPr/>
        </p:nvSpPr>
        <p:spPr>
          <a:xfrm>
            <a:off x="1115568" y="5312664"/>
            <a:ext cx="1097280" cy="274320"/>
          </a:xfrm>
          <a:prstGeom prst="rect">
            <a:avLst/>
          </a:prstGeom>
          <a:noFill/>
        </p:spPr>
        <p:txBody>
          <a:bodyPr wrap="square" anchor="t" lIns="0" rIns="0" tIns="0" bIns="0">
            <a:spAutoFit/>
          </a:bodyPr>
          <a:lstStyle/>
          <a:p>
            <a:pPr algn="ctr">
              <a:spcAft>
                <a:spcPts val="600"/>
              </a:spcAft>
            </a:pPr>
            <a:r>
              <a:rPr sz="1100" b="0">
                <a:solidFill>
                  <a:srgbClr val="71766C"/>
                </a:solidFill>
                <a:latin typeface="Segoe UI"/>
              </a:rPr>
              <a:t>it works</a:t>
            </a:r>
          </a:p>
        </p:txBody>
      </p:sp>
      <p:sp>
        <p:nvSpPr>
          <p:cNvPr id="13" name="Rounded Rectangle 12"/>
          <p:cNvSpPr/>
          <p:nvPr/>
        </p:nvSpPr>
        <p:spPr>
          <a:xfrm>
            <a:off x="2670048" y="4169664"/>
            <a:ext cx="1097280" cy="868680"/>
          </a:xfrm>
          <a:prstGeom prst="roundRect">
            <a:avLst>
              <a:gd name="adj" fmla="val 18000"/>
            </a:avLst>
          </a:prstGeom>
          <a:solidFill>
            <a:srgbClr val="E8B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670048" y="3877056"/>
            <a:ext cx="1097280" cy="274320"/>
          </a:xfrm>
          <a:prstGeom prst="rect">
            <a:avLst/>
          </a:prstGeom>
          <a:noFill/>
        </p:spPr>
        <p:txBody>
          <a:bodyPr wrap="square" anchor="t" lIns="0" rIns="0" tIns="0" bIns="0">
            <a:spAutoFit/>
          </a:bodyPr>
          <a:lstStyle/>
          <a:p>
            <a:pPr algn="ctr">
              <a:spcAft>
                <a:spcPts val="600"/>
              </a:spcAft>
            </a:pPr>
            <a:r>
              <a:rPr sz="1300" b="0">
                <a:solidFill>
                  <a:srgbClr val="E8B84B"/>
                </a:solidFill>
                <a:latin typeface="Consolas"/>
              </a:rPr>
              <a:t>65–154 ms</a:t>
            </a:r>
          </a:p>
        </p:txBody>
      </p:sp>
      <p:sp>
        <p:nvSpPr>
          <p:cNvPr id="15" name="TextBox 14"/>
          <p:cNvSpPr txBox="1"/>
          <p:nvPr/>
        </p:nvSpPr>
        <p:spPr>
          <a:xfrm>
            <a:off x="2670048" y="5111496"/>
            <a:ext cx="1097280" cy="457200"/>
          </a:xfrm>
          <a:prstGeom prst="rect">
            <a:avLst/>
          </a:prstGeom>
          <a:noFill/>
        </p:spPr>
        <p:txBody>
          <a:bodyPr wrap="square" anchor="t" lIns="0" rIns="0" tIns="0" bIns="0">
            <a:spAutoFit/>
          </a:bodyPr>
          <a:lstStyle/>
          <a:p>
            <a:pPr algn="ctr">
              <a:spcAft>
                <a:spcPts val="600"/>
              </a:spcAft>
            </a:pPr>
            <a:r>
              <a:rPr sz="1200" b="0">
                <a:solidFill>
                  <a:srgbClr val="A8ACA1"/>
                </a:solidFill>
                <a:latin typeface="Segoe UI"/>
              </a:rPr>
              <a:t>Home Wi-Fi</a:t>
            </a:r>
          </a:p>
        </p:txBody>
      </p:sp>
      <p:sp>
        <p:nvSpPr>
          <p:cNvPr id="16" name="TextBox 15"/>
          <p:cNvSpPr txBox="1"/>
          <p:nvPr/>
        </p:nvSpPr>
        <p:spPr>
          <a:xfrm>
            <a:off x="2670048" y="5312664"/>
            <a:ext cx="1097280" cy="274320"/>
          </a:xfrm>
          <a:prstGeom prst="rect">
            <a:avLst/>
          </a:prstGeom>
          <a:noFill/>
        </p:spPr>
        <p:txBody>
          <a:bodyPr wrap="square" anchor="t" lIns="0" rIns="0" tIns="0" bIns="0">
            <a:spAutoFit/>
          </a:bodyPr>
          <a:lstStyle/>
          <a:p>
            <a:pPr algn="ctr">
              <a:spcAft>
                <a:spcPts val="600"/>
              </a:spcAft>
            </a:pPr>
            <a:r>
              <a:rPr sz="1100" b="0">
                <a:solidFill>
                  <a:srgbClr val="71766C"/>
                </a:solidFill>
                <a:latin typeface="Segoe UI"/>
              </a:rPr>
              <a:t>marginal</a:t>
            </a:r>
          </a:p>
        </p:txBody>
      </p:sp>
      <p:sp>
        <p:nvSpPr>
          <p:cNvPr id="17" name="Rounded Rectangle 16"/>
          <p:cNvSpPr/>
          <p:nvPr/>
        </p:nvSpPr>
        <p:spPr>
          <a:xfrm>
            <a:off x="4224528" y="3300984"/>
            <a:ext cx="1097280" cy="1737360"/>
          </a:xfrm>
          <a:prstGeom prst="roundRect">
            <a:avLst>
              <a:gd name="adj" fmla="val 18000"/>
            </a:avLst>
          </a:prstGeom>
          <a:solidFill>
            <a:srgbClr val="E06C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24528" y="3008376"/>
            <a:ext cx="1097280" cy="274320"/>
          </a:xfrm>
          <a:prstGeom prst="rect">
            <a:avLst/>
          </a:prstGeom>
          <a:noFill/>
        </p:spPr>
        <p:txBody>
          <a:bodyPr wrap="square" anchor="t" lIns="0" rIns="0" tIns="0" bIns="0">
            <a:spAutoFit/>
          </a:bodyPr>
          <a:lstStyle/>
          <a:p>
            <a:pPr algn="ctr">
              <a:spcAft>
                <a:spcPts val="600"/>
              </a:spcAft>
            </a:pPr>
            <a:r>
              <a:rPr sz="1300" b="0">
                <a:solidFill>
                  <a:srgbClr val="E06C6C"/>
                </a:solidFill>
                <a:latin typeface="Consolas"/>
              </a:rPr>
              <a:t>266–483 ms</a:t>
            </a:r>
          </a:p>
        </p:txBody>
      </p:sp>
      <p:sp>
        <p:nvSpPr>
          <p:cNvPr id="19" name="TextBox 18"/>
          <p:cNvSpPr txBox="1"/>
          <p:nvPr/>
        </p:nvSpPr>
        <p:spPr>
          <a:xfrm>
            <a:off x="4224528" y="5111496"/>
            <a:ext cx="1097280" cy="457200"/>
          </a:xfrm>
          <a:prstGeom prst="rect">
            <a:avLst/>
          </a:prstGeom>
          <a:noFill/>
        </p:spPr>
        <p:txBody>
          <a:bodyPr wrap="square" anchor="t" lIns="0" rIns="0" tIns="0" bIns="0">
            <a:spAutoFit/>
          </a:bodyPr>
          <a:lstStyle/>
          <a:p>
            <a:pPr algn="ctr">
              <a:spcAft>
                <a:spcPts val="600"/>
              </a:spcAft>
            </a:pPr>
            <a:r>
              <a:rPr sz="1200" b="0">
                <a:solidFill>
                  <a:srgbClr val="A8ACA1"/>
                </a:solidFill>
                <a:latin typeface="Segoe UI"/>
              </a:rPr>
              <a:t>Venue Wi-Fi</a:t>
            </a:r>
          </a:p>
        </p:txBody>
      </p:sp>
      <p:sp>
        <p:nvSpPr>
          <p:cNvPr id="20" name="TextBox 19"/>
          <p:cNvSpPr txBox="1"/>
          <p:nvPr/>
        </p:nvSpPr>
        <p:spPr>
          <a:xfrm>
            <a:off x="4224528" y="5312664"/>
            <a:ext cx="1097280" cy="274320"/>
          </a:xfrm>
          <a:prstGeom prst="rect">
            <a:avLst/>
          </a:prstGeom>
          <a:noFill/>
        </p:spPr>
        <p:txBody>
          <a:bodyPr wrap="square" anchor="t" lIns="0" rIns="0" tIns="0" bIns="0">
            <a:spAutoFit/>
          </a:bodyPr>
          <a:lstStyle/>
          <a:p>
            <a:pPr algn="ctr">
              <a:spcAft>
                <a:spcPts val="600"/>
              </a:spcAft>
            </a:pPr>
            <a:r>
              <a:rPr sz="1100" b="0">
                <a:solidFill>
                  <a:srgbClr val="71766C"/>
                </a:solidFill>
                <a:latin typeface="Segoe UI"/>
              </a:rPr>
              <a:t>refused</a:t>
            </a:r>
          </a:p>
        </p:txBody>
      </p:sp>
      <p:sp>
        <p:nvSpPr>
          <p:cNvPr id="21" name="Rounded Rectangle 20"/>
          <p:cNvSpPr/>
          <p:nvPr/>
        </p:nvSpPr>
        <p:spPr>
          <a:xfrm>
            <a:off x="6233007" y="2249424"/>
            <a:ext cx="5391759" cy="320040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07327" y="2487168"/>
            <a:ext cx="4843119"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WHAT OTHERS FOUND</a:t>
            </a:r>
          </a:p>
        </p:txBody>
      </p:sp>
      <p:sp>
        <p:nvSpPr>
          <p:cNvPr id="23" name="Rectangle 22"/>
          <p:cNvSpPr/>
          <p:nvPr/>
        </p:nvSpPr>
        <p:spPr>
          <a:xfrm>
            <a:off x="6507327" y="2962656"/>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45071" y="2871216"/>
            <a:ext cx="4605375" cy="274320"/>
          </a:xfrm>
          <a:prstGeom prst="rect">
            <a:avLst/>
          </a:prstGeom>
          <a:noFill/>
        </p:spPr>
        <p:txBody>
          <a:bodyPr wrap="square" anchor="t" lIns="0" rIns="0" tIns="0" bIns="0">
            <a:spAutoFit/>
          </a:bodyPr>
          <a:lstStyle/>
          <a:p>
            <a:pPr algn="l">
              <a:spcAft>
                <a:spcPts val="600"/>
              </a:spcAft>
            </a:pPr>
            <a:r>
              <a:rPr sz="1400" b="0">
                <a:solidFill>
                  <a:srgbClr val="F0EFE9"/>
                </a:solidFill>
                <a:latin typeface="Segoe UI"/>
              </a:rPr>
              <a:t>Petals got 0.83 words a second</a:t>
            </a:r>
          </a:p>
        </p:txBody>
      </p:sp>
      <p:sp>
        <p:nvSpPr>
          <p:cNvPr id="25" name="TextBox 24"/>
          <p:cNvSpPr txBox="1"/>
          <p:nvPr/>
        </p:nvSpPr>
        <p:spPr>
          <a:xfrm>
            <a:off x="6745071" y="3081528"/>
            <a:ext cx="4605375" cy="228600"/>
          </a:xfrm>
          <a:prstGeom prst="rect">
            <a:avLst/>
          </a:prstGeom>
          <a:noFill/>
        </p:spPr>
        <p:txBody>
          <a:bodyPr wrap="square" anchor="t" lIns="0" rIns="0" tIns="0" bIns="0">
            <a:spAutoFit/>
          </a:bodyPr>
          <a:lstStyle/>
          <a:p>
            <a:pPr algn="l">
              <a:spcAft>
                <a:spcPts val="600"/>
              </a:spcAft>
            </a:pPr>
            <a:r>
              <a:rPr sz="1200" b="0">
                <a:solidFill>
                  <a:srgbClr val="71766C"/>
                </a:solidFill>
                <a:latin typeface="Segoe UI"/>
              </a:rPr>
              <a:t>over the internet, between two continents</a:t>
            </a:r>
          </a:p>
        </p:txBody>
      </p:sp>
      <p:sp>
        <p:nvSpPr>
          <p:cNvPr id="26" name="Rectangle 25"/>
          <p:cNvSpPr/>
          <p:nvPr/>
        </p:nvSpPr>
        <p:spPr>
          <a:xfrm>
            <a:off x="6507327" y="3511296"/>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45071" y="3419856"/>
            <a:ext cx="4605375" cy="274320"/>
          </a:xfrm>
          <a:prstGeom prst="rect">
            <a:avLst/>
          </a:prstGeom>
          <a:noFill/>
        </p:spPr>
        <p:txBody>
          <a:bodyPr wrap="square" anchor="t" lIns="0" rIns="0" tIns="0" bIns="0">
            <a:spAutoFit/>
          </a:bodyPr>
          <a:lstStyle/>
          <a:p>
            <a:pPr algn="l">
              <a:spcAft>
                <a:spcPts val="600"/>
              </a:spcAft>
            </a:pPr>
            <a:r>
              <a:rPr sz="1400" b="0">
                <a:solidFill>
                  <a:srgbClr val="F0EFE9"/>
                </a:solidFill>
                <a:latin typeface="Segoe UI"/>
              </a:rPr>
              <a:t>prima.cpp leaves phones out on purpose</a:t>
            </a:r>
          </a:p>
        </p:txBody>
      </p:sp>
      <p:sp>
        <p:nvSpPr>
          <p:cNvPr id="28" name="TextBox 27"/>
          <p:cNvSpPr txBox="1"/>
          <p:nvPr/>
        </p:nvSpPr>
        <p:spPr>
          <a:xfrm>
            <a:off x="6745071" y="3630168"/>
            <a:ext cx="4605375" cy="228600"/>
          </a:xfrm>
          <a:prstGeom prst="rect">
            <a:avLst/>
          </a:prstGeom>
          <a:noFill/>
        </p:spPr>
        <p:txBody>
          <a:bodyPr wrap="square" anchor="t" lIns="0" rIns="0" tIns="0" bIns="0">
            <a:spAutoFit/>
          </a:bodyPr>
          <a:lstStyle/>
          <a:p>
            <a:pPr algn="l">
              <a:spcAft>
                <a:spcPts val="600"/>
              </a:spcAft>
            </a:pPr>
            <a:r>
              <a:rPr sz="1200" b="0">
                <a:solidFill>
                  <a:srgbClr val="71766C"/>
                </a:solidFill>
                <a:latin typeface="Segoe UI"/>
              </a:rPr>
              <a:t>the best home cluster in the research</a:t>
            </a:r>
          </a:p>
        </p:txBody>
      </p:sp>
      <p:sp>
        <p:nvSpPr>
          <p:cNvPr id="29" name="Rectangle 28"/>
          <p:cNvSpPr/>
          <p:nvPr/>
        </p:nvSpPr>
        <p:spPr>
          <a:xfrm>
            <a:off x="6507327" y="4059936"/>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45071" y="3968496"/>
            <a:ext cx="4605375" cy="274320"/>
          </a:xfrm>
          <a:prstGeom prst="rect">
            <a:avLst/>
          </a:prstGeom>
          <a:noFill/>
        </p:spPr>
        <p:txBody>
          <a:bodyPr wrap="square" anchor="t" lIns="0" rIns="0" tIns="0" bIns="0">
            <a:spAutoFit/>
          </a:bodyPr>
          <a:lstStyle/>
          <a:p>
            <a:pPr algn="l">
              <a:spcAft>
                <a:spcPts val="600"/>
              </a:spcAft>
            </a:pPr>
            <a:r>
              <a:rPr sz="1400" b="0">
                <a:solidFill>
                  <a:srgbClr val="F0EFE9"/>
                </a:solidFill>
                <a:latin typeface="Segoe UI"/>
              </a:rPr>
              <a:t>No paper exists on splitting across phones</a:t>
            </a:r>
          </a:p>
        </p:txBody>
      </p:sp>
      <p:sp>
        <p:nvSpPr>
          <p:cNvPr id="31" name="TextBox 30"/>
          <p:cNvSpPr txBox="1"/>
          <p:nvPr/>
        </p:nvSpPr>
        <p:spPr>
          <a:xfrm>
            <a:off x="6745071" y="4178808"/>
            <a:ext cx="4605375" cy="228600"/>
          </a:xfrm>
          <a:prstGeom prst="rect">
            <a:avLst/>
          </a:prstGeom>
          <a:noFill/>
        </p:spPr>
        <p:txBody>
          <a:bodyPr wrap="square" anchor="t" lIns="0" rIns="0" tIns="0" bIns="0">
            <a:spAutoFit/>
          </a:bodyPr>
          <a:lstStyle/>
          <a:p>
            <a:pPr algn="l">
              <a:spcAft>
                <a:spcPts val="600"/>
              </a:spcAft>
            </a:pPr>
            <a:r>
              <a:rPr sz="1200" b="0">
                <a:solidFill>
                  <a:srgbClr val="71766C"/>
                </a:solidFill>
                <a:latin typeface="Segoe UI"/>
              </a:rPr>
              <a:t>we checked: arXiv returns nothing</a:t>
            </a:r>
          </a:p>
        </p:txBody>
      </p:sp>
      <p:sp>
        <p:nvSpPr>
          <p:cNvPr id="32" name="TextBox 31"/>
          <p:cNvSpPr txBox="1"/>
          <p:nvPr/>
        </p:nvSpPr>
        <p:spPr>
          <a:xfrm>
            <a:off x="6507327" y="4626864"/>
            <a:ext cx="4843119" cy="731520"/>
          </a:xfrm>
          <a:prstGeom prst="rect">
            <a:avLst/>
          </a:prstGeom>
          <a:noFill/>
        </p:spPr>
        <p:txBody>
          <a:bodyPr wrap="square" anchor="t" lIns="0" rIns="0" tIns="0" bIns="0">
            <a:spAutoFit/>
          </a:bodyPr>
          <a:lstStyle/>
          <a:p>
            <a:pPr algn="l">
              <a:lnSpc>
                <a:spcPct val="130000"/>
              </a:lnSpc>
              <a:spcAft>
                <a:spcPts val="600"/>
              </a:spcAft>
            </a:pPr>
            <a:r>
              <a:rPr sz="1600" b="0">
                <a:solidFill>
                  <a:srgbClr val="5FD68A"/>
                </a:solidFill>
                <a:latin typeface="Segoe UI"/>
              </a:rPr>
              <a:t>So we only split over a cable you own, and we refuse anything slower than 60 ms.</a:t>
            </a:r>
          </a:p>
        </p:txBody>
      </p:sp>
      <p:sp>
        <p:nvSpPr>
          <p:cNvPr id="33" name="TextBox 32"/>
          <p:cNvSpPr txBox="1"/>
          <p:nvPr/>
        </p:nvSpPr>
        <p:spPr>
          <a:xfrm>
            <a:off x="566928" y="6291072"/>
            <a:ext cx="6400800"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MeshAI</a:t>
            </a:r>
          </a:p>
        </p:txBody>
      </p:sp>
      <p:sp>
        <p:nvSpPr>
          <p:cNvPr id="34" name="TextBox 33"/>
          <p:cNvSpPr txBox="1"/>
          <p:nvPr/>
        </p:nvSpPr>
        <p:spPr>
          <a:xfrm>
            <a:off x="5223967" y="6291072"/>
            <a:ext cx="6400800" cy="274320"/>
          </a:xfrm>
          <a:prstGeom prst="rect">
            <a:avLst/>
          </a:prstGeom>
          <a:noFill/>
        </p:spPr>
        <p:txBody>
          <a:bodyPr wrap="square" anchor="t" lIns="0" rIns="0" tIns="0" bIns="0">
            <a:spAutoFit/>
          </a:bodyPr>
          <a:lstStyle/>
          <a:p>
            <a:pPr algn="r">
              <a:spcAft>
                <a:spcPts val="600"/>
              </a:spcAft>
            </a:pPr>
            <a:r>
              <a:rPr sz="1100" b="0">
                <a:solidFill>
                  <a:srgbClr val="71766C"/>
                </a:solidFill>
                <a:latin typeface="Consolas"/>
              </a:rPr>
              <a:t>Petals arXiv 2209.01188 · prima.cpp arXiv 2504.08791</a:t>
            </a:r>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800">
        <p159:morph option="byObject"/>
      </p:transition>
    </mc:Choice>
    <mc:Fallback>
      <p:transition spd="slow">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C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20624"/>
            <a:ext cx="11057839" cy="274320"/>
          </a:xfrm>
          <a:prstGeom prst="rect">
            <a:avLst/>
          </a:prstGeom>
          <a:noFill/>
        </p:spPr>
        <p:txBody>
          <a:bodyPr wrap="square" anchor="t" lIns="0" rIns="0" tIns="0" bIns="0">
            <a:spAutoFit/>
          </a:bodyPr>
          <a:lstStyle/>
          <a:p>
            <a:pPr algn="l">
              <a:spcAft>
                <a:spcPts val="600"/>
              </a:spcAft>
            </a:pPr>
            <a:r>
              <a:rPr sz="1200" b="0">
                <a:solidFill>
                  <a:srgbClr val="71766C"/>
                </a:solidFill>
                <a:latin typeface="Consolas"/>
              </a:rPr>
              <a:t>06 · LIMITS</a:t>
            </a:r>
          </a:p>
        </p:txBody>
      </p:sp>
      <p:sp>
        <p:nvSpPr>
          <p:cNvPr id="4" name="TextBox 3"/>
          <p:cNvSpPr txBox="1"/>
          <p:nvPr/>
        </p:nvSpPr>
        <p:spPr>
          <a:xfrm>
            <a:off x="566928" y="713232"/>
            <a:ext cx="11057839" cy="731520"/>
          </a:xfrm>
          <a:prstGeom prst="rect">
            <a:avLst/>
          </a:prstGeom>
          <a:noFill/>
        </p:spPr>
        <p:txBody>
          <a:bodyPr wrap="square" anchor="t" lIns="0" rIns="0" tIns="0" bIns="0">
            <a:spAutoFit/>
          </a:bodyPr>
          <a:lstStyle/>
          <a:p>
            <a:pPr algn="l">
              <a:spcAft>
                <a:spcPts val="600"/>
              </a:spcAft>
            </a:pPr>
            <a:r>
              <a:rPr sz="4000" b="1">
                <a:solidFill>
                  <a:srgbClr val="F0EFE9"/>
                </a:solidFill>
                <a:latin typeface="Segoe UI"/>
              </a:rPr>
              <a:t>What we will not claim.</a:t>
            </a:r>
          </a:p>
        </p:txBody>
      </p:sp>
      <p:sp>
        <p:nvSpPr>
          <p:cNvPr id="5" name="TextBox 4"/>
          <p:cNvSpPr txBox="1"/>
          <p:nvPr/>
        </p:nvSpPr>
        <p:spPr>
          <a:xfrm>
            <a:off x="566928" y="1481328"/>
            <a:ext cx="8778240" cy="548640"/>
          </a:xfrm>
          <a:prstGeom prst="rect">
            <a:avLst/>
          </a:prstGeom>
          <a:noFill/>
        </p:spPr>
        <p:txBody>
          <a:bodyPr wrap="square" anchor="t" lIns="0" rIns="0" tIns="0" bIns="0">
            <a:spAutoFit/>
          </a:bodyPr>
          <a:lstStyle/>
          <a:p>
            <a:pPr algn="l">
              <a:lnSpc>
                <a:spcPct val="125000"/>
              </a:lnSpc>
              <a:spcAft>
                <a:spcPts val="600"/>
              </a:spcAft>
            </a:pPr>
            <a:r>
              <a:rPr sz="1600" b="0">
                <a:solidFill>
                  <a:srgbClr val="A8ACA1"/>
                </a:solidFill>
                <a:latin typeface="Segoe UI"/>
              </a:rPr>
              <a:t>We say these first, because it is the only way the rest is worth believing.</a:t>
            </a:r>
          </a:p>
        </p:txBody>
      </p:sp>
      <p:sp>
        <p:nvSpPr>
          <p:cNvPr id="6" name="Rectangle 5"/>
          <p:cNvSpPr/>
          <p:nvPr/>
        </p:nvSpPr>
        <p:spPr>
          <a:xfrm>
            <a:off x="566928" y="1975104"/>
            <a:ext cx="11057839" cy="9525"/>
          </a:xfrm>
          <a:prstGeom prst="rect">
            <a:avLst/>
          </a:prstGeom>
          <a:solidFill>
            <a:srgbClr val="2A2F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2249424"/>
            <a:ext cx="3503066" cy="301752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487168"/>
            <a:ext cx="2991002"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NOT FASTER</a:t>
            </a:r>
          </a:p>
        </p:txBody>
      </p:sp>
      <p:sp>
        <p:nvSpPr>
          <p:cNvPr id="9" name="TextBox 8"/>
          <p:cNvSpPr txBox="1"/>
          <p:nvPr/>
        </p:nvSpPr>
        <p:spPr>
          <a:xfrm>
            <a:off x="822960" y="2816352"/>
            <a:ext cx="2991002" cy="457200"/>
          </a:xfrm>
          <a:prstGeom prst="rect">
            <a:avLst/>
          </a:prstGeom>
          <a:noFill/>
        </p:spPr>
        <p:txBody>
          <a:bodyPr wrap="square" anchor="t" lIns="0" rIns="0" tIns="0" bIns="0">
            <a:spAutoFit/>
          </a:bodyPr>
          <a:lstStyle/>
          <a:p>
            <a:pPr algn="l">
              <a:lnSpc>
                <a:spcPct val="130000"/>
              </a:lnSpc>
              <a:spcAft>
                <a:spcPts val="600"/>
              </a:spcAft>
            </a:pPr>
            <a:r>
              <a:rPr sz="1600" b="0">
                <a:solidFill>
                  <a:srgbClr val="F0EFE9"/>
                </a:solidFill>
                <a:latin typeface="Segoe UI"/>
              </a:rPr>
              <a:t>It buys memory, not speed.</a:t>
            </a:r>
          </a:p>
        </p:txBody>
      </p:sp>
      <p:sp>
        <p:nvSpPr>
          <p:cNvPr id="10" name="Rectangle 9"/>
          <p:cNvSpPr/>
          <p:nvPr/>
        </p:nvSpPr>
        <p:spPr>
          <a:xfrm>
            <a:off x="822960" y="3575304"/>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0704" y="3483864"/>
            <a:ext cx="2753258"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Every word crosses the cable once</a:t>
            </a:r>
          </a:p>
        </p:txBody>
      </p:sp>
      <p:sp>
        <p:nvSpPr>
          <p:cNvPr id="12" name="Rectangle 11"/>
          <p:cNvSpPr/>
          <p:nvPr/>
        </p:nvSpPr>
        <p:spPr>
          <a:xfrm>
            <a:off x="822960" y="3977640"/>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60704" y="3886200"/>
            <a:ext cx="2753258"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One device that already fits is quicker</a:t>
            </a:r>
          </a:p>
        </p:txBody>
      </p:sp>
      <p:sp>
        <p:nvSpPr>
          <p:cNvPr id="14" name="Rectangle 13"/>
          <p:cNvSpPr/>
          <p:nvPr/>
        </p:nvSpPr>
        <p:spPr>
          <a:xfrm>
            <a:off x="822960" y="4379976"/>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60704" y="4288536"/>
            <a:ext cx="2753258"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Our own app tells you so and refuses</a:t>
            </a:r>
          </a:p>
        </p:txBody>
      </p:sp>
      <p:sp>
        <p:nvSpPr>
          <p:cNvPr id="16" name="Rectangle 15"/>
          <p:cNvSpPr/>
          <p:nvPr/>
        </p:nvSpPr>
        <p:spPr>
          <a:xfrm>
            <a:off x="822960" y="4782312"/>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60704" y="4690872"/>
            <a:ext cx="2753258"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We split only when nothing else fits</a:t>
            </a:r>
          </a:p>
        </p:txBody>
      </p:sp>
      <p:sp>
        <p:nvSpPr>
          <p:cNvPr id="18" name="Rounded Rectangle 17"/>
          <p:cNvSpPr/>
          <p:nvPr/>
        </p:nvSpPr>
        <p:spPr>
          <a:xfrm>
            <a:off x="4344314" y="2249424"/>
            <a:ext cx="3503066" cy="301752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00346" y="2487168"/>
            <a:ext cx="2991002"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NOT CHEAPER PER WORD</a:t>
            </a:r>
          </a:p>
        </p:txBody>
      </p:sp>
      <p:sp>
        <p:nvSpPr>
          <p:cNvPr id="20" name="TextBox 19"/>
          <p:cNvSpPr txBox="1"/>
          <p:nvPr/>
        </p:nvSpPr>
        <p:spPr>
          <a:xfrm>
            <a:off x="4600346" y="2816352"/>
            <a:ext cx="2991002" cy="457200"/>
          </a:xfrm>
          <a:prstGeom prst="rect">
            <a:avLst/>
          </a:prstGeom>
          <a:noFill/>
        </p:spPr>
        <p:txBody>
          <a:bodyPr wrap="square" anchor="t" lIns="0" rIns="0" tIns="0" bIns="0">
            <a:spAutoFit/>
          </a:bodyPr>
          <a:lstStyle/>
          <a:p>
            <a:pPr algn="l">
              <a:lnSpc>
                <a:spcPct val="130000"/>
              </a:lnSpc>
              <a:spcAft>
                <a:spcPts val="600"/>
              </a:spcAft>
            </a:pPr>
            <a:r>
              <a:rPr sz="1600" b="0">
                <a:solidFill>
                  <a:srgbClr val="F0EFE9"/>
                </a:solidFill>
                <a:latin typeface="Segoe UI"/>
              </a:rPr>
              <a:t>A cloud API costs less per word.</a:t>
            </a:r>
          </a:p>
        </p:txBody>
      </p:sp>
      <p:sp>
        <p:nvSpPr>
          <p:cNvPr id="21" name="Rectangle 20"/>
          <p:cNvSpPr/>
          <p:nvPr/>
        </p:nvSpPr>
        <p:spPr>
          <a:xfrm>
            <a:off x="4600346" y="3575304"/>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38090" y="3483864"/>
            <a:ext cx="2753258"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We are for work that cannot leave</a:t>
            </a:r>
          </a:p>
        </p:txBody>
      </p:sp>
      <p:sp>
        <p:nvSpPr>
          <p:cNvPr id="23" name="Rectangle 22"/>
          <p:cNvSpPr/>
          <p:nvPr/>
        </p:nvSpPr>
        <p:spPr>
          <a:xfrm>
            <a:off x="4600346" y="3977640"/>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38090" y="3886200"/>
            <a:ext cx="2753258"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And hardware that cannot hold the model</a:t>
            </a:r>
          </a:p>
        </p:txBody>
      </p:sp>
      <p:sp>
        <p:nvSpPr>
          <p:cNvPr id="25" name="Rectangle 24"/>
          <p:cNvSpPr/>
          <p:nvPr/>
        </p:nvSpPr>
        <p:spPr>
          <a:xfrm>
            <a:off x="4600346" y="4379976"/>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38090" y="4288536"/>
            <a:ext cx="2753258"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If your data can leave, use the cloud</a:t>
            </a:r>
          </a:p>
        </p:txBody>
      </p:sp>
      <p:sp>
        <p:nvSpPr>
          <p:cNvPr id="27" name="Rounded Rectangle 26"/>
          <p:cNvSpPr/>
          <p:nvPr/>
        </p:nvSpPr>
        <p:spPr>
          <a:xfrm>
            <a:off x="8121700" y="2249424"/>
            <a:ext cx="3503066" cy="301752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77732" y="2487168"/>
            <a:ext cx="2991002"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PRIVATE, BUT ONLY SO FAR</a:t>
            </a:r>
          </a:p>
        </p:txBody>
      </p:sp>
      <p:sp>
        <p:nvSpPr>
          <p:cNvPr id="29" name="TextBox 28"/>
          <p:cNvSpPr txBox="1"/>
          <p:nvPr/>
        </p:nvSpPr>
        <p:spPr>
          <a:xfrm>
            <a:off x="8377732" y="2816352"/>
            <a:ext cx="2991002" cy="457200"/>
          </a:xfrm>
          <a:prstGeom prst="rect">
            <a:avLst/>
          </a:prstGeom>
          <a:noFill/>
        </p:spPr>
        <p:txBody>
          <a:bodyPr wrap="square" anchor="t" lIns="0" rIns="0" tIns="0" bIns="0">
            <a:spAutoFit/>
          </a:bodyPr>
          <a:lstStyle/>
          <a:p>
            <a:pPr algn="l">
              <a:lnSpc>
                <a:spcPct val="130000"/>
              </a:lnSpc>
              <a:spcAft>
                <a:spcPts val="600"/>
              </a:spcAft>
            </a:pPr>
            <a:r>
              <a:rPr sz="1600" b="0">
                <a:solidFill>
                  <a:srgbClr val="F0EFE9"/>
                </a:solidFill>
                <a:latin typeface="Segoe UI"/>
              </a:rPr>
              <a:t>Across devices one person owns.</a:t>
            </a:r>
          </a:p>
        </p:txBody>
      </p:sp>
      <p:sp>
        <p:nvSpPr>
          <p:cNvPr id="30" name="Rectangle 29"/>
          <p:cNvSpPr/>
          <p:nvPr/>
        </p:nvSpPr>
        <p:spPr>
          <a:xfrm>
            <a:off x="8377732" y="3575304"/>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615476" y="3483864"/>
            <a:ext cx="2753258"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Nothing leaves the devices you own</a:t>
            </a:r>
          </a:p>
        </p:txBody>
      </p:sp>
      <p:sp>
        <p:nvSpPr>
          <p:cNvPr id="32" name="Rectangle 31"/>
          <p:cNvSpPr/>
          <p:nvPr/>
        </p:nvSpPr>
        <p:spPr>
          <a:xfrm>
            <a:off x="8377732" y="3977640"/>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615476" y="3886200"/>
            <a:ext cx="2753258"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The demo runs with the internet off</a:t>
            </a:r>
          </a:p>
        </p:txBody>
      </p:sp>
      <p:sp>
        <p:nvSpPr>
          <p:cNvPr id="34" name="Rectangle 33"/>
          <p:cNvSpPr/>
          <p:nvPr/>
        </p:nvSpPr>
        <p:spPr>
          <a:xfrm>
            <a:off x="8377732" y="4379976"/>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615476" y="4288536"/>
            <a:ext cx="2753258"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We do not claim a stranger's phone is safe</a:t>
            </a:r>
          </a:p>
        </p:txBody>
      </p:sp>
      <p:sp>
        <p:nvSpPr>
          <p:cNvPr id="36" name="TextBox 35"/>
          <p:cNvSpPr txBox="1"/>
          <p:nvPr/>
        </p:nvSpPr>
        <p:spPr>
          <a:xfrm>
            <a:off x="566928" y="6291072"/>
            <a:ext cx="6400800"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MeshAI</a:t>
            </a:r>
          </a:p>
        </p:txBody>
      </p:sp>
      <p:sp>
        <p:nvSpPr>
          <p:cNvPr id="37" name="TextBox 36"/>
          <p:cNvSpPr txBox="1"/>
          <p:nvPr/>
        </p:nvSpPr>
        <p:spPr>
          <a:xfrm>
            <a:off x="5223967" y="6291072"/>
            <a:ext cx="6400800" cy="274320"/>
          </a:xfrm>
          <a:prstGeom prst="rect">
            <a:avLst/>
          </a:prstGeom>
          <a:noFill/>
        </p:spPr>
        <p:txBody>
          <a:bodyPr wrap="square" anchor="t" lIns="0" rIns="0" tIns="0" bIns="0">
            <a:spAutoFit/>
          </a:bodyPr>
          <a:lstStyle/>
          <a:p>
            <a:pPr algn="r">
              <a:spcAft>
                <a:spcPts val="600"/>
              </a:spcAft>
            </a:pPr>
            <a:r>
              <a:rPr sz="1100" b="0">
                <a:solidFill>
                  <a:srgbClr val="71766C"/>
                </a:solidFill>
                <a:latin typeface="Consolas"/>
              </a:rPr>
              <a:t>the boundary, before anyone has to ask for it</a:t>
            </a:r>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800">
        <p159:morph option="byObject"/>
      </p:transition>
    </mc:Choice>
    <mc:Fallback>
      <p:transition spd="slow">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C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20624"/>
            <a:ext cx="11057839" cy="274320"/>
          </a:xfrm>
          <a:prstGeom prst="rect">
            <a:avLst/>
          </a:prstGeom>
          <a:noFill/>
        </p:spPr>
        <p:txBody>
          <a:bodyPr wrap="square" anchor="t" lIns="0" rIns="0" tIns="0" bIns="0">
            <a:spAutoFit/>
          </a:bodyPr>
          <a:lstStyle/>
          <a:p>
            <a:pPr algn="l">
              <a:spcAft>
                <a:spcPts val="600"/>
              </a:spcAft>
            </a:pPr>
            <a:r>
              <a:rPr sz="1200" b="0">
                <a:solidFill>
                  <a:srgbClr val="71766C"/>
                </a:solidFill>
                <a:latin typeface="Consolas"/>
              </a:rPr>
              <a:t>07 · WHAT YOU DO WITH IT</a:t>
            </a:r>
          </a:p>
        </p:txBody>
      </p:sp>
      <p:sp>
        <p:nvSpPr>
          <p:cNvPr id="4" name="TextBox 3"/>
          <p:cNvSpPr txBox="1"/>
          <p:nvPr/>
        </p:nvSpPr>
        <p:spPr>
          <a:xfrm>
            <a:off x="566928" y="713232"/>
            <a:ext cx="11057839" cy="731520"/>
          </a:xfrm>
          <a:prstGeom prst="rect">
            <a:avLst/>
          </a:prstGeom>
          <a:noFill/>
        </p:spPr>
        <p:txBody>
          <a:bodyPr wrap="square" anchor="t" lIns="0" rIns="0" tIns="0" bIns="0">
            <a:spAutoFit/>
          </a:bodyPr>
          <a:lstStyle/>
          <a:p>
            <a:pPr algn="l">
              <a:spcAft>
                <a:spcPts val="600"/>
              </a:spcAft>
            </a:pPr>
            <a:r>
              <a:rPr sz="4000" b="1">
                <a:solidFill>
                  <a:srgbClr val="F0EFE9"/>
                </a:solidFill>
                <a:latin typeface="Segoe UI"/>
              </a:rPr>
              <a:t>Review your code before you commit.</a:t>
            </a:r>
          </a:p>
        </p:txBody>
      </p:sp>
      <p:sp>
        <p:nvSpPr>
          <p:cNvPr id="5" name="TextBox 4"/>
          <p:cNvSpPr txBox="1"/>
          <p:nvPr/>
        </p:nvSpPr>
        <p:spPr>
          <a:xfrm>
            <a:off x="566928" y="1481328"/>
            <a:ext cx="8778240" cy="548640"/>
          </a:xfrm>
          <a:prstGeom prst="rect">
            <a:avLst/>
          </a:prstGeom>
          <a:noFill/>
        </p:spPr>
        <p:txBody>
          <a:bodyPr wrap="square" anchor="t" lIns="0" rIns="0" tIns="0" bIns="0">
            <a:spAutoFit/>
          </a:bodyPr>
          <a:lstStyle/>
          <a:p>
            <a:pPr algn="l">
              <a:lnSpc>
                <a:spcPct val="125000"/>
              </a:lnSpc>
              <a:spcAft>
                <a:spcPts val="600"/>
              </a:spcAft>
            </a:pPr>
            <a:r>
              <a:rPr sz="1600" b="0">
                <a:solidFill>
                  <a:srgbClr val="A8ACA1"/>
                </a:solidFill>
                <a:latin typeface="Segoe UI"/>
              </a:rPr>
              <a:t>One tap on the phone. The answer comes from a 30B model running on your own devices.</a:t>
            </a:r>
          </a:p>
        </p:txBody>
      </p:sp>
      <p:sp>
        <p:nvSpPr>
          <p:cNvPr id="6" name="Rectangle 5"/>
          <p:cNvSpPr/>
          <p:nvPr/>
        </p:nvSpPr>
        <p:spPr>
          <a:xfrm>
            <a:off x="566928" y="1975104"/>
            <a:ext cx="11057839" cy="9525"/>
          </a:xfrm>
          <a:prstGeom prst="rect">
            <a:avLst/>
          </a:prstGeom>
          <a:solidFill>
            <a:srgbClr val="2A2F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2340864"/>
            <a:ext cx="2558719" cy="114300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2523744"/>
            <a:ext cx="2119807" cy="274320"/>
          </a:xfrm>
          <a:prstGeom prst="rect">
            <a:avLst/>
          </a:prstGeom>
          <a:noFill/>
        </p:spPr>
        <p:txBody>
          <a:bodyPr wrap="square" anchor="t" lIns="0" rIns="0" tIns="0" bIns="0">
            <a:spAutoFit/>
          </a:bodyPr>
          <a:lstStyle/>
          <a:p>
            <a:pPr algn="l">
              <a:spcAft>
                <a:spcPts val="600"/>
              </a:spcAft>
            </a:pPr>
            <a:r>
              <a:rPr sz="1400" b="1">
                <a:solidFill>
                  <a:srgbClr val="F0EFE9"/>
                </a:solidFill>
                <a:latin typeface="Segoe UI"/>
              </a:rPr>
              <a:t>Your laptop</a:t>
            </a:r>
          </a:p>
        </p:txBody>
      </p:sp>
      <p:sp>
        <p:nvSpPr>
          <p:cNvPr id="9" name="TextBox 8"/>
          <p:cNvSpPr txBox="1"/>
          <p:nvPr/>
        </p:nvSpPr>
        <p:spPr>
          <a:xfrm>
            <a:off x="786384" y="2852928"/>
            <a:ext cx="2119807" cy="457200"/>
          </a:xfrm>
          <a:prstGeom prst="rect">
            <a:avLst/>
          </a:prstGeom>
          <a:noFill/>
        </p:spPr>
        <p:txBody>
          <a:bodyPr wrap="square" anchor="t" lIns="0" rIns="0" tIns="0" bIns="0">
            <a:spAutoFit/>
          </a:bodyPr>
          <a:lstStyle/>
          <a:p>
            <a:pPr algn="l">
              <a:lnSpc>
                <a:spcPct val="125000"/>
              </a:lnSpc>
              <a:spcAft>
                <a:spcPts val="600"/>
              </a:spcAft>
            </a:pPr>
            <a:r>
              <a:rPr sz="1300" b="0">
                <a:solidFill>
                  <a:srgbClr val="A8ACA1"/>
                </a:solidFill>
                <a:latin typeface="Segoe UI"/>
              </a:rPr>
              <a:t>You change a file</a:t>
            </a:r>
          </a:p>
        </p:txBody>
      </p:sp>
      <p:sp>
        <p:nvSpPr>
          <p:cNvPr id="10" name="TextBox 9"/>
          <p:cNvSpPr txBox="1"/>
          <p:nvPr/>
        </p:nvSpPr>
        <p:spPr>
          <a:xfrm>
            <a:off x="3143935" y="2752344"/>
            <a:ext cx="237744" cy="274320"/>
          </a:xfrm>
          <a:prstGeom prst="rect">
            <a:avLst/>
          </a:prstGeom>
          <a:noFill/>
        </p:spPr>
        <p:txBody>
          <a:bodyPr wrap="square" anchor="t" lIns="0" rIns="0" tIns="0" bIns="0">
            <a:spAutoFit/>
          </a:bodyPr>
          <a:lstStyle/>
          <a:p>
            <a:pPr algn="ctr">
              <a:spcAft>
                <a:spcPts val="600"/>
              </a:spcAft>
            </a:pPr>
            <a:r>
              <a:rPr sz="1600" b="0">
                <a:solidFill>
                  <a:srgbClr val="5FD68A"/>
                </a:solidFill>
                <a:latin typeface="Segoe UI"/>
              </a:rPr>
              <a:t>→</a:t>
            </a:r>
          </a:p>
        </p:txBody>
      </p:sp>
      <p:sp>
        <p:nvSpPr>
          <p:cNvPr id="11" name="Rounded Rectangle 10"/>
          <p:cNvSpPr/>
          <p:nvPr/>
        </p:nvSpPr>
        <p:spPr>
          <a:xfrm>
            <a:off x="3399967" y="2340864"/>
            <a:ext cx="2558719" cy="114300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19423" y="2523744"/>
            <a:ext cx="2119807" cy="274320"/>
          </a:xfrm>
          <a:prstGeom prst="rect">
            <a:avLst/>
          </a:prstGeom>
          <a:noFill/>
        </p:spPr>
        <p:txBody>
          <a:bodyPr wrap="square" anchor="t" lIns="0" rIns="0" tIns="0" bIns="0">
            <a:spAutoFit/>
          </a:bodyPr>
          <a:lstStyle/>
          <a:p>
            <a:pPr algn="l">
              <a:spcAft>
                <a:spcPts val="600"/>
              </a:spcAft>
            </a:pPr>
            <a:r>
              <a:rPr sz="1400" b="1">
                <a:solidFill>
                  <a:srgbClr val="F0EFE9"/>
                </a:solidFill>
                <a:latin typeface="Segoe UI"/>
              </a:rPr>
              <a:t>Your phone</a:t>
            </a:r>
          </a:p>
        </p:txBody>
      </p:sp>
      <p:sp>
        <p:nvSpPr>
          <p:cNvPr id="13" name="TextBox 12"/>
          <p:cNvSpPr txBox="1"/>
          <p:nvPr/>
        </p:nvSpPr>
        <p:spPr>
          <a:xfrm>
            <a:off x="3619423" y="2852928"/>
            <a:ext cx="2119807" cy="457200"/>
          </a:xfrm>
          <a:prstGeom prst="rect">
            <a:avLst/>
          </a:prstGeom>
          <a:noFill/>
        </p:spPr>
        <p:txBody>
          <a:bodyPr wrap="square" anchor="t" lIns="0" rIns="0" tIns="0" bIns="0">
            <a:spAutoFit/>
          </a:bodyPr>
          <a:lstStyle/>
          <a:p>
            <a:pPr algn="l">
              <a:lnSpc>
                <a:spcPct val="125000"/>
              </a:lnSpc>
              <a:spcAft>
                <a:spcPts val="600"/>
              </a:spcAft>
            </a:pPr>
            <a:r>
              <a:rPr sz="1300" b="0">
                <a:solidFill>
                  <a:srgbClr val="A8ACA1"/>
                </a:solidFill>
                <a:latin typeface="Segoe UI"/>
              </a:rPr>
              <a:t>Tap: review my changes</a:t>
            </a:r>
          </a:p>
        </p:txBody>
      </p:sp>
      <p:sp>
        <p:nvSpPr>
          <p:cNvPr id="14" name="TextBox 13"/>
          <p:cNvSpPr txBox="1"/>
          <p:nvPr/>
        </p:nvSpPr>
        <p:spPr>
          <a:xfrm>
            <a:off x="5976975" y="2752344"/>
            <a:ext cx="237744" cy="274320"/>
          </a:xfrm>
          <a:prstGeom prst="rect">
            <a:avLst/>
          </a:prstGeom>
          <a:noFill/>
        </p:spPr>
        <p:txBody>
          <a:bodyPr wrap="square" anchor="t" lIns="0" rIns="0" tIns="0" bIns="0">
            <a:spAutoFit/>
          </a:bodyPr>
          <a:lstStyle/>
          <a:p>
            <a:pPr algn="ctr">
              <a:spcAft>
                <a:spcPts val="600"/>
              </a:spcAft>
            </a:pPr>
            <a:r>
              <a:rPr sz="1600" b="0">
                <a:solidFill>
                  <a:srgbClr val="5FD68A"/>
                </a:solidFill>
                <a:latin typeface="Segoe UI"/>
              </a:rPr>
              <a:t>→</a:t>
            </a:r>
          </a:p>
        </p:txBody>
      </p:sp>
      <p:sp>
        <p:nvSpPr>
          <p:cNvPr id="15" name="Rounded Rectangle 14"/>
          <p:cNvSpPr/>
          <p:nvPr/>
        </p:nvSpPr>
        <p:spPr>
          <a:xfrm>
            <a:off x="6233007" y="2340864"/>
            <a:ext cx="2558719" cy="114300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52463" y="2523744"/>
            <a:ext cx="2119807" cy="274320"/>
          </a:xfrm>
          <a:prstGeom prst="rect">
            <a:avLst/>
          </a:prstGeom>
          <a:noFill/>
        </p:spPr>
        <p:txBody>
          <a:bodyPr wrap="square" anchor="t" lIns="0" rIns="0" tIns="0" bIns="0">
            <a:spAutoFit/>
          </a:bodyPr>
          <a:lstStyle/>
          <a:p>
            <a:pPr algn="l">
              <a:spcAft>
                <a:spcPts val="600"/>
              </a:spcAft>
            </a:pPr>
            <a:r>
              <a:rPr sz="1400" b="1">
                <a:solidFill>
                  <a:srgbClr val="F0EFE9"/>
                </a:solidFill>
                <a:latin typeface="Segoe UI"/>
              </a:rPr>
              <a:t>The mesh</a:t>
            </a:r>
          </a:p>
        </p:txBody>
      </p:sp>
      <p:sp>
        <p:nvSpPr>
          <p:cNvPr id="17" name="TextBox 16"/>
          <p:cNvSpPr txBox="1"/>
          <p:nvPr/>
        </p:nvSpPr>
        <p:spPr>
          <a:xfrm>
            <a:off x="6452463" y="2852928"/>
            <a:ext cx="2119807" cy="457200"/>
          </a:xfrm>
          <a:prstGeom prst="rect">
            <a:avLst/>
          </a:prstGeom>
          <a:noFill/>
        </p:spPr>
        <p:txBody>
          <a:bodyPr wrap="square" anchor="t" lIns="0" rIns="0" tIns="0" bIns="0">
            <a:spAutoFit/>
          </a:bodyPr>
          <a:lstStyle/>
          <a:p>
            <a:pPr algn="l">
              <a:lnSpc>
                <a:spcPct val="125000"/>
              </a:lnSpc>
              <a:spcAft>
                <a:spcPts val="600"/>
              </a:spcAft>
            </a:pPr>
            <a:r>
              <a:rPr sz="1300" b="0">
                <a:solidFill>
                  <a:srgbClr val="A8ACA1"/>
                </a:solidFill>
                <a:latin typeface="Segoe UI"/>
              </a:rPr>
              <a:t>30B across three devices</a:t>
            </a:r>
          </a:p>
        </p:txBody>
      </p:sp>
      <p:sp>
        <p:nvSpPr>
          <p:cNvPr id="18" name="TextBox 17"/>
          <p:cNvSpPr txBox="1"/>
          <p:nvPr/>
        </p:nvSpPr>
        <p:spPr>
          <a:xfrm>
            <a:off x="8810015" y="2752344"/>
            <a:ext cx="237744" cy="274320"/>
          </a:xfrm>
          <a:prstGeom prst="rect">
            <a:avLst/>
          </a:prstGeom>
          <a:noFill/>
        </p:spPr>
        <p:txBody>
          <a:bodyPr wrap="square" anchor="t" lIns="0" rIns="0" tIns="0" bIns="0">
            <a:spAutoFit/>
          </a:bodyPr>
          <a:lstStyle/>
          <a:p>
            <a:pPr algn="ctr">
              <a:spcAft>
                <a:spcPts val="600"/>
              </a:spcAft>
            </a:pPr>
            <a:r>
              <a:rPr sz="1600" b="0">
                <a:solidFill>
                  <a:srgbClr val="5FD68A"/>
                </a:solidFill>
                <a:latin typeface="Segoe UI"/>
              </a:rPr>
              <a:t>→</a:t>
            </a:r>
          </a:p>
        </p:txBody>
      </p:sp>
      <p:sp>
        <p:nvSpPr>
          <p:cNvPr id="19" name="Rounded Rectangle 18"/>
          <p:cNvSpPr/>
          <p:nvPr/>
        </p:nvSpPr>
        <p:spPr>
          <a:xfrm>
            <a:off x="9066047" y="2340864"/>
            <a:ext cx="2558719" cy="1143000"/>
          </a:xfrm>
          <a:prstGeom prst="roundRect">
            <a:avLst>
              <a:gd name="adj" fmla="val 4000"/>
            </a:avLst>
          </a:prstGeom>
          <a:solidFill>
            <a:srgbClr val="142E20"/>
          </a:solidFill>
          <a:ln w="9525">
            <a:solidFill>
              <a:srgbClr val="5FD6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85503" y="2523744"/>
            <a:ext cx="2119807" cy="274320"/>
          </a:xfrm>
          <a:prstGeom prst="rect">
            <a:avLst/>
          </a:prstGeom>
          <a:noFill/>
        </p:spPr>
        <p:txBody>
          <a:bodyPr wrap="square" anchor="t" lIns="0" rIns="0" tIns="0" bIns="0">
            <a:spAutoFit/>
          </a:bodyPr>
          <a:lstStyle/>
          <a:p>
            <a:pPr algn="l">
              <a:spcAft>
                <a:spcPts val="600"/>
              </a:spcAft>
            </a:pPr>
            <a:r>
              <a:rPr sz="1400" b="1">
                <a:solidFill>
                  <a:srgbClr val="5FD68A"/>
                </a:solidFill>
                <a:latin typeface="Segoe UI"/>
              </a:rPr>
              <a:t>The review</a:t>
            </a:r>
          </a:p>
        </p:txBody>
      </p:sp>
      <p:sp>
        <p:nvSpPr>
          <p:cNvPr id="21" name="TextBox 20"/>
          <p:cNvSpPr txBox="1"/>
          <p:nvPr/>
        </p:nvSpPr>
        <p:spPr>
          <a:xfrm>
            <a:off x="9285503" y="2852928"/>
            <a:ext cx="2119807" cy="457200"/>
          </a:xfrm>
          <a:prstGeom prst="rect">
            <a:avLst/>
          </a:prstGeom>
          <a:noFill/>
        </p:spPr>
        <p:txBody>
          <a:bodyPr wrap="square" anchor="t" lIns="0" rIns="0" tIns="0" bIns="0">
            <a:spAutoFit/>
          </a:bodyPr>
          <a:lstStyle/>
          <a:p>
            <a:pPr algn="l">
              <a:lnSpc>
                <a:spcPct val="125000"/>
              </a:lnSpc>
              <a:spcAft>
                <a:spcPts val="600"/>
              </a:spcAft>
            </a:pPr>
            <a:r>
              <a:rPr sz="1300" b="0">
                <a:solidFill>
                  <a:srgbClr val="A8ACA1"/>
                </a:solidFill>
                <a:latin typeface="Segoe UI"/>
              </a:rPr>
              <a:t>On your phone, in seconds</a:t>
            </a:r>
          </a:p>
        </p:txBody>
      </p:sp>
      <p:sp>
        <p:nvSpPr>
          <p:cNvPr id="22" name="Rounded Rectangle 21"/>
          <p:cNvSpPr/>
          <p:nvPr/>
        </p:nvSpPr>
        <p:spPr>
          <a:xfrm>
            <a:off x="566928" y="3803904"/>
            <a:ext cx="5391759" cy="201168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41248" y="4041648"/>
            <a:ext cx="4843119"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WHY PEOPLE KEEP IT</a:t>
            </a:r>
          </a:p>
        </p:txBody>
      </p:sp>
      <p:sp>
        <p:nvSpPr>
          <p:cNvPr id="24" name="Rectangle 23"/>
          <p:cNvSpPr/>
          <p:nvPr/>
        </p:nvSpPr>
        <p:spPr>
          <a:xfrm>
            <a:off x="841248" y="4498848"/>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78992" y="4407408"/>
            <a:ext cx="4605375" cy="274320"/>
          </a:xfrm>
          <a:prstGeom prst="rect">
            <a:avLst/>
          </a:prstGeom>
          <a:noFill/>
        </p:spPr>
        <p:txBody>
          <a:bodyPr wrap="square" anchor="t" lIns="0" rIns="0" tIns="0" bIns="0">
            <a:spAutoFit/>
          </a:bodyPr>
          <a:lstStyle/>
          <a:p>
            <a:pPr algn="l">
              <a:spcAft>
                <a:spcPts val="600"/>
              </a:spcAft>
            </a:pPr>
            <a:r>
              <a:rPr sz="1400" b="0">
                <a:solidFill>
                  <a:srgbClr val="F0EFE9"/>
                </a:solidFill>
                <a:latin typeface="Segoe UI"/>
              </a:rPr>
              <a:t>It installs as a git hook, in one command</a:t>
            </a:r>
          </a:p>
        </p:txBody>
      </p:sp>
      <p:sp>
        <p:nvSpPr>
          <p:cNvPr id="26" name="Rectangle 25"/>
          <p:cNvSpPr/>
          <p:nvPr/>
        </p:nvSpPr>
        <p:spPr>
          <a:xfrm>
            <a:off x="841248" y="4882896"/>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78992" y="4791456"/>
            <a:ext cx="4605375" cy="274320"/>
          </a:xfrm>
          <a:prstGeom prst="rect">
            <a:avLst/>
          </a:prstGeom>
          <a:noFill/>
        </p:spPr>
        <p:txBody>
          <a:bodyPr wrap="square" anchor="t" lIns="0" rIns="0" tIns="0" bIns="0">
            <a:spAutoFit/>
          </a:bodyPr>
          <a:lstStyle/>
          <a:p>
            <a:pPr algn="l">
              <a:spcAft>
                <a:spcPts val="600"/>
              </a:spcAft>
            </a:pPr>
            <a:r>
              <a:rPr sz="1400" b="0">
                <a:solidFill>
                  <a:srgbClr val="F0EFE9"/>
                </a:solidFill>
                <a:latin typeface="Segoe UI"/>
              </a:rPr>
              <a:t>Every commit gets read before it lands</a:t>
            </a:r>
          </a:p>
        </p:txBody>
      </p:sp>
      <p:sp>
        <p:nvSpPr>
          <p:cNvPr id="28" name="Rectangle 27"/>
          <p:cNvSpPr/>
          <p:nvPr/>
        </p:nvSpPr>
        <p:spPr>
          <a:xfrm>
            <a:off x="841248" y="5266944"/>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78992" y="5175504"/>
            <a:ext cx="4605375" cy="274320"/>
          </a:xfrm>
          <a:prstGeom prst="rect">
            <a:avLst/>
          </a:prstGeom>
          <a:noFill/>
        </p:spPr>
        <p:txBody>
          <a:bodyPr wrap="square" anchor="t" lIns="0" rIns="0" tIns="0" bIns="0">
            <a:spAutoFit/>
          </a:bodyPr>
          <a:lstStyle/>
          <a:p>
            <a:pPr algn="l">
              <a:spcAft>
                <a:spcPts val="600"/>
              </a:spcAft>
            </a:pPr>
            <a:r>
              <a:rPr sz="1400" b="0">
                <a:solidFill>
                  <a:srgbClr val="F0EFE9"/>
                </a:solidFill>
                <a:latin typeface="Segoe UI"/>
              </a:rPr>
              <a:t>No bill, however many times you run it</a:t>
            </a:r>
          </a:p>
        </p:txBody>
      </p:sp>
      <p:sp>
        <p:nvSpPr>
          <p:cNvPr id="30" name="Rounded Rectangle 29"/>
          <p:cNvSpPr/>
          <p:nvPr/>
        </p:nvSpPr>
        <p:spPr>
          <a:xfrm>
            <a:off x="6233007" y="3803904"/>
            <a:ext cx="5391759" cy="201168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07327" y="4041648"/>
            <a:ext cx="4843119"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AND IT NEVER LEAVES</a:t>
            </a:r>
          </a:p>
        </p:txBody>
      </p:sp>
      <p:sp>
        <p:nvSpPr>
          <p:cNvPr id="32" name="Rectangle 31"/>
          <p:cNvSpPr/>
          <p:nvPr/>
        </p:nvSpPr>
        <p:spPr>
          <a:xfrm>
            <a:off x="6507327" y="4498848"/>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745071" y="4407408"/>
            <a:ext cx="4605375" cy="274320"/>
          </a:xfrm>
          <a:prstGeom prst="rect">
            <a:avLst/>
          </a:prstGeom>
          <a:noFill/>
        </p:spPr>
        <p:txBody>
          <a:bodyPr wrap="square" anchor="t" lIns="0" rIns="0" tIns="0" bIns="0">
            <a:spAutoFit/>
          </a:bodyPr>
          <a:lstStyle/>
          <a:p>
            <a:pPr algn="l">
              <a:spcAft>
                <a:spcPts val="600"/>
              </a:spcAft>
            </a:pPr>
            <a:r>
              <a:rPr sz="1400" b="0">
                <a:solidFill>
                  <a:srgbClr val="F0EFE9"/>
                </a:solidFill>
                <a:latin typeface="Segoe UI"/>
              </a:rPr>
              <a:t>Internet off. No account. No upload</a:t>
            </a:r>
          </a:p>
        </p:txBody>
      </p:sp>
      <p:sp>
        <p:nvSpPr>
          <p:cNvPr id="34" name="Rectangle 33"/>
          <p:cNvSpPr/>
          <p:nvPr/>
        </p:nvSpPr>
        <p:spPr>
          <a:xfrm>
            <a:off x="6507327" y="4882896"/>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45071" y="4791456"/>
            <a:ext cx="4605375" cy="274320"/>
          </a:xfrm>
          <a:prstGeom prst="rect">
            <a:avLst/>
          </a:prstGeom>
          <a:noFill/>
        </p:spPr>
        <p:txBody>
          <a:bodyPr wrap="square" anchor="t" lIns="0" rIns="0" tIns="0" bIns="0">
            <a:spAutoFit/>
          </a:bodyPr>
          <a:lstStyle/>
          <a:p>
            <a:pPr algn="l">
              <a:spcAft>
                <a:spcPts val="600"/>
              </a:spcAft>
            </a:pPr>
            <a:r>
              <a:rPr sz="1400" b="0">
                <a:solidFill>
                  <a:srgbClr val="F0EFE9"/>
                </a:solidFill>
                <a:latin typeface="Segoe UI"/>
              </a:rPr>
              <a:t>The code stays on the desk it was written on</a:t>
            </a:r>
          </a:p>
        </p:txBody>
      </p:sp>
      <p:sp>
        <p:nvSpPr>
          <p:cNvPr id="36" name="Rectangle 35"/>
          <p:cNvSpPr/>
          <p:nvPr/>
        </p:nvSpPr>
        <p:spPr>
          <a:xfrm>
            <a:off x="6507327" y="5266944"/>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745071" y="5175504"/>
            <a:ext cx="4605375" cy="274320"/>
          </a:xfrm>
          <a:prstGeom prst="rect">
            <a:avLst/>
          </a:prstGeom>
          <a:noFill/>
        </p:spPr>
        <p:txBody>
          <a:bodyPr wrap="square" anchor="t" lIns="0" rIns="0" tIns="0" bIns="0">
            <a:spAutoFit/>
          </a:bodyPr>
          <a:lstStyle/>
          <a:p>
            <a:pPr algn="l">
              <a:spcAft>
                <a:spcPts val="600"/>
              </a:spcAft>
            </a:pPr>
            <a:r>
              <a:rPr sz="1400" b="0">
                <a:solidFill>
                  <a:srgbClr val="F0EFE9"/>
                </a:solidFill>
                <a:latin typeface="Segoe UI"/>
              </a:rPr>
              <a:t>Also: review a file, or write its tests</a:t>
            </a:r>
          </a:p>
        </p:txBody>
      </p:sp>
      <p:sp>
        <p:nvSpPr>
          <p:cNvPr id="38" name="TextBox 37"/>
          <p:cNvSpPr txBox="1"/>
          <p:nvPr/>
        </p:nvSpPr>
        <p:spPr>
          <a:xfrm>
            <a:off x="566928" y="6291072"/>
            <a:ext cx="6400800"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MeshAI</a:t>
            </a:r>
          </a:p>
        </p:txBody>
      </p:sp>
      <p:sp>
        <p:nvSpPr>
          <p:cNvPr id="39" name="TextBox 38"/>
          <p:cNvSpPr txBox="1"/>
          <p:nvPr/>
        </p:nvSpPr>
        <p:spPr>
          <a:xfrm>
            <a:off x="5223967" y="6291072"/>
            <a:ext cx="6400800" cy="274320"/>
          </a:xfrm>
          <a:prstGeom prst="rect">
            <a:avLst/>
          </a:prstGeom>
          <a:noFill/>
        </p:spPr>
        <p:txBody>
          <a:bodyPr wrap="square" anchor="t" lIns="0" rIns="0" tIns="0" bIns="0">
            <a:spAutoFit/>
          </a:bodyPr>
          <a:lstStyle/>
          <a:p>
            <a:pPr algn="r">
              <a:spcAft>
                <a:spcPts val="600"/>
              </a:spcAft>
            </a:pPr>
            <a:r>
              <a:rPr sz="1100" b="0">
                <a:solidFill>
                  <a:srgbClr val="71766C"/>
                </a:solidFill>
                <a:latin typeface="Consolas"/>
              </a:rPr>
              <a:t>mesh review · mesh tests · mesh diff · git pre-commit hook</a:t>
            </a:r>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800">
        <p159:morph option="byObject"/>
      </p:transition>
    </mc:Choice>
    <mc:Fallback>
      <p:transition spd="slow">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C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20624"/>
            <a:ext cx="11057839" cy="274320"/>
          </a:xfrm>
          <a:prstGeom prst="rect">
            <a:avLst/>
          </a:prstGeom>
          <a:noFill/>
        </p:spPr>
        <p:txBody>
          <a:bodyPr wrap="square" anchor="t" lIns="0" rIns="0" tIns="0" bIns="0">
            <a:spAutoFit/>
          </a:bodyPr>
          <a:lstStyle/>
          <a:p>
            <a:pPr algn="l">
              <a:spcAft>
                <a:spcPts val="600"/>
              </a:spcAft>
            </a:pPr>
            <a:r>
              <a:rPr sz="1200" b="0">
                <a:solidFill>
                  <a:srgbClr val="71766C"/>
                </a:solidFill>
                <a:latin typeface="Consolas"/>
              </a:rPr>
              <a:t>08 · PROOF</a:t>
            </a:r>
          </a:p>
        </p:txBody>
      </p:sp>
      <p:sp>
        <p:nvSpPr>
          <p:cNvPr id="4" name="TextBox 3"/>
          <p:cNvSpPr txBox="1"/>
          <p:nvPr/>
        </p:nvSpPr>
        <p:spPr>
          <a:xfrm>
            <a:off x="566928" y="713232"/>
            <a:ext cx="11057839" cy="731520"/>
          </a:xfrm>
          <a:prstGeom prst="rect">
            <a:avLst/>
          </a:prstGeom>
          <a:noFill/>
        </p:spPr>
        <p:txBody>
          <a:bodyPr wrap="square" anchor="t" lIns="0" rIns="0" tIns="0" bIns="0">
            <a:spAutoFit/>
          </a:bodyPr>
          <a:lstStyle/>
          <a:p>
            <a:pPr algn="l">
              <a:spcAft>
                <a:spcPts val="600"/>
              </a:spcAft>
            </a:pPr>
            <a:r>
              <a:rPr sz="4000" b="1">
                <a:solidFill>
                  <a:srgbClr val="F0EFE9"/>
                </a:solidFill>
                <a:latin typeface="Segoe UI"/>
              </a:rPr>
              <a:t>We measured it. We did not guess.</a:t>
            </a:r>
          </a:p>
        </p:txBody>
      </p:sp>
      <p:sp>
        <p:nvSpPr>
          <p:cNvPr id="5" name="TextBox 4"/>
          <p:cNvSpPr txBox="1"/>
          <p:nvPr/>
        </p:nvSpPr>
        <p:spPr>
          <a:xfrm>
            <a:off x="566928" y="1481328"/>
            <a:ext cx="8778240" cy="548640"/>
          </a:xfrm>
          <a:prstGeom prst="rect">
            <a:avLst/>
          </a:prstGeom>
          <a:noFill/>
        </p:spPr>
        <p:txBody>
          <a:bodyPr wrap="square" anchor="t" lIns="0" rIns="0" tIns="0" bIns="0">
            <a:spAutoFit/>
          </a:bodyPr>
          <a:lstStyle/>
          <a:p>
            <a:pPr algn="l">
              <a:lnSpc>
                <a:spcPct val="125000"/>
              </a:lnSpc>
              <a:spcAft>
                <a:spcPts val="600"/>
              </a:spcAft>
            </a:pPr>
            <a:r>
              <a:rPr sz="1600" b="0">
                <a:solidFill>
                  <a:srgbClr val="A8ACA1"/>
                </a:solidFill>
                <a:latin typeface="Segoe UI"/>
              </a:rPr>
              <a:t>Same 15 coding problems for every setup. We ran each answer against its own tests. Right or wrong, nothing in between.</a:t>
            </a:r>
          </a:p>
        </p:txBody>
      </p:sp>
      <p:sp>
        <p:nvSpPr>
          <p:cNvPr id="6" name="Rectangle 5"/>
          <p:cNvSpPr/>
          <p:nvPr/>
        </p:nvSpPr>
        <p:spPr>
          <a:xfrm>
            <a:off x="566928" y="1975104"/>
            <a:ext cx="11057839" cy="9525"/>
          </a:xfrm>
          <a:prstGeom prst="rect">
            <a:avLst/>
          </a:prstGeom>
          <a:solidFill>
            <a:srgbClr val="2A2F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2249424"/>
            <a:ext cx="6038770" cy="301752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252728" y="4398264"/>
            <a:ext cx="1371600" cy="365760"/>
          </a:xfrm>
          <a:prstGeom prst="roundRect">
            <a:avLst>
              <a:gd name="adj" fmla="val 18000"/>
            </a:avLst>
          </a:prstGeom>
          <a:solidFill>
            <a:srgbClr val="2A2F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52728" y="4069080"/>
            <a:ext cx="1371600" cy="274320"/>
          </a:xfrm>
          <a:prstGeom prst="rect">
            <a:avLst/>
          </a:prstGeom>
          <a:noFill/>
        </p:spPr>
        <p:txBody>
          <a:bodyPr wrap="square" anchor="t" lIns="0" rIns="0" tIns="0" bIns="0">
            <a:spAutoFit/>
          </a:bodyPr>
          <a:lstStyle/>
          <a:p>
            <a:pPr algn="ctr">
              <a:spcAft>
                <a:spcPts val="600"/>
              </a:spcAft>
            </a:pPr>
            <a:r>
              <a:rPr sz="2000" b="1">
                <a:solidFill>
                  <a:srgbClr val="71766C"/>
                </a:solidFill>
                <a:latin typeface="Consolas"/>
              </a:rPr>
              <a:t>13%</a:t>
            </a:r>
          </a:p>
        </p:txBody>
      </p:sp>
      <p:sp>
        <p:nvSpPr>
          <p:cNvPr id="10" name="TextBox 9"/>
          <p:cNvSpPr txBox="1"/>
          <p:nvPr/>
        </p:nvSpPr>
        <p:spPr>
          <a:xfrm>
            <a:off x="1252728" y="4855464"/>
            <a:ext cx="1371600" cy="548640"/>
          </a:xfrm>
          <a:prstGeom prst="rect">
            <a:avLst/>
          </a:prstGeom>
          <a:noFill/>
        </p:spPr>
        <p:txBody>
          <a:bodyPr wrap="square" anchor="t" lIns="0" rIns="0" tIns="0" bIns="0">
            <a:spAutoFit/>
          </a:bodyPr>
          <a:lstStyle/>
          <a:p>
            <a:pPr algn="ctr">
              <a:lnSpc>
                <a:spcPct val="130000"/>
              </a:lnSpc>
              <a:spcAft>
                <a:spcPts val="600"/>
              </a:spcAft>
            </a:pPr>
            <a:r>
              <a:rPr sz="1100" b="0">
                <a:solidFill>
                  <a:srgbClr val="71766C"/>
                </a:solidFill>
                <a:latin typeface="Consolas"/>
              </a:rPr>
              <a:t>laptop alone, 0.6B
2 of 15</a:t>
            </a:r>
          </a:p>
        </p:txBody>
      </p:sp>
      <p:sp>
        <p:nvSpPr>
          <p:cNvPr id="11" name="TextBox 10"/>
          <p:cNvSpPr txBox="1"/>
          <p:nvPr/>
        </p:nvSpPr>
        <p:spPr>
          <a:xfrm>
            <a:off x="1252728" y="5330952"/>
            <a:ext cx="1371600" cy="274320"/>
          </a:xfrm>
          <a:prstGeom prst="rect">
            <a:avLst/>
          </a:prstGeom>
          <a:noFill/>
        </p:spPr>
        <p:txBody>
          <a:bodyPr wrap="square" anchor="t" lIns="0" rIns="0" tIns="0" bIns="0">
            <a:spAutoFit/>
          </a:bodyPr>
          <a:lstStyle/>
          <a:p>
            <a:pPr algn="ctr">
              <a:spcAft>
                <a:spcPts val="600"/>
              </a:spcAft>
            </a:pPr>
            <a:r>
              <a:rPr sz="1100" b="0">
                <a:solidFill>
                  <a:srgbClr val="A8ACA1"/>
                </a:solidFill>
                <a:latin typeface="Consolas"/>
              </a:rPr>
              <a:t>20.9 tok/s</a:t>
            </a:r>
          </a:p>
        </p:txBody>
      </p:sp>
      <p:sp>
        <p:nvSpPr>
          <p:cNvPr id="12" name="Rounded Rectangle 11"/>
          <p:cNvSpPr/>
          <p:nvPr/>
        </p:nvSpPr>
        <p:spPr>
          <a:xfrm>
            <a:off x="3172968" y="3438144"/>
            <a:ext cx="1371600" cy="1325880"/>
          </a:xfrm>
          <a:prstGeom prst="roundRect">
            <a:avLst>
              <a:gd name="adj" fmla="val 18000"/>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72968" y="3108960"/>
            <a:ext cx="1371600" cy="274320"/>
          </a:xfrm>
          <a:prstGeom prst="rect">
            <a:avLst/>
          </a:prstGeom>
          <a:noFill/>
        </p:spPr>
        <p:txBody>
          <a:bodyPr wrap="square" anchor="t" lIns="0" rIns="0" tIns="0" bIns="0">
            <a:spAutoFit/>
          </a:bodyPr>
          <a:lstStyle/>
          <a:p>
            <a:pPr algn="ctr">
              <a:spcAft>
                <a:spcPts val="600"/>
              </a:spcAft>
            </a:pPr>
            <a:r>
              <a:rPr sz="2000" b="1">
                <a:solidFill>
                  <a:srgbClr val="5FD68A"/>
                </a:solidFill>
                <a:latin typeface="Consolas"/>
              </a:rPr>
              <a:t>47%</a:t>
            </a:r>
          </a:p>
        </p:txBody>
      </p:sp>
      <p:sp>
        <p:nvSpPr>
          <p:cNvPr id="14" name="TextBox 13"/>
          <p:cNvSpPr txBox="1"/>
          <p:nvPr/>
        </p:nvSpPr>
        <p:spPr>
          <a:xfrm>
            <a:off x="3172968" y="4855464"/>
            <a:ext cx="1371600" cy="548640"/>
          </a:xfrm>
          <a:prstGeom prst="rect">
            <a:avLst/>
          </a:prstGeom>
          <a:noFill/>
        </p:spPr>
        <p:txBody>
          <a:bodyPr wrap="square" anchor="t" lIns="0" rIns="0" tIns="0" bIns="0">
            <a:spAutoFit/>
          </a:bodyPr>
          <a:lstStyle/>
          <a:p>
            <a:pPr algn="ctr">
              <a:lnSpc>
                <a:spcPct val="130000"/>
              </a:lnSpc>
              <a:spcAft>
                <a:spcPts val="600"/>
              </a:spcAft>
            </a:pPr>
            <a:r>
              <a:rPr sz="1100" b="0">
                <a:solidFill>
                  <a:srgbClr val="71766C"/>
                </a:solidFill>
                <a:latin typeface="Consolas"/>
              </a:rPr>
              <a:t>laptop alone, 1.7B
7 of 15</a:t>
            </a:r>
          </a:p>
        </p:txBody>
      </p:sp>
      <p:sp>
        <p:nvSpPr>
          <p:cNvPr id="15" name="TextBox 14"/>
          <p:cNvSpPr txBox="1"/>
          <p:nvPr/>
        </p:nvSpPr>
        <p:spPr>
          <a:xfrm>
            <a:off x="3172968" y="5330952"/>
            <a:ext cx="1371600" cy="274320"/>
          </a:xfrm>
          <a:prstGeom prst="rect">
            <a:avLst/>
          </a:prstGeom>
          <a:noFill/>
        </p:spPr>
        <p:txBody>
          <a:bodyPr wrap="square" anchor="t" lIns="0" rIns="0" tIns="0" bIns="0">
            <a:spAutoFit/>
          </a:bodyPr>
          <a:lstStyle/>
          <a:p>
            <a:pPr algn="ctr">
              <a:spcAft>
                <a:spcPts val="600"/>
              </a:spcAft>
            </a:pPr>
            <a:r>
              <a:rPr sz="1100" b="0">
                <a:solidFill>
                  <a:srgbClr val="A8ACA1"/>
                </a:solidFill>
                <a:latin typeface="Consolas"/>
              </a:rPr>
              <a:t>8.6 tok/s</a:t>
            </a:r>
          </a:p>
        </p:txBody>
      </p:sp>
      <p:sp>
        <p:nvSpPr>
          <p:cNvPr id="16" name="Rounded Rectangle 15"/>
          <p:cNvSpPr/>
          <p:nvPr/>
        </p:nvSpPr>
        <p:spPr>
          <a:xfrm>
            <a:off x="5093208" y="3438144"/>
            <a:ext cx="1371600" cy="1325880"/>
          </a:xfrm>
          <a:prstGeom prst="roundRect">
            <a:avLst>
              <a:gd name="adj" fmla="val 18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93208" y="3108960"/>
            <a:ext cx="1371600" cy="274320"/>
          </a:xfrm>
          <a:prstGeom prst="rect">
            <a:avLst/>
          </a:prstGeom>
          <a:noFill/>
        </p:spPr>
        <p:txBody>
          <a:bodyPr wrap="square" anchor="t" lIns="0" rIns="0" tIns="0" bIns="0">
            <a:spAutoFit/>
          </a:bodyPr>
          <a:lstStyle/>
          <a:p>
            <a:pPr algn="ctr">
              <a:spcAft>
                <a:spcPts val="600"/>
              </a:spcAft>
            </a:pPr>
            <a:r>
              <a:rPr sz="2000" b="1">
                <a:solidFill>
                  <a:srgbClr val="A78BFA"/>
                </a:solidFill>
                <a:latin typeface="Consolas"/>
              </a:rPr>
              <a:t>47%</a:t>
            </a:r>
          </a:p>
        </p:txBody>
      </p:sp>
      <p:sp>
        <p:nvSpPr>
          <p:cNvPr id="18" name="TextBox 17"/>
          <p:cNvSpPr txBox="1"/>
          <p:nvPr/>
        </p:nvSpPr>
        <p:spPr>
          <a:xfrm>
            <a:off x="5093208" y="4855464"/>
            <a:ext cx="1371600" cy="548640"/>
          </a:xfrm>
          <a:prstGeom prst="rect">
            <a:avLst/>
          </a:prstGeom>
          <a:noFill/>
        </p:spPr>
        <p:txBody>
          <a:bodyPr wrap="square" anchor="t" lIns="0" rIns="0" tIns="0" bIns="0">
            <a:spAutoFit/>
          </a:bodyPr>
          <a:lstStyle/>
          <a:p>
            <a:pPr algn="ctr">
              <a:lnSpc>
                <a:spcPct val="130000"/>
              </a:lnSpc>
              <a:spcAft>
                <a:spcPts val="600"/>
              </a:spcAft>
            </a:pPr>
            <a:r>
              <a:rPr sz="1100" b="0">
                <a:solidFill>
                  <a:srgbClr val="71766C"/>
                </a:solidFill>
                <a:latin typeface="Consolas"/>
              </a:rPr>
              <a:t>split over two, 1.7B
7 of 15</a:t>
            </a:r>
          </a:p>
        </p:txBody>
      </p:sp>
      <p:sp>
        <p:nvSpPr>
          <p:cNvPr id="19" name="TextBox 18"/>
          <p:cNvSpPr txBox="1"/>
          <p:nvPr/>
        </p:nvSpPr>
        <p:spPr>
          <a:xfrm>
            <a:off x="5093208" y="5330952"/>
            <a:ext cx="1371600" cy="274320"/>
          </a:xfrm>
          <a:prstGeom prst="rect">
            <a:avLst/>
          </a:prstGeom>
          <a:noFill/>
        </p:spPr>
        <p:txBody>
          <a:bodyPr wrap="square" anchor="t" lIns="0" rIns="0" tIns="0" bIns="0">
            <a:spAutoFit/>
          </a:bodyPr>
          <a:lstStyle/>
          <a:p>
            <a:pPr algn="ctr">
              <a:spcAft>
                <a:spcPts val="600"/>
              </a:spcAft>
            </a:pPr>
            <a:r>
              <a:rPr sz="1100" b="0">
                <a:solidFill>
                  <a:srgbClr val="A8ACA1"/>
                </a:solidFill>
                <a:latin typeface="Consolas"/>
              </a:rPr>
              <a:t>7.4 tok/s</a:t>
            </a:r>
          </a:p>
        </p:txBody>
      </p:sp>
      <p:sp>
        <p:nvSpPr>
          <p:cNvPr id="20" name="Rounded Rectangle 19"/>
          <p:cNvSpPr/>
          <p:nvPr/>
        </p:nvSpPr>
        <p:spPr>
          <a:xfrm>
            <a:off x="6880018" y="2249424"/>
            <a:ext cx="4744748" cy="301752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154338" y="2487168"/>
            <a:ext cx="4114800"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WHAT THIS SHOWS</a:t>
            </a:r>
          </a:p>
        </p:txBody>
      </p:sp>
      <p:sp>
        <p:nvSpPr>
          <p:cNvPr id="22" name="Rectangle 21"/>
          <p:cNvSpPr/>
          <p:nvPr/>
        </p:nvSpPr>
        <p:spPr>
          <a:xfrm>
            <a:off x="7154338" y="2980944"/>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92082" y="2889504"/>
            <a:ext cx="3958364" cy="274320"/>
          </a:xfrm>
          <a:prstGeom prst="rect">
            <a:avLst/>
          </a:prstGeom>
          <a:noFill/>
        </p:spPr>
        <p:txBody>
          <a:bodyPr wrap="square" anchor="t" lIns="0" rIns="0" tIns="0" bIns="0">
            <a:spAutoFit/>
          </a:bodyPr>
          <a:lstStyle/>
          <a:p>
            <a:pPr algn="l">
              <a:spcAft>
                <a:spcPts val="600"/>
              </a:spcAft>
            </a:pPr>
            <a:r>
              <a:rPr sz="1500" b="0">
                <a:solidFill>
                  <a:srgbClr val="F0EFE9"/>
                </a:solidFill>
                <a:latin typeface="Segoe UI"/>
              </a:rPr>
              <a:t>A bigger model is three times better</a:t>
            </a:r>
          </a:p>
        </p:txBody>
      </p:sp>
      <p:sp>
        <p:nvSpPr>
          <p:cNvPr id="24" name="TextBox 23"/>
          <p:cNvSpPr txBox="1"/>
          <p:nvPr/>
        </p:nvSpPr>
        <p:spPr>
          <a:xfrm>
            <a:off x="7392082" y="3099816"/>
            <a:ext cx="3958364" cy="228600"/>
          </a:xfrm>
          <a:prstGeom prst="rect">
            <a:avLst/>
          </a:prstGeom>
          <a:noFill/>
        </p:spPr>
        <p:txBody>
          <a:bodyPr wrap="square" anchor="t" lIns="0" rIns="0" tIns="0" bIns="0">
            <a:spAutoFit/>
          </a:bodyPr>
          <a:lstStyle/>
          <a:p>
            <a:pPr algn="l">
              <a:spcAft>
                <a:spcPts val="600"/>
              </a:spcAft>
            </a:pPr>
            <a:r>
              <a:rPr sz="1200" b="0">
                <a:solidFill>
                  <a:srgbClr val="71766C"/>
                </a:solidFill>
                <a:latin typeface="Segoe UI"/>
              </a:rPr>
              <a:t>13% becomes 47% on the same problems</a:t>
            </a:r>
          </a:p>
        </p:txBody>
      </p:sp>
      <p:sp>
        <p:nvSpPr>
          <p:cNvPr id="25" name="Rectangle 24"/>
          <p:cNvSpPr/>
          <p:nvPr/>
        </p:nvSpPr>
        <p:spPr>
          <a:xfrm>
            <a:off x="7154338" y="3547872"/>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92082" y="3456432"/>
            <a:ext cx="3958364" cy="274320"/>
          </a:xfrm>
          <a:prstGeom prst="rect">
            <a:avLst/>
          </a:prstGeom>
          <a:noFill/>
        </p:spPr>
        <p:txBody>
          <a:bodyPr wrap="square" anchor="t" lIns="0" rIns="0" tIns="0" bIns="0">
            <a:spAutoFit/>
          </a:bodyPr>
          <a:lstStyle/>
          <a:p>
            <a:pPr algn="l">
              <a:spcAft>
                <a:spcPts val="600"/>
              </a:spcAft>
            </a:pPr>
            <a:r>
              <a:rPr sz="1500" b="0">
                <a:solidFill>
                  <a:srgbClr val="F0EFE9"/>
                </a:solidFill>
                <a:latin typeface="Segoe UI"/>
              </a:rPr>
              <a:t>Splitting costs a little speed</a:t>
            </a:r>
          </a:p>
        </p:txBody>
      </p:sp>
      <p:sp>
        <p:nvSpPr>
          <p:cNvPr id="27" name="TextBox 26"/>
          <p:cNvSpPr txBox="1"/>
          <p:nvPr/>
        </p:nvSpPr>
        <p:spPr>
          <a:xfrm>
            <a:off x="7392082" y="3666744"/>
            <a:ext cx="3958364" cy="228600"/>
          </a:xfrm>
          <a:prstGeom prst="rect">
            <a:avLst/>
          </a:prstGeom>
          <a:noFill/>
        </p:spPr>
        <p:txBody>
          <a:bodyPr wrap="square" anchor="t" lIns="0" rIns="0" tIns="0" bIns="0">
            <a:spAutoFit/>
          </a:bodyPr>
          <a:lstStyle/>
          <a:p>
            <a:pPr algn="l">
              <a:spcAft>
                <a:spcPts val="600"/>
              </a:spcAft>
            </a:pPr>
            <a:r>
              <a:rPr sz="1200" b="0">
                <a:solidFill>
                  <a:srgbClr val="71766C"/>
                </a:solidFill>
                <a:latin typeface="Segoe UI"/>
              </a:rPr>
              <a:t>8.6 becomes 7.4 words a second</a:t>
            </a:r>
          </a:p>
        </p:txBody>
      </p:sp>
      <p:sp>
        <p:nvSpPr>
          <p:cNvPr id="28" name="Rectangle 27"/>
          <p:cNvSpPr/>
          <p:nvPr/>
        </p:nvSpPr>
        <p:spPr>
          <a:xfrm>
            <a:off x="7154338" y="4114800"/>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92082" y="4023360"/>
            <a:ext cx="3958364" cy="274320"/>
          </a:xfrm>
          <a:prstGeom prst="rect">
            <a:avLst/>
          </a:prstGeom>
          <a:noFill/>
        </p:spPr>
        <p:txBody>
          <a:bodyPr wrap="square" anchor="t" lIns="0" rIns="0" tIns="0" bIns="0">
            <a:spAutoFit/>
          </a:bodyPr>
          <a:lstStyle/>
          <a:p>
            <a:pPr algn="l">
              <a:spcAft>
                <a:spcPts val="600"/>
              </a:spcAft>
            </a:pPr>
            <a:r>
              <a:rPr sz="1500" b="0">
                <a:solidFill>
                  <a:srgbClr val="F0EFE9"/>
                </a:solidFill>
                <a:latin typeface="Segoe UI"/>
              </a:rPr>
              <a:t>Splitting does not change the answers</a:t>
            </a:r>
          </a:p>
        </p:txBody>
      </p:sp>
      <p:sp>
        <p:nvSpPr>
          <p:cNvPr id="30" name="TextBox 29"/>
          <p:cNvSpPr txBox="1"/>
          <p:nvPr/>
        </p:nvSpPr>
        <p:spPr>
          <a:xfrm>
            <a:off x="7392082" y="4233672"/>
            <a:ext cx="3958364" cy="228600"/>
          </a:xfrm>
          <a:prstGeom prst="rect">
            <a:avLst/>
          </a:prstGeom>
          <a:noFill/>
        </p:spPr>
        <p:txBody>
          <a:bodyPr wrap="square" anchor="t" lIns="0" rIns="0" tIns="0" bIns="0">
            <a:spAutoFit/>
          </a:bodyPr>
          <a:lstStyle/>
          <a:p>
            <a:pPr algn="l">
              <a:spcAft>
                <a:spcPts val="600"/>
              </a:spcAft>
            </a:pPr>
            <a:r>
              <a:rPr sz="1200" b="0">
                <a:solidFill>
                  <a:srgbClr val="71766C"/>
                </a:solidFill>
                <a:latin typeface="Segoe UI"/>
              </a:rPr>
              <a:t>the split got the same 8 wrong as the single device</a:t>
            </a:r>
          </a:p>
        </p:txBody>
      </p:sp>
      <p:sp>
        <p:nvSpPr>
          <p:cNvPr id="31" name="TextBox 30"/>
          <p:cNvSpPr txBox="1"/>
          <p:nvPr/>
        </p:nvSpPr>
        <p:spPr>
          <a:xfrm>
            <a:off x="7154338" y="4626864"/>
            <a:ext cx="4196108" cy="548640"/>
          </a:xfrm>
          <a:prstGeom prst="rect">
            <a:avLst/>
          </a:prstGeom>
          <a:noFill/>
        </p:spPr>
        <p:txBody>
          <a:bodyPr wrap="square" anchor="t" lIns="0" rIns="0" tIns="0" bIns="0">
            <a:spAutoFit/>
          </a:bodyPr>
          <a:lstStyle/>
          <a:p>
            <a:pPr algn="l">
              <a:lnSpc>
                <a:spcPct val="130000"/>
              </a:lnSpc>
              <a:spcAft>
                <a:spcPts val="600"/>
              </a:spcAft>
            </a:pPr>
            <a:r>
              <a:rPr sz="1600" b="0">
                <a:solidFill>
                  <a:srgbClr val="5FD68A"/>
                </a:solidFill>
                <a:latin typeface="Segoe UI"/>
              </a:rPr>
              <a:t>Speed drops a little. Accuracy jumps a lot. That is the trade.</a:t>
            </a:r>
          </a:p>
        </p:txBody>
      </p:sp>
      <p:sp>
        <p:nvSpPr>
          <p:cNvPr id="32" name="TextBox 31"/>
          <p:cNvSpPr txBox="1"/>
          <p:nvPr/>
        </p:nvSpPr>
        <p:spPr>
          <a:xfrm>
            <a:off x="566928" y="6291072"/>
            <a:ext cx="6400800"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MeshAI</a:t>
            </a:r>
          </a:p>
        </p:txBody>
      </p:sp>
      <p:sp>
        <p:nvSpPr>
          <p:cNvPr id="33" name="TextBox 32"/>
          <p:cNvSpPr txBox="1"/>
          <p:nvPr/>
        </p:nvSpPr>
        <p:spPr>
          <a:xfrm>
            <a:off x="5223967" y="6291072"/>
            <a:ext cx="6400800" cy="274320"/>
          </a:xfrm>
          <a:prstGeom prst="rect">
            <a:avLst/>
          </a:prstGeom>
          <a:noFill/>
        </p:spPr>
        <p:txBody>
          <a:bodyPr wrap="square" anchor="t" lIns="0" rIns="0" tIns="0" bIns="0">
            <a:spAutoFit/>
          </a:bodyPr>
          <a:lstStyle/>
          <a:p>
            <a:pPr algn="r">
              <a:spcAft>
                <a:spcPts val="600"/>
              </a:spcAft>
            </a:pPr>
            <a:r>
              <a:rPr sz="1100" b="0">
                <a:solidFill>
                  <a:srgbClr val="71766C"/>
                </a:solidFill>
                <a:latin typeface="Consolas"/>
              </a:rPr>
              <a:t>one button in the app runs this · results/REPORT.md</a:t>
            </a:r>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800">
        <p159:morph option="byObject"/>
      </p:transition>
    </mc:Choice>
    <mc:Fallback>
      <p:transition spd="slow">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C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20624"/>
            <a:ext cx="11057839" cy="274320"/>
          </a:xfrm>
          <a:prstGeom prst="rect">
            <a:avLst/>
          </a:prstGeom>
          <a:noFill/>
        </p:spPr>
        <p:txBody>
          <a:bodyPr wrap="square" anchor="t" lIns="0" rIns="0" tIns="0" bIns="0">
            <a:spAutoFit/>
          </a:bodyPr>
          <a:lstStyle/>
          <a:p>
            <a:pPr algn="l">
              <a:spcAft>
                <a:spcPts val="600"/>
              </a:spcAft>
            </a:pPr>
            <a:r>
              <a:rPr sz="1200" b="0">
                <a:solidFill>
                  <a:srgbClr val="71766C"/>
                </a:solidFill>
                <a:latin typeface="Consolas"/>
              </a:rPr>
              <a:t>09 · WHAT EXISTS TODAY</a:t>
            </a:r>
          </a:p>
        </p:txBody>
      </p:sp>
      <p:sp>
        <p:nvSpPr>
          <p:cNvPr id="4" name="TextBox 3"/>
          <p:cNvSpPr txBox="1"/>
          <p:nvPr/>
        </p:nvSpPr>
        <p:spPr>
          <a:xfrm>
            <a:off x="566928" y="713232"/>
            <a:ext cx="11057839" cy="731520"/>
          </a:xfrm>
          <a:prstGeom prst="rect">
            <a:avLst/>
          </a:prstGeom>
          <a:noFill/>
        </p:spPr>
        <p:txBody>
          <a:bodyPr wrap="square" anchor="t" lIns="0" rIns="0" tIns="0" bIns="0">
            <a:spAutoFit/>
          </a:bodyPr>
          <a:lstStyle/>
          <a:p>
            <a:pPr algn="l">
              <a:spcAft>
                <a:spcPts val="600"/>
              </a:spcAft>
            </a:pPr>
            <a:r>
              <a:rPr sz="4000" b="1">
                <a:solidFill>
                  <a:srgbClr val="F0EFE9"/>
                </a:solidFill>
                <a:latin typeface="Segoe UI"/>
              </a:rPr>
              <a:t>Nobody else pools phone memory.</a:t>
            </a:r>
          </a:p>
        </p:txBody>
      </p:sp>
      <p:sp>
        <p:nvSpPr>
          <p:cNvPr id="5" name="Rectangle 4"/>
          <p:cNvSpPr/>
          <p:nvPr/>
        </p:nvSpPr>
        <p:spPr>
          <a:xfrm>
            <a:off x="566928" y="1481328"/>
            <a:ext cx="11057839" cy="9525"/>
          </a:xfrm>
          <a:prstGeom prst="rect">
            <a:avLst/>
          </a:prstGeom>
          <a:solidFill>
            <a:srgbClr val="2A2F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755648"/>
            <a:ext cx="2377440"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SYSTEM</a:t>
            </a:r>
          </a:p>
        </p:txBody>
      </p:sp>
      <p:sp>
        <p:nvSpPr>
          <p:cNvPr id="7" name="TextBox 6"/>
          <p:cNvSpPr txBox="1"/>
          <p:nvPr/>
        </p:nvSpPr>
        <p:spPr>
          <a:xfrm>
            <a:off x="3218688" y="1755648"/>
            <a:ext cx="4572000"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WHAT IT DOES</a:t>
            </a:r>
          </a:p>
        </p:txBody>
      </p:sp>
      <p:sp>
        <p:nvSpPr>
          <p:cNvPr id="8" name="TextBox 7"/>
          <p:cNvSpPr txBox="1"/>
          <p:nvPr/>
        </p:nvSpPr>
        <p:spPr>
          <a:xfrm>
            <a:off x="8065007" y="1755648"/>
            <a:ext cx="3657600"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WHAT IT LEAVES TO YOU</a:t>
            </a:r>
          </a:p>
        </p:txBody>
      </p:sp>
      <p:sp>
        <p:nvSpPr>
          <p:cNvPr id="9" name="TextBox 8"/>
          <p:cNvSpPr txBox="1"/>
          <p:nvPr/>
        </p:nvSpPr>
        <p:spPr>
          <a:xfrm>
            <a:off x="566928" y="2139696"/>
            <a:ext cx="2560320" cy="274320"/>
          </a:xfrm>
          <a:prstGeom prst="rect">
            <a:avLst/>
          </a:prstGeom>
          <a:noFill/>
        </p:spPr>
        <p:txBody>
          <a:bodyPr wrap="square" anchor="t" lIns="0" rIns="0" tIns="0" bIns="0">
            <a:spAutoFit/>
          </a:bodyPr>
          <a:lstStyle/>
          <a:p>
            <a:pPr algn="l">
              <a:spcAft>
                <a:spcPts val="600"/>
              </a:spcAft>
            </a:pPr>
            <a:r>
              <a:rPr sz="1500" b="1">
                <a:solidFill>
                  <a:srgbClr val="F0EFE9"/>
                </a:solidFill>
                <a:latin typeface="Segoe UI"/>
              </a:rPr>
              <a:t>Darkbloom</a:t>
            </a:r>
          </a:p>
        </p:txBody>
      </p:sp>
      <p:sp>
        <p:nvSpPr>
          <p:cNvPr id="10" name="TextBox 9"/>
          <p:cNvSpPr txBox="1"/>
          <p:nvPr/>
        </p:nvSpPr>
        <p:spPr>
          <a:xfrm>
            <a:off x="566928" y="2377440"/>
            <a:ext cx="2560320" cy="228600"/>
          </a:xfrm>
          <a:prstGeom prst="rect">
            <a:avLst/>
          </a:prstGeom>
          <a:noFill/>
        </p:spPr>
        <p:txBody>
          <a:bodyPr wrap="square" anchor="t" lIns="0" rIns="0" tIns="0" bIns="0">
            <a:spAutoFit/>
          </a:bodyPr>
          <a:lstStyle/>
          <a:p>
            <a:pPr algn="l">
              <a:spcAft>
                <a:spcPts val="600"/>
              </a:spcAft>
            </a:pPr>
            <a:r>
              <a:rPr sz="1000" b="0">
                <a:solidFill>
                  <a:srgbClr val="71766C"/>
                </a:solidFill>
                <a:latin typeface="Consolas"/>
              </a:rPr>
              <a:t>a16z backed</a:t>
            </a:r>
          </a:p>
        </p:txBody>
      </p:sp>
      <p:sp>
        <p:nvSpPr>
          <p:cNvPr id="11" name="TextBox 10"/>
          <p:cNvSpPr txBox="1"/>
          <p:nvPr/>
        </p:nvSpPr>
        <p:spPr>
          <a:xfrm>
            <a:off x="3218688" y="2139696"/>
            <a:ext cx="4663440" cy="457200"/>
          </a:xfrm>
          <a:prstGeom prst="rect">
            <a:avLst/>
          </a:prstGeom>
          <a:noFill/>
        </p:spPr>
        <p:txBody>
          <a:bodyPr wrap="square" anchor="t" lIns="0" rIns="0" tIns="0" bIns="0">
            <a:spAutoFit/>
          </a:bodyPr>
          <a:lstStyle/>
          <a:p>
            <a:pPr algn="l">
              <a:lnSpc>
                <a:spcPct val="125000"/>
              </a:lnSpc>
              <a:spcAft>
                <a:spcPts val="600"/>
              </a:spcAft>
            </a:pPr>
            <a:r>
              <a:rPr sz="1300" b="0">
                <a:solidFill>
                  <a:srgbClr val="A8ACA1"/>
                </a:solidFill>
                <a:latin typeface="Segoe UI"/>
              </a:rPr>
              <a:t>Rents out idle Macs and pays their owners</a:t>
            </a:r>
          </a:p>
        </p:txBody>
      </p:sp>
      <p:sp>
        <p:nvSpPr>
          <p:cNvPr id="12" name="TextBox 11"/>
          <p:cNvSpPr txBox="1"/>
          <p:nvPr/>
        </p:nvSpPr>
        <p:spPr>
          <a:xfrm>
            <a:off x="8065007" y="2139696"/>
            <a:ext cx="3840480" cy="457200"/>
          </a:xfrm>
          <a:prstGeom prst="rect">
            <a:avLst/>
          </a:prstGeom>
          <a:noFill/>
        </p:spPr>
        <p:txBody>
          <a:bodyPr wrap="square" anchor="t" lIns="0" rIns="0" tIns="0" bIns="0">
            <a:spAutoFit/>
          </a:bodyPr>
          <a:lstStyle/>
          <a:p>
            <a:pPr algn="l">
              <a:lnSpc>
                <a:spcPct val="125000"/>
              </a:lnSpc>
              <a:spcAft>
                <a:spcPts val="600"/>
              </a:spcAft>
            </a:pPr>
            <a:r>
              <a:rPr sz="1300" b="0">
                <a:solidFill>
                  <a:srgbClr val="A8ACA1"/>
                </a:solidFill>
                <a:latin typeface="Segoe UI"/>
              </a:rPr>
              <a:t>One whole model per Mac. Never a phone.</a:t>
            </a:r>
          </a:p>
        </p:txBody>
      </p:sp>
      <p:sp>
        <p:nvSpPr>
          <p:cNvPr id="13" name="TextBox 12"/>
          <p:cNvSpPr txBox="1"/>
          <p:nvPr/>
        </p:nvSpPr>
        <p:spPr>
          <a:xfrm>
            <a:off x="566928" y="2715768"/>
            <a:ext cx="2560320" cy="274320"/>
          </a:xfrm>
          <a:prstGeom prst="rect">
            <a:avLst/>
          </a:prstGeom>
          <a:noFill/>
        </p:spPr>
        <p:txBody>
          <a:bodyPr wrap="square" anchor="t" lIns="0" rIns="0" tIns="0" bIns="0">
            <a:spAutoFit/>
          </a:bodyPr>
          <a:lstStyle/>
          <a:p>
            <a:pPr algn="l">
              <a:spcAft>
                <a:spcPts val="600"/>
              </a:spcAft>
            </a:pPr>
            <a:r>
              <a:rPr sz="1500" b="1">
                <a:solidFill>
                  <a:srgbClr val="F0EFE9"/>
                </a:solidFill>
                <a:latin typeface="Segoe UI"/>
              </a:rPr>
              <a:t>exo</a:t>
            </a:r>
          </a:p>
        </p:txBody>
      </p:sp>
      <p:sp>
        <p:nvSpPr>
          <p:cNvPr id="14" name="TextBox 13"/>
          <p:cNvSpPr txBox="1"/>
          <p:nvPr/>
        </p:nvSpPr>
        <p:spPr>
          <a:xfrm>
            <a:off x="566928" y="2953512"/>
            <a:ext cx="2560320" cy="228600"/>
          </a:xfrm>
          <a:prstGeom prst="rect">
            <a:avLst/>
          </a:prstGeom>
          <a:noFill/>
        </p:spPr>
        <p:txBody>
          <a:bodyPr wrap="square" anchor="t" lIns="0" rIns="0" tIns="0" bIns="0">
            <a:spAutoFit/>
          </a:bodyPr>
          <a:lstStyle/>
          <a:p>
            <a:pPr algn="l">
              <a:spcAft>
                <a:spcPts val="600"/>
              </a:spcAft>
            </a:pPr>
            <a:r>
              <a:rPr sz="1000" b="0">
                <a:solidFill>
                  <a:srgbClr val="71766C"/>
                </a:solidFill>
                <a:latin typeface="Consolas"/>
              </a:rPr>
              <a:t>47k stars</a:t>
            </a:r>
          </a:p>
        </p:txBody>
      </p:sp>
      <p:sp>
        <p:nvSpPr>
          <p:cNvPr id="15" name="TextBox 14"/>
          <p:cNvSpPr txBox="1"/>
          <p:nvPr/>
        </p:nvSpPr>
        <p:spPr>
          <a:xfrm>
            <a:off x="3218688" y="2715768"/>
            <a:ext cx="4663440" cy="457200"/>
          </a:xfrm>
          <a:prstGeom prst="rect">
            <a:avLst/>
          </a:prstGeom>
          <a:noFill/>
        </p:spPr>
        <p:txBody>
          <a:bodyPr wrap="square" anchor="t" lIns="0" rIns="0" tIns="0" bIns="0">
            <a:spAutoFit/>
          </a:bodyPr>
          <a:lstStyle/>
          <a:p>
            <a:pPr algn="l">
              <a:lnSpc>
                <a:spcPct val="125000"/>
              </a:lnSpc>
              <a:spcAft>
                <a:spcPts val="600"/>
              </a:spcAft>
            </a:pPr>
            <a:r>
              <a:rPr sz="1300" b="0">
                <a:solidFill>
                  <a:srgbClr val="A8ACA1"/>
                </a:solidFill>
                <a:latin typeface="Segoe UI"/>
              </a:rPr>
              <a:t>Splits a model across your Macs and Linux boxes</a:t>
            </a:r>
          </a:p>
        </p:txBody>
      </p:sp>
      <p:sp>
        <p:nvSpPr>
          <p:cNvPr id="16" name="TextBox 15"/>
          <p:cNvSpPr txBox="1"/>
          <p:nvPr/>
        </p:nvSpPr>
        <p:spPr>
          <a:xfrm>
            <a:off x="8065007" y="2715768"/>
            <a:ext cx="3840480" cy="457200"/>
          </a:xfrm>
          <a:prstGeom prst="rect">
            <a:avLst/>
          </a:prstGeom>
          <a:noFill/>
        </p:spPr>
        <p:txBody>
          <a:bodyPr wrap="square" anchor="t" lIns="0" rIns="0" tIns="0" bIns="0">
            <a:spAutoFit/>
          </a:bodyPr>
          <a:lstStyle/>
          <a:p>
            <a:pPr algn="l">
              <a:lnSpc>
                <a:spcPct val="125000"/>
              </a:lnSpc>
              <a:spcAft>
                <a:spcPts val="600"/>
              </a:spcAft>
            </a:pPr>
            <a:r>
              <a:rPr sz="1300" b="0">
                <a:solidFill>
                  <a:srgbClr val="A8ACA1"/>
                </a:solidFill>
                <a:latin typeface="Segoe UI"/>
              </a:rPr>
              <a:t>The phone is not a real device in it.</a:t>
            </a:r>
          </a:p>
        </p:txBody>
      </p:sp>
      <p:sp>
        <p:nvSpPr>
          <p:cNvPr id="17" name="TextBox 16"/>
          <p:cNvSpPr txBox="1"/>
          <p:nvPr/>
        </p:nvSpPr>
        <p:spPr>
          <a:xfrm>
            <a:off x="566928" y="3291840"/>
            <a:ext cx="2560320" cy="274320"/>
          </a:xfrm>
          <a:prstGeom prst="rect">
            <a:avLst/>
          </a:prstGeom>
          <a:noFill/>
        </p:spPr>
        <p:txBody>
          <a:bodyPr wrap="square" anchor="t" lIns="0" rIns="0" tIns="0" bIns="0">
            <a:spAutoFit/>
          </a:bodyPr>
          <a:lstStyle/>
          <a:p>
            <a:pPr algn="l">
              <a:spcAft>
                <a:spcPts val="600"/>
              </a:spcAft>
            </a:pPr>
            <a:r>
              <a:rPr sz="1500" b="1">
                <a:solidFill>
                  <a:srgbClr val="F0EFE9"/>
                </a:solidFill>
                <a:latin typeface="Segoe UI"/>
              </a:rPr>
              <a:t>Petals</a:t>
            </a:r>
          </a:p>
        </p:txBody>
      </p:sp>
      <p:sp>
        <p:nvSpPr>
          <p:cNvPr id="18" name="TextBox 17"/>
          <p:cNvSpPr txBox="1"/>
          <p:nvPr/>
        </p:nvSpPr>
        <p:spPr>
          <a:xfrm>
            <a:off x="566928" y="3529584"/>
            <a:ext cx="2560320" cy="228600"/>
          </a:xfrm>
          <a:prstGeom prst="rect">
            <a:avLst/>
          </a:prstGeom>
          <a:noFill/>
        </p:spPr>
        <p:txBody>
          <a:bodyPr wrap="square" anchor="t" lIns="0" rIns="0" tIns="0" bIns="0">
            <a:spAutoFit/>
          </a:bodyPr>
          <a:lstStyle/>
          <a:p>
            <a:pPr algn="l">
              <a:spcAft>
                <a:spcPts val="600"/>
              </a:spcAft>
            </a:pPr>
            <a:r>
              <a:rPr sz="1000" b="0">
                <a:solidFill>
                  <a:srgbClr val="71766C"/>
                </a:solidFill>
                <a:latin typeface="Consolas"/>
              </a:rPr>
              <a:t>peer reviewed</a:t>
            </a:r>
          </a:p>
        </p:txBody>
      </p:sp>
      <p:sp>
        <p:nvSpPr>
          <p:cNvPr id="19" name="TextBox 18"/>
          <p:cNvSpPr txBox="1"/>
          <p:nvPr/>
        </p:nvSpPr>
        <p:spPr>
          <a:xfrm>
            <a:off x="3218688" y="3291840"/>
            <a:ext cx="4663440" cy="457200"/>
          </a:xfrm>
          <a:prstGeom prst="rect">
            <a:avLst/>
          </a:prstGeom>
          <a:noFill/>
        </p:spPr>
        <p:txBody>
          <a:bodyPr wrap="square" anchor="t" lIns="0" rIns="0" tIns="0" bIns="0">
            <a:spAutoFit/>
          </a:bodyPr>
          <a:lstStyle/>
          <a:p>
            <a:pPr algn="l">
              <a:lnSpc>
                <a:spcPct val="125000"/>
              </a:lnSpc>
              <a:spcAft>
                <a:spcPts val="600"/>
              </a:spcAft>
            </a:pPr>
            <a:r>
              <a:rPr sz="1300" b="0">
                <a:solidFill>
                  <a:srgbClr val="A8ACA1"/>
                </a:solidFill>
                <a:latin typeface="Segoe UI"/>
              </a:rPr>
              <a:t>A public swarm of volunteer servers</a:t>
            </a:r>
          </a:p>
        </p:txBody>
      </p:sp>
      <p:sp>
        <p:nvSpPr>
          <p:cNvPr id="20" name="TextBox 19"/>
          <p:cNvSpPr txBox="1"/>
          <p:nvPr/>
        </p:nvSpPr>
        <p:spPr>
          <a:xfrm>
            <a:off x="8065007" y="3291840"/>
            <a:ext cx="3840480" cy="457200"/>
          </a:xfrm>
          <a:prstGeom prst="rect">
            <a:avLst/>
          </a:prstGeom>
          <a:noFill/>
        </p:spPr>
        <p:txBody>
          <a:bodyPr wrap="square" anchor="t" lIns="0" rIns="0" tIns="0" bIns="0">
            <a:spAutoFit/>
          </a:bodyPr>
          <a:lstStyle/>
          <a:p>
            <a:pPr algn="l">
              <a:lnSpc>
                <a:spcPct val="125000"/>
              </a:lnSpc>
              <a:spcAft>
                <a:spcPts val="600"/>
              </a:spcAft>
            </a:pPr>
            <a:r>
              <a:rPr sz="1300" b="0">
                <a:solidFill>
                  <a:srgbClr val="A8ACA1"/>
                </a:solidFill>
                <a:latin typeface="Segoe UI"/>
              </a:rPr>
              <a:t>0.83 words a second. Dead since 2024.</a:t>
            </a:r>
          </a:p>
        </p:txBody>
      </p:sp>
      <p:sp>
        <p:nvSpPr>
          <p:cNvPr id="21" name="TextBox 20"/>
          <p:cNvSpPr txBox="1"/>
          <p:nvPr/>
        </p:nvSpPr>
        <p:spPr>
          <a:xfrm>
            <a:off x="566928" y="3867912"/>
            <a:ext cx="2560320" cy="274320"/>
          </a:xfrm>
          <a:prstGeom prst="rect">
            <a:avLst/>
          </a:prstGeom>
          <a:noFill/>
        </p:spPr>
        <p:txBody>
          <a:bodyPr wrap="square" anchor="t" lIns="0" rIns="0" tIns="0" bIns="0">
            <a:spAutoFit/>
          </a:bodyPr>
          <a:lstStyle/>
          <a:p>
            <a:pPr algn="l">
              <a:spcAft>
                <a:spcPts val="600"/>
              </a:spcAft>
            </a:pPr>
            <a:r>
              <a:rPr sz="1500" b="1">
                <a:solidFill>
                  <a:srgbClr val="F0EFE9"/>
                </a:solidFill>
                <a:latin typeface="Segoe UI"/>
              </a:rPr>
              <a:t>llama.cpp RPC</a:t>
            </a:r>
          </a:p>
        </p:txBody>
      </p:sp>
      <p:sp>
        <p:nvSpPr>
          <p:cNvPr id="22" name="TextBox 21"/>
          <p:cNvSpPr txBox="1"/>
          <p:nvPr/>
        </p:nvSpPr>
        <p:spPr>
          <a:xfrm>
            <a:off x="566928" y="4105656"/>
            <a:ext cx="2560320" cy="228600"/>
          </a:xfrm>
          <a:prstGeom prst="rect">
            <a:avLst/>
          </a:prstGeom>
          <a:noFill/>
        </p:spPr>
        <p:txBody>
          <a:bodyPr wrap="square" anchor="t" lIns="0" rIns="0" tIns="0" bIns="0">
            <a:spAutoFit/>
          </a:bodyPr>
          <a:lstStyle/>
          <a:p>
            <a:pPr algn="l">
              <a:spcAft>
                <a:spcPts val="600"/>
              </a:spcAft>
            </a:pPr>
            <a:r>
              <a:rPr sz="1000" b="0">
                <a:solidFill>
                  <a:srgbClr val="71766C"/>
                </a:solidFill>
                <a:latin typeface="Consolas"/>
              </a:rPr>
              <a:t>we build on it</a:t>
            </a:r>
          </a:p>
        </p:txBody>
      </p:sp>
      <p:sp>
        <p:nvSpPr>
          <p:cNvPr id="23" name="TextBox 22"/>
          <p:cNvSpPr txBox="1"/>
          <p:nvPr/>
        </p:nvSpPr>
        <p:spPr>
          <a:xfrm>
            <a:off x="3218688" y="3867912"/>
            <a:ext cx="4663440" cy="457200"/>
          </a:xfrm>
          <a:prstGeom prst="rect">
            <a:avLst/>
          </a:prstGeom>
          <a:noFill/>
        </p:spPr>
        <p:txBody>
          <a:bodyPr wrap="square" anchor="t" lIns="0" rIns="0" tIns="0" bIns="0">
            <a:spAutoFit/>
          </a:bodyPr>
          <a:lstStyle/>
          <a:p>
            <a:pPr algn="l">
              <a:lnSpc>
                <a:spcPct val="125000"/>
              </a:lnSpc>
              <a:spcAft>
                <a:spcPts val="600"/>
              </a:spcAft>
            </a:pPr>
            <a:r>
              <a:rPr sz="1300" b="0">
                <a:solidFill>
                  <a:srgbClr val="A8ACA1"/>
                </a:solidFill>
                <a:latin typeface="Segoe UI"/>
              </a:rPr>
              <a:t>Runs layers on another machine over a socket</a:t>
            </a:r>
          </a:p>
        </p:txBody>
      </p:sp>
      <p:sp>
        <p:nvSpPr>
          <p:cNvPr id="24" name="TextBox 23"/>
          <p:cNvSpPr txBox="1"/>
          <p:nvPr/>
        </p:nvSpPr>
        <p:spPr>
          <a:xfrm>
            <a:off x="8065007" y="3867912"/>
            <a:ext cx="3840480" cy="457200"/>
          </a:xfrm>
          <a:prstGeom prst="rect">
            <a:avLst/>
          </a:prstGeom>
          <a:noFill/>
        </p:spPr>
        <p:txBody>
          <a:bodyPr wrap="square" anchor="t" lIns="0" rIns="0" tIns="0" bIns="0">
            <a:spAutoFit/>
          </a:bodyPr>
          <a:lstStyle/>
          <a:p>
            <a:pPr algn="l">
              <a:lnSpc>
                <a:spcPct val="125000"/>
              </a:lnSpc>
              <a:spcAft>
                <a:spcPts val="600"/>
              </a:spcAft>
            </a:pPr>
            <a:r>
              <a:rPr sz="1300" b="0">
                <a:solidFill>
                  <a:srgbClr val="A8ACA1"/>
                </a:solidFill>
                <a:latin typeface="Segoe UI"/>
              </a:rPr>
              <a:t>You type the addresses by hand. Nothing decides.</a:t>
            </a:r>
          </a:p>
        </p:txBody>
      </p:sp>
      <p:sp>
        <p:nvSpPr>
          <p:cNvPr id="25" name="TextBox 24"/>
          <p:cNvSpPr txBox="1"/>
          <p:nvPr/>
        </p:nvSpPr>
        <p:spPr>
          <a:xfrm>
            <a:off x="566928" y="4443984"/>
            <a:ext cx="2560320" cy="274320"/>
          </a:xfrm>
          <a:prstGeom prst="rect">
            <a:avLst/>
          </a:prstGeom>
          <a:noFill/>
        </p:spPr>
        <p:txBody>
          <a:bodyPr wrap="square" anchor="t" lIns="0" rIns="0" tIns="0" bIns="0">
            <a:spAutoFit/>
          </a:bodyPr>
          <a:lstStyle/>
          <a:p>
            <a:pPr algn="l">
              <a:spcAft>
                <a:spcPts val="600"/>
              </a:spcAft>
            </a:pPr>
            <a:r>
              <a:rPr sz="1500" b="1">
                <a:solidFill>
                  <a:srgbClr val="F0EFE9"/>
                </a:solidFill>
                <a:latin typeface="Segoe UI"/>
              </a:rPr>
              <a:t>Ollama, LM Studio</a:t>
            </a:r>
          </a:p>
        </p:txBody>
      </p:sp>
      <p:sp>
        <p:nvSpPr>
          <p:cNvPr id="26" name="TextBox 25"/>
          <p:cNvSpPr txBox="1"/>
          <p:nvPr/>
        </p:nvSpPr>
        <p:spPr>
          <a:xfrm>
            <a:off x="566928" y="4681728"/>
            <a:ext cx="2560320" cy="228600"/>
          </a:xfrm>
          <a:prstGeom prst="rect">
            <a:avLst/>
          </a:prstGeom>
          <a:noFill/>
        </p:spPr>
        <p:txBody>
          <a:bodyPr wrap="square" anchor="t" lIns="0" rIns="0" tIns="0" bIns="0">
            <a:spAutoFit/>
          </a:bodyPr>
          <a:lstStyle/>
          <a:p>
            <a:pPr algn="l">
              <a:spcAft>
                <a:spcPts val="600"/>
              </a:spcAft>
            </a:pPr>
            <a:r>
              <a:rPr sz="1000" b="0">
                <a:solidFill>
                  <a:srgbClr val="71766C"/>
                </a:solidFill>
                <a:latin typeface="Consolas"/>
              </a:rPr>
              <a:t>and the rest</a:t>
            </a:r>
          </a:p>
        </p:txBody>
      </p:sp>
      <p:sp>
        <p:nvSpPr>
          <p:cNvPr id="27" name="TextBox 26"/>
          <p:cNvSpPr txBox="1"/>
          <p:nvPr/>
        </p:nvSpPr>
        <p:spPr>
          <a:xfrm>
            <a:off x="3218688" y="4443984"/>
            <a:ext cx="4663440" cy="457200"/>
          </a:xfrm>
          <a:prstGeom prst="rect">
            <a:avLst/>
          </a:prstGeom>
          <a:noFill/>
        </p:spPr>
        <p:txBody>
          <a:bodyPr wrap="square" anchor="t" lIns="0" rIns="0" tIns="0" bIns="0">
            <a:spAutoFit/>
          </a:bodyPr>
          <a:lstStyle/>
          <a:p>
            <a:pPr algn="l">
              <a:lnSpc>
                <a:spcPct val="125000"/>
              </a:lnSpc>
              <a:spcAft>
                <a:spcPts val="600"/>
              </a:spcAft>
            </a:pPr>
            <a:r>
              <a:rPr sz="1300" b="0">
                <a:solidFill>
                  <a:srgbClr val="A8ACA1"/>
                </a:solidFill>
                <a:latin typeface="Segoe UI"/>
              </a:rPr>
              <a:t>Great on one machine, one model</a:t>
            </a:r>
          </a:p>
        </p:txBody>
      </p:sp>
      <p:sp>
        <p:nvSpPr>
          <p:cNvPr id="28" name="TextBox 27"/>
          <p:cNvSpPr txBox="1"/>
          <p:nvPr/>
        </p:nvSpPr>
        <p:spPr>
          <a:xfrm>
            <a:off x="8065007" y="4443984"/>
            <a:ext cx="3840480" cy="457200"/>
          </a:xfrm>
          <a:prstGeom prst="rect">
            <a:avLst/>
          </a:prstGeom>
          <a:noFill/>
        </p:spPr>
        <p:txBody>
          <a:bodyPr wrap="square" anchor="t" lIns="0" rIns="0" tIns="0" bIns="0">
            <a:spAutoFit/>
          </a:bodyPr>
          <a:lstStyle/>
          <a:p>
            <a:pPr algn="l">
              <a:lnSpc>
                <a:spcPct val="125000"/>
              </a:lnSpc>
              <a:spcAft>
                <a:spcPts val="600"/>
              </a:spcAft>
            </a:pPr>
            <a:r>
              <a:rPr sz="1300" b="0">
                <a:solidFill>
                  <a:srgbClr val="A8ACA1"/>
                </a:solidFill>
                <a:latin typeface="Segoe UI"/>
              </a:rPr>
              <a:t>If it does not fit, you do not run it.</a:t>
            </a:r>
          </a:p>
        </p:txBody>
      </p:sp>
      <p:sp>
        <p:nvSpPr>
          <p:cNvPr id="29" name="Rounded Rectangle 28"/>
          <p:cNvSpPr/>
          <p:nvPr/>
        </p:nvSpPr>
        <p:spPr>
          <a:xfrm>
            <a:off x="438912" y="4928616"/>
            <a:ext cx="11313871" cy="658368"/>
          </a:xfrm>
          <a:prstGeom prst="roundRect">
            <a:avLst>
              <a:gd name="adj" fmla="val 4000"/>
            </a:avLst>
          </a:prstGeom>
          <a:solidFill>
            <a:srgbClr val="142E20"/>
          </a:solidFill>
          <a:ln w="9525">
            <a:solidFill>
              <a:srgbClr val="5FD6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5020056"/>
            <a:ext cx="2560320" cy="274320"/>
          </a:xfrm>
          <a:prstGeom prst="rect">
            <a:avLst/>
          </a:prstGeom>
          <a:noFill/>
        </p:spPr>
        <p:txBody>
          <a:bodyPr wrap="square" anchor="t" lIns="0" rIns="0" tIns="0" bIns="0">
            <a:spAutoFit/>
          </a:bodyPr>
          <a:lstStyle/>
          <a:p>
            <a:pPr algn="l">
              <a:spcAft>
                <a:spcPts val="600"/>
              </a:spcAft>
            </a:pPr>
            <a:r>
              <a:rPr sz="1500" b="1">
                <a:solidFill>
                  <a:srgbClr val="5FD68A"/>
                </a:solidFill>
                <a:latin typeface="Segoe UI"/>
              </a:rPr>
              <a:t>MeshAI</a:t>
            </a:r>
          </a:p>
        </p:txBody>
      </p:sp>
      <p:sp>
        <p:nvSpPr>
          <p:cNvPr id="31" name="TextBox 30"/>
          <p:cNvSpPr txBox="1"/>
          <p:nvPr/>
        </p:nvSpPr>
        <p:spPr>
          <a:xfrm>
            <a:off x="566928" y="5257800"/>
            <a:ext cx="2560320" cy="228600"/>
          </a:xfrm>
          <a:prstGeom prst="rect">
            <a:avLst/>
          </a:prstGeom>
          <a:noFill/>
        </p:spPr>
        <p:txBody>
          <a:bodyPr wrap="square" anchor="t" lIns="0" rIns="0" tIns="0" bIns="0">
            <a:spAutoFit/>
          </a:bodyPr>
          <a:lstStyle/>
          <a:p>
            <a:pPr algn="l">
              <a:spcAft>
                <a:spcPts val="600"/>
              </a:spcAft>
            </a:pPr>
            <a:r>
              <a:rPr sz="1000" b="0">
                <a:solidFill>
                  <a:srgbClr val="71766C"/>
                </a:solidFill>
                <a:latin typeface="Consolas"/>
              </a:rPr>
              <a:t>what we built</a:t>
            </a:r>
          </a:p>
        </p:txBody>
      </p:sp>
      <p:sp>
        <p:nvSpPr>
          <p:cNvPr id="32" name="TextBox 31"/>
          <p:cNvSpPr txBox="1"/>
          <p:nvPr/>
        </p:nvSpPr>
        <p:spPr>
          <a:xfrm>
            <a:off x="3218688" y="5020056"/>
            <a:ext cx="4663440" cy="457200"/>
          </a:xfrm>
          <a:prstGeom prst="rect">
            <a:avLst/>
          </a:prstGeom>
          <a:noFill/>
        </p:spPr>
        <p:txBody>
          <a:bodyPr wrap="square" anchor="t" lIns="0" rIns="0" tIns="0" bIns="0">
            <a:spAutoFit/>
          </a:bodyPr>
          <a:lstStyle/>
          <a:p>
            <a:pPr algn="l">
              <a:lnSpc>
                <a:spcPct val="125000"/>
              </a:lnSpc>
              <a:spcAft>
                <a:spcPts val="600"/>
              </a:spcAft>
            </a:pPr>
            <a:r>
              <a:rPr sz="1300" b="0">
                <a:solidFill>
                  <a:srgbClr val="F0EFE9"/>
                </a:solidFill>
                <a:latin typeface="Segoe UI"/>
              </a:rPr>
              <a:t>Phones and laptops together. It decides who holds what, and says no when it should</a:t>
            </a:r>
          </a:p>
        </p:txBody>
      </p:sp>
      <p:sp>
        <p:nvSpPr>
          <p:cNvPr id="33" name="TextBox 32"/>
          <p:cNvSpPr txBox="1"/>
          <p:nvPr/>
        </p:nvSpPr>
        <p:spPr>
          <a:xfrm>
            <a:off x="8065007" y="5020056"/>
            <a:ext cx="3840480" cy="457200"/>
          </a:xfrm>
          <a:prstGeom prst="rect">
            <a:avLst/>
          </a:prstGeom>
          <a:noFill/>
        </p:spPr>
        <p:txBody>
          <a:bodyPr wrap="square" anchor="t" lIns="0" rIns="0" tIns="0" bIns="0">
            <a:spAutoFit/>
          </a:bodyPr>
          <a:lstStyle/>
          <a:p>
            <a:pPr algn="l">
              <a:lnSpc>
                <a:spcPct val="125000"/>
              </a:lnSpc>
              <a:spcAft>
                <a:spcPts val="600"/>
              </a:spcAft>
            </a:pPr>
            <a:r>
              <a:rPr sz="1300" b="0">
                <a:solidFill>
                  <a:srgbClr val="F0EFE9"/>
                </a:solidFill>
                <a:latin typeface="Segoe UI"/>
              </a:rPr>
              <a:t>Nothing. No product and no paper does this.</a:t>
            </a:r>
          </a:p>
        </p:txBody>
      </p:sp>
      <p:sp>
        <p:nvSpPr>
          <p:cNvPr id="34" name="TextBox 33"/>
          <p:cNvSpPr txBox="1"/>
          <p:nvPr/>
        </p:nvSpPr>
        <p:spPr>
          <a:xfrm>
            <a:off x="566928" y="6291072"/>
            <a:ext cx="6400800"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MeshAI</a:t>
            </a:r>
          </a:p>
        </p:txBody>
      </p:sp>
      <p:sp>
        <p:nvSpPr>
          <p:cNvPr id="35" name="TextBox 34"/>
          <p:cNvSpPr txBox="1"/>
          <p:nvPr/>
        </p:nvSpPr>
        <p:spPr>
          <a:xfrm>
            <a:off x="5223967" y="6291072"/>
            <a:ext cx="6400800" cy="274320"/>
          </a:xfrm>
          <a:prstGeom prst="rect">
            <a:avLst/>
          </a:prstGeom>
          <a:noFill/>
        </p:spPr>
        <p:txBody>
          <a:bodyPr wrap="square" anchor="t" lIns="0" rIns="0" tIns="0" bIns="0">
            <a:spAutoFit/>
          </a:bodyPr>
          <a:lstStyle/>
          <a:p>
            <a:pPr algn="r">
              <a:spcAft>
                <a:spcPts val="600"/>
              </a:spcAft>
            </a:pPr>
            <a:r>
              <a:rPr sz="1100" b="0">
                <a:solidFill>
                  <a:srgbClr val="71766C"/>
                </a:solidFill>
                <a:latin typeface="Consolas"/>
              </a:rPr>
              <a:t>each one checked against its own source, September 2026</a:t>
            </a:r>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800">
        <p159:morph option="byObject"/>
      </p:transition>
    </mc:Choice>
    <mc:Fallback>
      <p:transition spd="slow">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C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20624"/>
            <a:ext cx="11057839" cy="274320"/>
          </a:xfrm>
          <a:prstGeom prst="rect">
            <a:avLst/>
          </a:prstGeom>
          <a:noFill/>
        </p:spPr>
        <p:txBody>
          <a:bodyPr wrap="square" anchor="t" lIns="0" rIns="0" tIns="0" bIns="0">
            <a:spAutoFit/>
          </a:bodyPr>
          <a:lstStyle/>
          <a:p>
            <a:pPr algn="l">
              <a:spcAft>
                <a:spcPts val="600"/>
              </a:spcAft>
            </a:pPr>
            <a:r>
              <a:rPr sz="1200" b="0">
                <a:solidFill>
                  <a:srgbClr val="71766C"/>
                </a:solidFill>
                <a:latin typeface="Consolas"/>
              </a:rPr>
              <a:t>10 · THE BUSINESS</a:t>
            </a:r>
          </a:p>
        </p:txBody>
      </p:sp>
      <p:sp>
        <p:nvSpPr>
          <p:cNvPr id="4" name="TextBox 3"/>
          <p:cNvSpPr txBox="1"/>
          <p:nvPr/>
        </p:nvSpPr>
        <p:spPr>
          <a:xfrm>
            <a:off x="566928" y="713232"/>
            <a:ext cx="11057839" cy="731520"/>
          </a:xfrm>
          <a:prstGeom prst="rect">
            <a:avLst/>
          </a:prstGeom>
          <a:noFill/>
        </p:spPr>
        <p:txBody>
          <a:bodyPr wrap="square" anchor="t" lIns="0" rIns="0" tIns="0" bIns="0">
            <a:spAutoFit/>
          </a:bodyPr>
          <a:lstStyle/>
          <a:p>
            <a:pPr algn="l">
              <a:spcAft>
                <a:spcPts val="600"/>
              </a:spcAft>
            </a:pPr>
            <a:r>
              <a:rPr sz="4000" b="1">
                <a:solidFill>
                  <a:srgbClr val="F0EFE9"/>
                </a:solidFill>
                <a:latin typeface="Segoe UI"/>
              </a:rPr>
              <a:t>People pay to run big open models on devices, not on a cloud.</a:t>
            </a:r>
          </a:p>
        </p:txBody>
      </p:sp>
      <p:sp>
        <p:nvSpPr>
          <p:cNvPr id="5" name="TextBox 4"/>
          <p:cNvSpPr txBox="1"/>
          <p:nvPr/>
        </p:nvSpPr>
        <p:spPr>
          <a:xfrm>
            <a:off x="566928" y="1481328"/>
            <a:ext cx="8778240" cy="548640"/>
          </a:xfrm>
          <a:prstGeom prst="rect">
            <a:avLst/>
          </a:prstGeom>
          <a:noFill/>
        </p:spPr>
        <p:txBody>
          <a:bodyPr wrap="square" anchor="t" lIns="0" rIns="0" tIns="0" bIns="0">
            <a:spAutoFit/>
          </a:bodyPr>
          <a:lstStyle/>
          <a:p>
            <a:pPr algn="l">
              <a:lnSpc>
                <a:spcPct val="125000"/>
              </a:lnSpc>
              <a:spcAft>
                <a:spcPts val="600"/>
              </a:spcAft>
            </a:pPr>
            <a:r>
              <a:rPr sz="1600" b="0">
                <a:solidFill>
                  <a:srgbClr val="A8ACA1"/>
                </a:solidFill>
                <a:latin typeface="Segoe UI"/>
              </a:rPr>
              <a:t>The models are free and open. What is scarce is memory. We sell the software that pools it, and we can do that two ways.</a:t>
            </a:r>
          </a:p>
        </p:txBody>
      </p:sp>
      <p:sp>
        <p:nvSpPr>
          <p:cNvPr id="6" name="Rectangle 5"/>
          <p:cNvSpPr/>
          <p:nvPr/>
        </p:nvSpPr>
        <p:spPr>
          <a:xfrm>
            <a:off x="566928" y="1975104"/>
            <a:ext cx="11057839" cy="9525"/>
          </a:xfrm>
          <a:prstGeom prst="rect">
            <a:avLst/>
          </a:prstGeom>
          <a:solidFill>
            <a:srgbClr val="2A2F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2249424"/>
            <a:ext cx="3503066" cy="310896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487168"/>
            <a:ext cx="2991002"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WAY ONE · THEIR OWN DEVICES</a:t>
            </a:r>
          </a:p>
        </p:txBody>
      </p:sp>
      <p:sp>
        <p:nvSpPr>
          <p:cNvPr id="9" name="TextBox 8"/>
          <p:cNvSpPr txBox="1"/>
          <p:nvPr/>
        </p:nvSpPr>
        <p:spPr>
          <a:xfrm>
            <a:off x="822960" y="2816352"/>
            <a:ext cx="2991002" cy="457200"/>
          </a:xfrm>
          <a:prstGeom prst="rect">
            <a:avLst/>
          </a:prstGeom>
          <a:noFill/>
        </p:spPr>
        <p:txBody>
          <a:bodyPr wrap="square" anchor="t" lIns="0" rIns="0" tIns="0" bIns="0">
            <a:spAutoFit/>
          </a:bodyPr>
          <a:lstStyle/>
          <a:p>
            <a:pPr algn="l">
              <a:lnSpc>
                <a:spcPct val="130000"/>
              </a:lnSpc>
              <a:spcAft>
                <a:spcPts val="600"/>
              </a:spcAft>
            </a:pPr>
            <a:r>
              <a:rPr sz="1500" b="0">
                <a:solidFill>
                  <a:srgbClr val="F0EFE9"/>
                </a:solidFill>
                <a:latin typeface="Segoe UI"/>
              </a:rPr>
              <a:t>A company's own phones and laptops become its private cloud.</a:t>
            </a:r>
          </a:p>
        </p:txBody>
      </p:sp>
      <p:sp>
        <p:nvSpPr>
          <p:cNvPr id="10" name="Rectangle 9"/>
          <p:cNvSpPr/>
          <p:nvPr/>
        </p:nvSpPr>
        <p:spPr>
          <a:xfrm>
            <a:off x="822960" y="3529584"/>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0704" y="3438144"/>
            <a:ext cx="2753258"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A QA phone lab, idle all night</a:t>
            </a:r>
          </a:p>
        </p:txBody>
      </p:sp>
      <p:sp>
        <p:nvSpPr>
          <p:cNvPr id="12" name="Rectangle 11"/>
          <p:cNvSpPr/>
          <p:nvPr/>
        </p:nvSpPr>
        <p:spPr>
          <a:xfrm>
            <a:off x="822960" y="3913632"/>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60704" y="3822192"/>
            <a:ext cx="2753258"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A campus computer lab</a:t>
            </a:r>
          </a:p>
        </p:txBody>
      </p:sp>
      <p:sp>
        <p:nvSpPr>
          <p:cNvPr id="14" name="Rectangle 13"/>
          <p:cNvSpPr/>
          <p:nvPr/>
        </p:nvSpPr>
        <p:spPr>
          <a:xfrm>
            <a:off x="822960" y="4297680"/>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60704" y="4206240"/>
            <a:ext cx="2753258"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Nothing leaves the building</a:t>
            </a:r>
          </a:p>
        </p:txBody>
      </p:sp>
      <p:sp>
        <p:nvSpPr>
          <p:cNvPr id="16" name="Rectangle 15"/>
          <p:cNvSpPr/>
          <p:nvPr/>
        </p:nvSpPr>
        <p:spPr>
          <a:xfrm>
            <a:off x="822960" y="4681728"/>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60704" y="4590288"/>
            <a:ext cx="2753258"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Nobody has to be paid: they own them</a:t>
            </a:r>
          </a:p>
        </p:txBody>
      </p:sp>
      <p:sp>
        <p:nvSpPr>
          <p:cNvPr id="18" name="TextBox 17"/>
          <p:cNvSpPr txBox="1"/>
          <p:nvPr/>
        </p:nvSpPr>
        <p:spPr>
          <a:xfrm>
            <a:off x="822960" y="4992624"/>
            <a:ext cx="2991002" cy="320040"/>
          </a:xfrm>
          <a:prstGeom prst="rect">
            <a:avLst/>
          </a:prstGeom>
          <a:noFill/>
        </p:spPr>
        <p:txBody>
          <a:bodyPr wrap="square" anchor="t" lIns="0" rIns="0" tIns="0" bIns="0">
            <a:spAutoFit/>
          </a:bodyPr>
          <a:lstStyle/>
          <a:p>
            <a:pPr algn="l">
              <a:spcAft>
                <a:spcPts val="600"/>
              </a:spcAft>
            </a:pPr>
            <a:r>
              <a:rPr sz="1300" b="1">
                <a:solidFill>
                  <a:srgbClr val="5FD68A"/>
                </a:solidFill>
                <a:latin typeface="Segoe UI"/>
              </a:rPr>
              <a:t>Sold per site.</a:t>
            </a:r>
          </a:p>
        </p:txBody>
      </p:sp>
      <p:sp>
        <p:nvSpPr>
          <p:cNvPr id="19" name="Rounded Rectangle 18"/>
          <p:cNvSpPr/>
          <p:nvPr/>
        </p:nvSpPr>
        <p:spPr>
          <a:xfrm>
            <a:off x="4344314" y="2249424"/>
            <a:ext cx="3503066" cy="3108960"/>
          </a:xfrm>
          <a:prstGeom prst="roundRect">
            <a:avLst>
              <a:gd name="adj" fmla="val 4000"/>
            </a:avLst>
          </a:prstGeom>
          <a:solidFill>
            <a:srgbClr val="142E20"/>
          </a:solidFill>
          <a:ln w="9525">
            <a:solidFill>
              <a:srgbClr val="5FD6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00346" y="2487168"/>
            <a:ext cx="2991002" cy="274320"/>
          </a:xfrm>
          <a:prstGeom prst="rect">
            <a:avLst/>
          </a:prstGeom>
          <a:noFill/>
        </p:spPr>
        <p:txBody>
          <a:bodyPr wrap="square" anchor="t" lIns="0" rIns="0" tIns="0" bIns="0">
            <a:spAutoFit/>
          </a:bodyPr>
          <a:lstStyle/>
          <a:p>
            <a:pPr algn="l">
              <a:spcAft>
                <a:spcPts val="600"/>
              </a:spcAft>
            </a:pPr>
            <a:r>
              <a:rPr sz="1100" b="0">
                <a:solidFill>
                  <a:srgbClr val="5FD68A"/>
                </a:solidFill>
                <a:latin typeface="Consolas"/>
              </a:rPr>
              <a:t>WAY TWO · DEVICES LENT TO US</a:t>
            </a:r>
          </a:p>
        </p:txBody>
      </p:sp>
      <p:sp>
        <p:nvSpPr>
          <p:cNvPr id="21" name="TextBox 20"/>
          <p:cNvSpPr txBox="1"/>
          <p:nvPr/>
        </p:nvSpPr>
        <p:spPr>
          <a:xfrm>
            <a:off x="4600346" y="2816352"/>
            <a:ext cx="2991002" cy="457200"/>
          </a:xfrm>
          <a:prstGeom prst="rect">
            <a:avLst/>
          </a:prstGeom>
          <a:noFill/>
        </p:spPr>
        <p:txBody>
          <a:bodyPr wrap="square" anchor="t" lIns="0" rIns="0" tIns="0" bIns="0">
            <a:spAutoFit/>
          </a:bodyPr>
          <a:lstStyle/>
          <a:p>
            <a:pPr algn="l">
              <a:lnSpc>
                <a:spcPct val="130000"/>
              </a:lnSpc>
              <a:spcAft>
                <a:spcPts val="600"/>
              </a:spcAft>
            </a:pPr>
            <a:r>
              <a:rPr sz="1500" b="0">
                <a:solidFill>
                  <a:srgbClr val="F0EFE9"/>
                </a:solidFill>
                <a:latin typeface="Segoe UI"/>
              </a:rPr>
              <a:t>People hand us a phone they no longer use. We keep it, run it and pay them.</a:t>
            </a:r>
          </a:p>
        </p:txBody>
      </p:sp>
      <p:sp>
        <p:nvSpPr>
          <p:cNvPr id="22" name="Rectangle 21"/>
          <p:cNvSpPr/>
          <p:nvPr/>
        </p:nvSpPr>
        <p:spPr>
          <a:xfrm>
            <a:off x="4600346" y="3529584"/>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38090" y="3438144"/>
            <a:ext cx="2753258"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The device is in our hands, not their pocket</a:t>
            </a:r>
          </a:p>
        </p:txBody>
      </p:sp>
      <p:sp>
        <p:nvSpPr>
          <p:cNvPr id="24" name="Rectangle 23"/>
          <p:cNvSpPr/>
          <p:nvPr/>
        </p:nvSpPr>
        <p:spPr>
          <a:xfrm>
            <a:off x="4600346" y="3913632"/>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38090" y="3822192"/>
            <a:ext cx="2753258"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Racked, plugged in, cooled, looked after</a:t>
            </a:r>
          </a:p>
        </p:txBody>
      </p:sp>
      <p:sp>
        <p:nvSpPr>
          <p:cNvPr id="26" name="Rectangle 25"/>
          <p:cNvSpPr/>
          <p:nvPr/>
        </p:nvSpPr>
        <p:spPr>
          <a:xfrm>
            <a:off x="4600346" y="4297680"/>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38090" y="4206240"/>
            <a:ext cx="2753258"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Open models, so nothing to license</a:t>
            </a:r>
          </a:p>
        </p:txBody>
      </p:sp>
      <p:sp>
        <p:nvSpPr>
          <p:cNvPr id="28" name="Rectangle 27"/>
          <p:cNvSpPr/>
          <p:nvPr/>
        </p:nvSpPr>
        <p:spPr>
          <a:xfrm>
            <a:off x="4600346" y="4681728"/>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838090" y="4590288"/>
            <a:ext cx="2753258"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The owner earns from a phone in a drawer</a:t>
            </a:r>
          </a:p>
        </p:txBody>
      </p:sp>
      <p:sp>
        <p:nvSpPr>
          <p:cNvPr id="30" name="TextBox 29"/>
          <p:cNvSpPr txBox="1"/>
          <p:nvPr/>
        </p:nvSpPr>
        <p:spPr>
          <a:xfrm>
            <a:off x="4600346" y="4992624"/>
            <a:ext cx="2991002" cy="320040"/>
          </a:xfrm>
          <a:prstGeom prst="rect">
            <a:avLst/>
          </a:prstGeom>
          <a:noFill/>
        </p:spPr>
        <p:txBody>
          <a:bodyPr wrap="square" anchor="t" lIns="0" rIns="0" tIns="0" bIns="0">
            <a:spAutoFit/>
          </a:bodyPr>
          <a:lstStyle/>
          <a:p>
            <a:pPr algn="l">
              <a:spcAft>
                <a:spcPts val="600"/>
              </a:spcAft>
            </a:pPr>
            <a:r>
              <a:rPr sz="1300" b="1">
                <a:solidFill>
                  <a:srgbClr val="5FD68A"/>
                </a:solidFill>
                <a:latin typeface="Segoe UI"/>
              </a:rPr>
              <a:t>Sold per million words.</a:t>
            </a:r>
          </a:p>
        </p:txBody>
      </p:sp>
      <p:sp>
        <p:nvSpPr>
          <p:cNvPr id="31" name="Rounded Rectangle 30"/>
          <p:cNvSpPr/>
          <p:nvPr/>
        </p:nvSpPr>
        <p:spPr>
          <a:xfrm>
            <a:off x="8121700" y="2249424"/>
            <a:ext cx="3503066" cy="310896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77732" y="2487168"/>
            <a:ext cx="2991002"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WHO PAYS, EITHER WAY</a:t>
            </a:r>
          </a:p>
        </p:txBody>
      </p:sp>
      <p:sp>
        <p:nvSpPr>
          <p:cNvPr id="33" name="Rectangle 32"/>
          <p:cNvSpPr/>
          <p:nvPr/>
        </p:nvSpPr>
        <p:spPr>
          <a:xfrm>
            <a:off x="8377732" y="2944368"/>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615476" y="2852928"/>
            <a:ext cx="2753258"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Teams whose code cannot leave</a:t>
            </a:r>
          </a:p>
        </p:txBody>
      </p:sp>
      <p:sp>
        <p:nvSpPr>
          <p:cNvPr id="35" name="Rectangle 34"/>
          <p:cNvSpPr/>
          <p:nvPr/>
        </p:nvSpPr>
        <p:spPr>
          <a:xfrm>
            <a:off x="8377732" y="3401568"/>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615476" y="3310128"/>
            <a:ext cx="2753258"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Developers with a weak laptop</a:t>
            </a:r>
          </a:p>
        </p:txBody>
      </p:sp>
      <p:sp>
        <p:nvSpPr>
          <p:cNvPr id="37" name="Rectangle 36"/>
          <p:cNvSpPr/>
          <p:nvPr/>
        </p:nvSpPr>
        <p:spPr>
          <a:xfrm>
            <a:off x="8377732" y="3858768"/>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615476" y="3767328"/>
            <a:ext cx="2753258"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Anyone who needs a model their machine cannot hold</a:t>
            </a:r>
          </a:p>
        </p:txBody>
      </p:sp>
      <p:sp>
        <p:nvSpPr>
          <p:cNvPr id="39" name="TextBox 38"/>
          <p:cNvSpPr txBox="1"/>
          <p:nvPr/>
        </p:nvSpPr>
        <p:spPr>
          <a:xfrm>
            <a:off x="8377732" y="4352544"/>
            <a:ext cx="2991002" cy="731520"/>
          </a:xfrm>
          <a:prstGeom prst="rect">
            <a:avLst/>
          </a:prstGeom>
          <a:noFill/>
        </p:spPr>
        <p:txBody>
          <a:bodyPr wrap="square" anchor="t" lIns="0" rIns="0" tIns="0" bIns="0">
            <a:spAutoFit/>
          </a:bodyPr>
          <a:lstStyle/>
          <a:p>
            <a:pPr algn="l">
              <a:lnSpc>
                <a:spcPct val="135000"/>
              </a:lnSpc>
              <a:spcAft>
                <a:spcPts val="600"/>
              </a:spcAft>
            </a:pPr>
            <a:r>
              <a:rPr sz="1300" b="0">
                <a:solidFill>
                  <a:srgbClr val="A8ACA1"/>
                </a:solidFill>
                <a:latin typeface="Segoe UI"/>
              </a:rPr>
              <a:t>They are not choosing us over a cloud. They are choosing us over a ₹10 lakh GPU server, or nothing at all.</a:t>
            </a:r>
          </a:p>
        </p:txBody>
      </p:sp>
      <p:sp>
        <p:nvSpPr>
          <p:cNvPr id="40" name="TextBox 39"/>
          <p:cNvSpPr txBox="1"/>
          <p:nvPr/>
        </p:nvSpPr>
        <p:spPr>
          <a:xfrm>
            <a:off x="8377732" y="4992624"/>
            <a:ext cx="2991002" cy="320040"/>
          </a:xfrm>
          <a:prstGeom prst="rect">
            <a:avLst/>
          </a:prstGeom>
          <a:noFill/>
        </p:spPr>
        <p:txBody>
          <a:bodyPr wrap="square" anchor="t" lIns="0" rIns="0" tIns="0" bIns="0">
            <a:spAutoFit/>
          </a:bodyPr>
          <a:lstStyle/>
          <a:p>
            <a:pPr algn="l">
              <a:spcAft>
                <a:spcPts val="600"/>
              </a:spcAft>
            </a:pPr>
            <a:r>
              <a:rPr sz="1300" b="1">
                <a:solidFill>
                  <a:srgbClr val="5FD68A"/>
                </a:solidFill>
                <a:latin typeface="Segoe UI"/>
              </a:rPr>
              <a:t>And a phone maker can license it.</a:t>
            </a:r>
          </a:p>
        </p:txBody>
      </p:sp>
      <p:sp>
        <p:nvSpPr>
          <p:cNvPr id="41" name="TextBox 40"/>
          <p:cNvSpPr txBox="1"/>
          <p:nvPr/>
        </p:nvSpPr>
        <p:spPr>
          <a:xfrm>
            <a:off x="566928" y="6291072"/>
            <a:ext cx="6400800"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MeshAI</a:t>
            </a:r>
          </a:p>
        </p:txBody>
      </p:sp>
      <p:sp>
        <p:nvSpPr>
          <p:cNvPr id="42" name="TextBox 41"/>
          <p:cNvSpPr txBox="1"/>
          <p:nvPr/>
        </p:nvSpPr>
        <p:spPr>
          <a:xfrm>
            <a:off x="5223967" y="6291072"/>
            <a:ext cx="6400800" cy="274320"/>
          </a:xfrm>
          <a:prstGeom prst="rect">
            <a:avLst/>
          </a:prstGeom>
          <a:noFill/>
        </p:spPr>
        <p:txBody>
          <a:bodyPr wrap="square" anchor="t" lIns="0" rIns="0" tIns="0" bIns="0">
            <a:spAutoFit/>
          </a:bodyPr>
          <a:lstStyle/>
          <a:p>
            <a:pPr algn="r">
              <a:spcAft>
                <a:spcPts val="600"/>
              </a:spcAft>
            </a:pPr>
            <a:r>
              <a:rPr sz="1100" b="0">
                <a:solidFill>
                  <a:srgbClr val="71766C"/>
                </a:solidFill>
                <a:latin typeface="Consolas"/>
              </a:rPr>
              <a:t>open models · the memory is the scarce thing, and we pool it</a:t>
            </a:r>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800">
        <p159:morph option="byObject"/>
      </p:transition>
    </mc:Choice>
    <mc:Fallback>
      <p:transition spd="slow">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C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20624"/>
            <a:ext cx="11057839" cy="274320"/>
          </a:xfrm>
          <a:prstGeom prst="rect">
            <a:avLst/>
          </a:prstGeom>
          <a:noFill/>
        </p:spPr>
        <p:txBody>
          <a:bodyPr wrap="square" anchor="t" lIns="0" rIns="0" tIns="0" bIns="0">
            <a:spAutoFit/>
          </a:bodyPr>
          <a:lstStyle/>
          <a:p>
            <a:pPr algn="l">
              <a:spcAft>
                <a:spcPts val="600"/>
              </a:spcAft>
            </a:pPr>
            <a:r>
              <a:rPr sz="1200" b="0">
                <a:solidFill>
                  <a:srgbClr val="71766C"/>
                </a:solidFill>
                <a:latin typeface="Consolas"/>
              </a:rPr>
              <a:t>11 · FEASIBILITY</a:t>
            </a:r>
          </a:p>
        </p:txBody>
      </p:sp>
      <p:sp>
        <p:nvSpPr>
          <p:cNvPr id="4" name="TextBox 3"/>
          <p:cNvSpPr txBox="1"/>
          <p:nvPr/>
        </p:nvSpPr>
        <p:spPr>
          <a:xfrm>
            <a:off x="566928" y="713232"/>
            <a:ext cx="11057839" cy="731520"/>
          </a:xfrm>
          <a:prstGeom prst="rect">
            <a:avLst/>
          </a:prstGeom>
          <a:noFill/>
        </p:spPr>
        <p:txBody>
          <a:bodyPr wrap="square" anchor="t" lIns="0" rIns="0" tIns="0" bIns="0">
            <a:spAutoFit/>
          </a:bodyPr>
          <a:lstStyle/>
          <a:p>
            <a:pPr algn="l">
              <a:spcAft>
                <a:spcPts val="600"/>
              </a:spcAft>
            </a:pPr>
            <a:r>
              <a:rPr sz="4000" b="1">
                <a:solidFill>
                  <a:srgbClr val="F0EFE9"/>
                </a:solidFill>
                <a:latin typeface="Segoe UI"/>
              </a:rPr>
              <a:t>It already runs. This is not a plan.</a:t>
            </a:r>
          </a:p>
        </p:txBody>
      </p:sp>
      <p:sp>
        <p:nvSpPr>
          <p:cNvPr id="5" name="Rectangle 4"/>
          <p:cNvSpPr/>
          <p:nvPr/>
        </p:nvSpPr>
        <p:spPr>
          <a:xfrm>
            <a:off x="566928" y="1481328"/>
            <a:ext cx="11057839" cy="9525"/>
          </a:xfrm>
          <a:prstGeom prst="rect">
            <a:avLst/>
          </a:prstGeom>
          <a:solidFill>
            <a:srgbClr val="2A2F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66928" y="1755648"/>
            <a:ext cx="3503066" cy="3200400"/>
          </a:xfrm>
          <a:prstGeom prst="roundRect">
            <a:avLst>
              <a:gd name="adj" fmla="val 4000"/>
            </a:avLst>
          </a:prstGeom>
          <a:solidFill>
            <a:srgbClr val="142E20"/>
          </a:solidFill>
          <a:ln w="9525">
            <a:solidFill>
              <a:srgbClr val="5FD6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993392"/>
            <a:ext cx="2991002" cy="274320"/>
          </a:xfrm>
          <a:prstGeom prst="rect">
            <a:avLst/>
          </a:prstGeom>
          <a:noFill/>
        </p:spPr>
        <p:txBody>
          <a:bodyPr wrap="square" anchor="t" lIns="0" rIns="0" tIns="0" bIns="0">
            <a:spAutoFit/>
          </a:bodyPr>
          <a:lstStyle/>
          <a:p>
            <a:pPr algn="l">
              <a:spcAft>
                <a:spcPts val="600"/>
              </a:spcAft>
            </a:pPr>
            <a:r>
              <a:rPr sz="1100" b="0">
                <a:solidFill>
                  <a:srgbClr val="5FD68A"/>
                </a:solidFill>
                <a:latin typeface="Consolas"/>
              </a:rPr>
              <a:t>WHAT RAN</a:t>
            </a:r>
          </a:p>
        </p:txBody>
      </p:sp>
      <p:sp>
        <p:nvSpPr>
          <p:cNvPr id="8" name="TextBox 7"/>
          <p:cNvSpPr txBox="1"/>
          <p:nvPr/>
        </p:nvSpPr>
        <p:spPr>
          <a:xfrm>
            <a:off x="822960" y="2304288"/>
            <a:ext cx="2991002" cy="365760"/>
          </a:xfrm>
          <a:prstGeom prst="rect">
            <a:avLst/>
          </a:prstGeom>
          <a:noFill/>
        </p:spPr>
        <p:txBody>
          <a:bodyPr wrap="square" anchor="t" lIns="0" rIns="0" tIns="0" bIns="0">
            <a:spAutoFit/>
          </a:bodyPr>
          <a:lstStyle/>
          <a:p>
            <a:pPr algn="l">
              <a:spcAft>
                <a:spcPts val="600"/>
              </a:spcAft>
            </a:pPr>
            <a:r>
              <a:rPr sz="1900" b="1">
                <a:solidFill>
                  <a:srgbClr val="F0EFE9"/>
                </a:solidFill>
                <a:latin typeface="Segoe UI"/>
              </a:rPr>
              <a:t>Qwen3-Coder 30B</a:t>
            </a:r>
          </a:p>
        </p:txBody>
      </p:sp>
      <p:sp>
        <p:nvSpPr>
          <p:cNvPr id="9" name="Rectangle 8"/>
          <p:cNvSpPr/>
          <p:nvPr/>
        </p:nvSpPr>
        <p:spPr>
          <a:xfrm>
            <a:off x="822960" y="2852928"/>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2761488"/>
            <a:ext cx="2753258"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18.6 GB across a laptop and two phones</a:t>
            </a:r>
          </a:p>
        </p:txBody>
      </p:sp>
      <p:sp>
        <p:nvSpPr>
          <p:cNvPr id="11" name="Rectangle 10"/>
          <p:cNvSpPr/>
          <p:nvPr/>
        </p:nvSpPr>
        <p:spPr>
          <a:xfrm>
            <a:off x="822960" y="3182112"/>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0704" y="3090672"/>
            <a:ext cx="2753258"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The phones held 9.6 GB of it</a:t>
            </a:r>
          </a:p>
        </p:txBody>
      </p:sp>
      <p:sp>
        <p:nvSpPr>
          <p:cNvPr id="13" name="Rectangle 12"/>
          <p:cNvSpPr/>
          <p:nvPr/>
        </p:nvSpPr>
        <p:spPr>
          <a:xfrm>
            <a:off x="822960" y="3511296"/>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0704" y="3419856"/>
            <a:ext cx="2753258"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Ready in 70 seconds</a:t>
            </a:r>
          </a:p>
        </p:txBody>
      </p:sp>
      <p:sp>
        <p:nvSpPr>
          <p:cNvPr id="15" name="Rectangle 14"/>
          <p:cNvSpPr/>
          <p:nvPr/>
        </p:nvSpPr>
        <p:spPr>
          <a:xfrm>
            <a:off x="822960" y="3840480"/>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0704" y="3749040"/>
            <a:ext cx="2753258"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6.6 words a second</a:t>
            </a:r>
          </a:p>
        </p:txBody>
      </p:sp>
      <p:sp>
        <p:nvSpPr>
          <p:cNvPr id="17" name="Rectangle 16"/>
          <p:cNvSpPr/>
          <p:nvPr/>
        </p:nvSpPr>
        <p:spPr>
          <a:xfrm>
            <a:off x="822960" y="4169664"/>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60704" y="4078224"/>
            <a:ext cx="2753258"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Three coding questions, all correct</a:t>
            </a:r>
          </a:p>
        </p:txBody>
      </p:sp>
      <p:sp>
        <p:nvSpPr>
          <p:cNvPr id="19" name="Rectangle 18"/>
          <p:cNvSpPr/>
          <p:nvPr/>
        </p:nvSpPr>
        <p:spPr>
          <a:xfrm>
            <a:off x="822960" y="4498847"/>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0704" y="4407407"/>
            <a:ext cx="2753258"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Internet off the whole time</a:t>
            </a:r>
          </a:p>
        </p:txBody>
      </p:sp>
      <p:sp>
        <p:nvSpPr>
          <p:cNvPr id="21" name="TextBox 20"/>
          <p:cNvSpPr txBox="1"/>
          <p:nvPr/>
        </p:nvSpPr>
        <p:spPr>
          <a:xfrm>
            <a:off x="822960" y="4590288"/>
            <a:ext cx="2991002" cy="365760"/>
          </a:xfrm>
          <a:prstGeom prst="rect">
            <a:avLst/>
          </a:prstGeom>
          <a:noFill/>
        </p:spPr>
        <p:txBody>
          <a:bodyPr wrap="square" anchor="t" lIns="0" rIns="0" tIns="0" bIns="0">
            <a:spAutoFit/>
          </a:bodyPr>
          <a:lstStyle/>
          <a:p>
            <a:pPr algn="l">
              <a:lnSpc>
                <a:spcPct val="130000"/>
              </a:lnSpc>
              <a:spcAft>
                <a:spcPts val="600"/>
              </a:spcAft>
            </a:pPr>
            <a:r>
              <a:rPr sz="1000" b="0">
                <a:solidFill>
                  <a:srgbClr val="71766C"/>
                </a:solidFill>
                <a:latin typeface="Consolas"/>
              </a:rPr>
              <a:t>Cable at 2–3 ms · context 4096 · laptop capped at 8 GB · 27 September</a:t>
            </a:r>
          </a:p>
        </p:txBody>
      </p:sp>
      <p:sp>
        <p:nvSpPr>
          <p:cNvPr id="22" name="Rounded Rectangle 21"/>
          <p:cNvSpPr/>
          <p:nvPr/>
        </p:nvSpPr>
        <p:spPr>
          <a:xfrm>
            <a:off x="4344314" y="1755648"/>
            <a:ext cx="3503066" cy="320040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00346" y="1993392"/>
            <a:ext cx="2991002"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BUILT IN THE WINDOW</a:t>
            </a:r>
          </a:p>
        </p:txBody>
      </p:sp>
      <p:sp>
        <p:nvSpPr>
          <p:cNvPr id="24" name="Rectangle 23"/>
          <p:cNvSpPr/>
          <p:nvPr/>
        </p:nvSpPr>
        <p:spPr>
          <a:xfrm>
            <a:off x="4600346" y="2450592"/>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38090" y="2359152"/>
            <a:ext cx="2753258"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llama.cpp built for phones</a:t>
            </a:r>
          </a:p>
        </p:txBody>
      </p:sp>
      <p:sp>
        <p:nvSpPr>
          <p:cNvPr id="26" name="Rectangle 25"/>
          <p:cNvSpPr/>
          <p:nvPr/>
        </p:nvSpPr>
        <p:spPr>
          <a:xfrm>
            <a:off x="4600346" y="2798064"/>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38090" y="2706624"/>
            <a:ext cx="2753258"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The app: host and helper</a:t>
            </a:r>
          </a:p>
        </p:txBody>
      </p:sp>
      <p:sp>
        <p:nvSpPr>
          <p:cNvPr id="28" name="Rectangle 27"/>
          <p:cNvSpPr/>
          <p:nvPr/>
        </p:nvSpPr>
        <p:spPr>
          <a:xfrm>
            <a:off x="4600346" y="3145536"/>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838090" y="3054096"/>
            <a:ext cx="2753258"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The laptop agent and its panel</a:t>
            </a:r>
          </a:p>
        </p:txBody>
      </p:sp>
      <p:sp>
        <p:nvSpPr>
          <p:cNvPr id="30" name="Rectangle 29"/>
          <p:cNvSpPr/>
          <p:nvPr/>
        </p:nvSpPr>
        <p:spPr>
          <a:xfrm>
            <a:off x="4600346" y="3493008"/>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838090" y="3401568"/>
            <a:ext cx="2753258"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Our own model reader and planner</a:t>
            </a:r>
          </a:p>
        </p:txBody>
      </p:sp>
      <p:sp>
        <p:nvSpPr>
          <p:cNvPr id="32" name="Rectangle 31"/>
          <p:cNvSpPr/>
          <p:nvPr/>
        </p:nvSpPr>
        <p:spPr>
          <a:xfrm>
            <a:off x="4600346" y="3840480"/>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838090" y="3749040"/>
            <a:ext cx="2753258"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The layer store</a:t>
            </a:r>
          </a:p>
        </p:txBody>
      </p:sp>
      <p:sp>
        <p:nvSpPr>
          <p:cNvPr id="34" name="Rectangle 33"/>
          <p:cNvSpPr/>
          <p:nvPr/>
        </p:nvSpPr>
        <p:spPr>
          <a:xfrm>
            <a:off x="4600346" y="4187952"/>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838090" y="4096512"/>
            <a:ext cx="2753258"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The test harness</a:t>
            </a:r>
          </a:p>
        </p:txBody>
      </p:sp>
      <p:sp>
        <p:nvSpPr>
          <p:cNvPr id="36" name="Rectangle 35"/>
          <p:cNvSpPr/>
          <p:nvPr/>
        </p:nvSpPr>
        <p:spPr>
          <a:xfrm>
            <a:off x="4600346" y="4535424"/>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838090" y="4443984"/>
            <a:ext cx="2753258"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The CLI and the git hook</a:t>
            </a:r>
          </a:p>
        </p:txBody>
      </p:sp>
      <p:sp>
        <p:nvSpPr>
          <p:cNvPr id="38" name="TextBox 37"/>
          <p:cNvSpPr txBox="1"/>
          <p:nvPr/>
        </p:nvSpPr>
        <p:spPr>
          <a:xfrm>
            <a:off x="4600346" y="4636008"/>
            <a:ext cx="2991002" cy="274320"/>
          </a:xfrm>
          <a:prstGeom prst="rect">
            <a:avLst/>
          </a:prstGeom>
          <a:noFill/>
        </p:spPr>
        <p:txBody>
          <a:bodyPr wrap="square" anchor="t" lIns="0" rIns="0" tIns="0" bIns="0">
            <a:spAutoFit/>
          </a:bodyPr>
          <a:lstStyle/>
          <a:p>
            <a:pPr algn="l">
              <a:spcAft>
                <a:spcPts val="600"/>
              </a:spcAft>
            </a:pPr>
            <a:r>
              <a:rPr sz="1100" b="0">
                <a:solidFill>
                  <a:srgbClr val="71766C"/>
                </a:solidFill>
                <a:latin typeface="Segoe UI"/>
              </a:rPr>
              <a:t>Every commit timestamped. Nothing pre-built.</a:t>
            </a:r>
          </a:p>
        </p:txBody>
      </p:sp>
      <p:sp>
        <p:nvSpPr>
          <p:cNvPr id="39" name="Rounded Rectangle 38"/>
          <p:cNvSpPr/>
          <p:nvPr/>
        </p:nvSpPr>
        <p:spPr>
          <a:xfrm>
            <a:off x="8121700" y="1755648"/>
            <a:ext cx="3503066" cy="320040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377732" y="1993392"/>
            <a:ext cx="2991002"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IF SOMETHING GOES WRONG</a:t>
            </a:r>
          </a:p>
        </p:txBody>
      </p:sp>
      <p:sp>
        <p:nvSpPr>
          <p:cNvPr id="41" name="TextBox 40"/>
          <p:cNvSpPr txBox="1"/>
          <p:nvPr/>
        </p:nvSpPr>
        <p:spPr>
          <a:xfrm>
            <a:off x="8377732" y="2377440"/>
            <a:ext cx="1737360"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Slow link</a:t>
            </a:r>
          </a:p>
        </p:txBody>
      </p:sp>
      <p:sp>
        <p:nvSpPr>
          <p:cNvPr id="42" name="TextBox 41"/>
          <p:cNvSpPr txBox="1"/>
          <p:nvPr/>
        </p:nvSpPr>
        <p:spPr>
          <a:xfrm>
            <a:off x="10133380" y="2377440"/>
            <a:ext cx="1217066" cy="274320"/>
          </a:xfrm>
          <a:prstGeom prst="rect">
            <a:avLst/>
          </a:prstGeom>
          <a:noFill/>
        </p:spPr>
        <p:txBody>
          <a:bodyPr wrap="square" anchor="t" lIns="0" rIns="0" tIns="0" bIns="0">
            <a:spAutoFit/>
          </a:bodyPr>
          <a:lstStyle/>
          <a:p>
            <a:pPr algn="l">
              <a:spcAft>
                <a:spcPts val="600"/>
              </a:spcAft>
            </a:pPr>
            <a:r>
              <a:rPr sz="1200" b="0">
                <a:solidFill>
                  <a:srgbClr val="71766C"/>
                </a:solidFill>
                <a:latin typeface="Segoe UI"/>
              </a:rPr>
              <a:t>refused above 60 ms</a:t>
            </a:r>
          </a:p>
        </p:txBody>
      </p:sp>
      <p:sp>
        <p:nvSpPr>
          <p:cNvPr id="43" name="TextBox 42"/>
          <p:cNvSpPr txBox="1"/>
          <p:nvPr/>
        </p:nvSpPr>
        <p:spPr>
          <a:xfrm>
            <a:off x="8377732" y="2788920"/>
            <a:ext cx="1737360"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Phone short of memory</a:t>
            </a:r>
          </a:p>
        </p:txBody>
      </p:sp>
      <p:sp>
        <p:nvSpPr>
          <p:cNvPr id="44" name="TextBox 43"/>
          <p:cNvSpPr txBox="1"/>
          <p:nvPr/>
        </p:nvSpPr>
        <p:spPr>
          <a:xfrm>
            <a:off x="10133380" y="2788920"/>
            <a:ext cx="1217066" cy="274320"/>
          </a:xfrm>
          <a:prstGeom prst="rect">
            <a:avLst/>
          </a:prstGeom>
          <a:noFill/>
        </p:spPr>
        <p:txBody>
          <a:bodyPr wrap="square" anchor="t" lIns="0" rIns="0" tIns="0" bIns="0">
            <a:spAutoFit/>
          </a:bodyPr>
          <a:lstStyle/>
          <a:p>
            <a:pPr algn="l">
              <a:spcAft>
                <a:spcPts val="600"/>
              </a:spcAft>
            </a:pPr>
            <a:r>
              <a:rPr sz="1200" b="0">
                <a:solidFill>
                  <a:srgbClr val="71766C"/>
                </a:solidFill>
                <a:latin typeface="Segoe UI"/>
              </a:rPr>
              <a:t>we reserve, and you can cap it</a:t>
            </a:r>
          </a:p>
        </p:txBody>
      </p:sp>
      <p:sp>
        <p:nvSpPr>
          <p:cNvPr id="45" name="TextBox 44"/>
          <p:cNvSpPr txBox="1"/>
          <p:nvPr/>
        </p:nvSpPr>
        <p:spPr>
          <a:xfrm>
            <a:off x="8377732" y="3200400"/>
            <a:ext cx="1737360"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A device drops</a:t>
            </a:r>
          </a:p>
        </p:txBody>
      </p:sp>
      <p:sp>
        <p:nvSpPr>
          <p:cNvPr id="46" name="TextBox 45"/>
          <p:cNvSpPr txBox="1"/>
          <p:nvPr/>
        </p:nvSpPr>
        <p:spPr>
          <a:xfrm>
            <a:off x="10133380" y="3200400"/>
            <a:ext cx="1217066" cy="274320"/>
          </a:xfrm>
          <a:prstGeom prst="rect">
            <a:avLst/>
          </a:prstGeom>
          <a:noFill/>
        </p:spPr>
        <p:txBody>
          <a:bodyPr wrap="square" anchor="t" lIns="0" rIns="0" tIns="0" bIns="0">
            <a:spAutoFit/>
          </a:bodyPr>
          <a:lstStyle/>
          <a:p>
            <a:pPr algn="l">
              <a:spcAft>
                <a:spcPts val="600"/>
              </a:spcAft>
            </a:pPr>
            <a:r>
              <a:rPr sz="1200" b="0">
                <a:solidFill>
                  <a:srgbClr val="71766C"/>
                </a:solidFill>
                <a:latin typeface="Segoe UI"/>
              </a:rPr>
              <a:t>it comes back by itself</a:t>
            </a:r>
          </a:p>
        </p:txBody>
      </p:sp>
      <p:sp>
        <p:nvSpPr>
          <p:cNvPr id="47" name="TextBox 46"/>
          <p:cNvSpPr txBox="1"/>
          <p:nvPr/>
        </p:nvSpPr>
        <p:spPr>
          <a:xfrm>
            <a:off x="8377732" y="3611880"/>
            <a:ext cx="1737360"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Engine missing a flag</a:t>
            </a:r>
          </a:p>
        </p:txBody>
      </p:sp>
      <p:sp>
        <p:nvSpPr>
          <p:cNvPr id="48" name="TextBox 47"/>
          <p:cNvSpPr txBox="1"/>
          <p:nvPr/>
        </p:nvSpPr>
        <p:spPr>
          <a:xfrm>
            <a:off x="10133380" y="3611880"/>
            <a:ext cx="1217066" cy="274320"/>
          </a:xfrm>
          <a:prstGeom prst="rect">
            <a:avLst/>
          </a:prstGeom>
          <a:noFill/>
        </p:spPr>
        <p:txBody>
          <a:bodyPr wrap="square" anchor="t" lIns="0" rIns="0" tIns="0" bIns="0">
            <a:spAutoFit/>
          </a:bodyPr>
          <a:lstStyle/>
          <a:p>
            <a:pPr algn="l">
              <a:spcAft>
                <a:spcPts val="600"/>
              </a:spcAft>
            </a:pPr>
            <a:r>
              <a:rPr sz="1200" b="0">
                <a:solidFill>
                  <a:srgbClr val="71766C"/>
                </a:solidFill>
                <a:latin typeface="Segoe UI"/>
              </a:rPr>
              <a:t>we ask it what it has</a:t>
            </a:r>
          </a:p>
        </p:txBody>
      </p:sp>
      <p:sp>
        <p:nvSpPr>
          <p:cNvPr id="49" name="TextBox 48"/>
          <p:cNvSpPr txBox="1"/>
          <p:nvPr/>
        </p:nvSpPr>
        <p:spPr>
          <a:xfrm>
            <a:off x="8377732" y="4023360"/>
            <a:ext cx="1737360"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Bad model file</a:t>
            </a:r>
          </a:p>
        </p:txBody>
      </p:sp>
      <p:sp>
        <p:nvSpPr>
          <p:cNvPr id="50" name="TextBox 49"/>
          <p:cNvSpPr txBox="1"/>
          <p:nvPr/>
        </p:nvSpPr>
        <p:spPr>
          <a:xfrm>
            <a:off x="10133380" y="4023360"/>
            <a:ext cx="1217066" cy="274320"/>
          </a:xfrm>
          <a:prstGeom prst="rect">
            <a:avLst/>
          </a:prstGeom>
          <a:noFill/>
        </p:spPr>
        <p:txBody>
          <a:bodyPr wrap="square" anchor="t" lIns="0" rIns="0" tIns="0" bIns="0">
            <a:spAutoFit/>
          </a:bodyPr>
          <a:lstStyle/>
          <a:p>
            <a:pPr algn="l">
              <a:spcAft>
                <a:spcPts val="600"/>
              </a:spcAft>
            </a:pPr>
            <a:r>
              <a:rPr sz="1200" b="0">
                <a:solidFill>
                  <a:srgbClr val="71766C"/>
                </a:solidFill>
                <a:latin typeface="Segoe UI"/>
              </a:rPr>
              <a:t>every read is checked</a:t>
            </a:r>
          </a:p>
        </p:txBody>
      </p:sp>
      <p:sp>
        <p:nvSpPr>
          <p:cNvPr id="51" name="TextBox 50"/>
          <p:cNvSpPr txBox="1"/>
          <p:nvPr/>
        </p:nvSpPr>
        <p:spPr>
          <a:xfrm>
            <a:off x="8377732" y="4434840"/>
            <a:ext cx="1737360" cy="274320"/>
          </a:xfrm>
          <a:prstGeom prst="rect">
            <a:avLst/>
          </a:prstGeom>
          <a:noFill/>
        </p:spPr>
        <p:txBody>
          <a:bodyPr wrap="square" anchor="t" lIns="0" rIns="0" tIns="0" bIns="0">
            <a:spAutoFit/>
          </a:bodyPr>
          <a:lstStyle/>
          <a:p>
            <a:pPr algn="l">
              <a:spcAft>
                <a:spcPts val="600"/>
              </a:spcAft>
            </a:pPr>
            <a:r>
              <a:rPr sz="1300" b="0">
                <a:solidFill>
                  <a:srgbClr val="F0EFE9"/>
                </a:solidFill>
                <a:latin typeface="Segoe UI"/>
              </a:rPr>
              <a:t>A strange machine</a:t>
            </a:r>
          </a:p>
        </p:txBody>
      </p:sp>
      <p:sp>
        <p:nvSpPr>
          <p:cNvPr id="52" name="TextBox 51"/>
          <p:cNvSpPr txBox="1"/>
          <p:nvPr/>
        </p:nvSpPr>
        <p:spPr>
          <a:xfrm>
            <a:off x="10133380" y="4434840"/>
            <a:ext cx="1217066" cy="274320"/>
          </a:xfrm>
          <a:prstGeom prst="rect">
            <a:avLst/>
          </a:prstGeom>
          <a:noFill/>
        </p:spPr>
        <p:txBody>
          <a:bodyPr wrap="square" anchor="t" lIns="0" rIns="0" tIns="0" bIns="0">
            <a:spAutoFit/>
          </a:bodyPr>
          <a:lstStyle/>
          <a:p>
            <a:pPr algn="l">
              <a:spcAft>
                <a:spcPts val="600"/>
              </a:spcAft>
            </a:pPr>
            <a:r>
              <a:rPr sz="1200" b="0">
                <a:solidFill>
                  <a:srgbClr val="71766C"/>
                </a:solidFill>
                <a:latin typeface="Segoe UI"/>
              </a:rPr>
              <a:t>one button checks everything</a:t>
            </a:r>
          </a:p>
        </p:txBody>
      </p:sp>
      <p:sp>
        <p:nvSpPr>
          <p:cNvPr id="53" name="TextBox 52"/>
          <p:cNvSpPr txBox="1"/>
          <p:nvPr/>
        </p:nvSpPr>
        <p:spPr>
          <a:xfrm>
            <a:off x="8377732" y="4636008"/>
            <a:ext cx="2991002" cy="274320"/>
          </a:xfrm>
          <a:prstGeom prst="rect">
            <a:avLst/>
          </a:prstGeom>
          <a:noFill/>
        </p:spPr>
        <p:txBody>
          <a:bodyPr wrap="square" anchor="t" lIns="0" rIns="0" tIns="0" bIns="0">
            <a:spAutoFit/>
          </a:bodyPr>
          <a:lstStyle/>
          <a:p>
            <a:pPr algn="l">
              <a:spcAft>
                <a:spcPts val="600"/>
              </a:spcAft>
            </a:pPr>
            <a:r>
              <a:rPr sz="1300" b="1">
                <a:solidFill>
                  <a:srgbClr val="5FD68A"/>
                </a:solidFill>
                <a:latin typeface="Segoe UI"/>
              </a:rPr>
              <a:t>It says no before it disappoints you.</a:t>
            </a:r>
          </a:p>
        </p:txBody>
      </p:sp>
      <p:sp>
        <p:nvSpPr>
          <p:cNvPr id="54" name="TextBox 53"/>
          <p:cNvSpPr txBox="1"/>
          <p:nvPr/>
        </p:nvSpPr>
        <p:spPr>
          <a:xfrm>
            <a:off x="566928" y="6291072"/>
            <a:ext cx="6400800"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MeshAI</a:t>
            </a:r>
          </a:p>
        </p:txBody>
      </p:sp>
      <p:sp>
        <p:nvSpPr>
          <p:cNvPr id="55" name="TextBox 54"/>
          <p:cNvSpPr txBox="1"/>
          <p:nvPr/>
        </p:nvSpPr>
        <p:spPr>
          <a:xfrm>
            <a:off x="5223967" y="6291072"/>
            <a:ext cx="6400800" cy="274320"/>
          </a:xfrm>
          <a:prstGeom prst="rect">
            <a:avLst/>
          </a:prstGeom>
          <a:noFill/>
        </p:spPr>
        <p:txBody>
          <a:bodyPr wrap="square" anchor="t" lIns="0" rIns="0" tIns="0" bIns="0">
            <a:spAutoFit/>
          </a:bodyPr>
          <a:lstStyle/>
          <a:p>
            <a:pPr algn="r">
              <a:spcAft>
                <a:spcPts val="600"/>
              </a:spcAft>
            </a:pPr>
            <a:r>
              <a:rPr sz="1100" b="0">
                <a:solidFill>
                  <a:srgbClr val="71766C"/>
                </a:solidFill>
                <a:latin typeface="Consolas"/>
              </a:rPr>
              <a:t>two 16 GB phones and one budget laptop · nothing else was bought</a:t>
            </a:r>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800">
        <p159:morph option="byObject"/>
      </p:transition>
    </mc:Choice>
    <mc:Fallback>
      <p:transition spd="slow">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C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20624"/>
            <a:ext cx="11057839" cy="274320"/>
          </a:xfrm>
          <a:prstGeom prst="rect">
            <a:avLst/>
          </a:prstGeom>
          <a:noFill/>
        </p:spPr>
        <p:txBody>
          <a:bodyPr wrap="square" anchor="t" lIns="0" rIns="0" tIns="0" bIns="0">
            <a:spAutoFit/>
          </a:bodyPr>
          <a:lstStyle/>
          <a:p>
            <a:pPr algn="l">
              <a:spcAft>
                <a:spcPts val="600"/>
              </a:spcAft>
            </a:pPr>
            <a:r>
              <a:rPr sz="1200" b="0">
                <a:solidFill>
                  <a:srgbClr val="71766C"/>
                </a:solidFill>
                <a:latin typeface="Consolas"/>
              </a:rPr>
              <a:t>12 · IMPACT</a:t>
            </a:r>
          </a:p>
        </p:txBody>
      </p:sp>
      <p:sp>
        <p:nvSpPr>
          <p:cNvPr id="4" name="TextBox 3"/>
          <p:cNvSpPr txBox="1"/>
          <p:nvPr/>
        </p:nvSpPr>
        <p:spPr>
          <a:xfrm>
            <a:off x="566928" y="713232"/>
            <a:ext cx="11057839" cy="731520"/>
          </a:xfrm>
          <a:prstGeom prst="rect">
            <a:avLst/>
          </a:prstGeom>
          <a:noFill/>
        </p:spPr>
        <p:txBody>
          <a:bodyPr wrap="square" anchor="t" lIns="0" rIns="0" tIns="0" bIns="0">
            <a:spAutoFit/>
          </a:bodyPr>
          <a:lstStyle/>
          <a:p>
            <a:pPr algn="l">
              <a:spcAft>
                <a:spcPts val="600"/>
              </a:spcAft>
            </a:pPr>
            <a:r>
              <a:rPr sz="4000" b="1">
                <a:solidFill>
                  <a:srgbClr val="F0EFE9"/>
                </a:solidFill>
                <a:latin typeface="Segoe UI"/>
              </a:rPr>
              <a:t>More devices, bigger model, better answers.</a:t>
            </a:r>
          </a:p>
        </p:txBody>
      </p:sp>
      <p:sp>
        <p:nvSpPr>
          <p:cNvPr id="5" name="Rectangle 4"/>
          <p:cNvSpPr/>
          <p:nvPr/>
        </p:nvSpPr>
        <p:spPr>
          <a:xfrm>
            <a:off x="566928" y="1481328"/>
            <a:ext cx="11057839" cy="9525"/>
          </a:xfrm>
          <a:prstGeom prst="rect">
            <a:avLst/>
          </a:prstGeom>
          <a:solidFill>
            <a:srgbClr val="2A2F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66928" y="1755648"/>
            <a:ext cx="5930935" cy="301752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93392"/>
            <a:ext cx="5382295"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WHO IT IS FOR</a:t>
            </a:r>
          </a:p>
        </p:txBody>
      </p:sp>
      <p:sp>
        <p:nvSpPr>
          <p:cNvPr id="8" name="Rounded Rectangle 7"/>
          <p:cNvSpPr/>
          <p:nvPr/>
        </p:nvSpPr>
        <p:spPr>
          <a:xfrm>
            <a:off x="841248" y="2359152"/>
            <a:ext cx="2880360" cy="36576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2441448"/>
            <a:ext cx="2651760" cy="274320"/>
          </a:xfrm>
          <a:prstGeom prst="rect">
            <a:avLst/>
          </a:prstGeom>
          <a:noFill/>
        </p:spPr>
        <p:txBody>
          <a:bodyPr wrap="square" anchor="t" lIns="0" rIns="0" tIns="0" bIns="0">
            <a:spAutoFit/>
          </a:bodyPr>
          <a:lstStyle/>
          <a:p>
            <a:pPr algn="l">
              <a:spcAft>
                <a:spcPts val="600"/>
              </a:spcAft>
            </a:pPr>
            <a:r>
              <a:rPr sz="1200" b="0">
                <a:solidFill>
                  <a:srgbClr val="A8ACA1"/>
                </a:solidFill>
                <a:latin typeface="Segoe UI"/>
              </a:rPr>
              <a:t>Developers on a weak laptop</a:t>
            </a:r>
          </a:p>
        </p:txBody>
      </p:sp>
      <p:sp>
        <p:nvSpPr>
          <p:cNvPr id="10" name="Rounded Rectangle 9"/>
          <p:cNvSpPr/>
          <p:nvPr/>
        </p:nvSpPr>
        <p:spPr>
          <a:xfrm>
            <a:off x="3904488" y="2359152"/>
            <a:ext cx="2880360" cy="36576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050792" y="2441448"/>
            <a:ext cx="2651760" cy="274320"/>
          </a:xfrm>
          <a:prstGeom prst="rect">
            <a:avLst/>
          </a:prstGeom>
          <a:noFill/>
        </p:spPr>
        <p:txBody>
          <a:bodyPr wrap="square" anchor="t" lIns="0" rIns="0" tIns="0" bIns="0">
            <a:spAutoFit/>
          </a:bodyPr>
          <a:lstStyle/>
          <a:p>
            <a:pPr algn="l">
              <a:spcAft>
                <a:spcPts val="600"/>
              </a:spcAft>
            </a:pPr>
            <a:r>
              <a:rPr sz="1200" b="0">
                <a:solidFill>
                  <a:srgbClr val="A8ACA1"/>
                </a:solidFill>
                <a:latin typeface="Segoe UI"/>
              </a:rPr>
              <a:t>Two person teams</a:t>
            </a:r>
          </a:p>
        </p:txBody>
      </p:sp>
      <p:sp>
        <p:nvSpPr>
          <p:cNvPr id="12" name="Rounded Rectangle 11"/>
          <p:cNvSpPr/>
          <p:nvPr/>
        </p:nvSpPr>
        <p:spPr>
          <a:xfrm>
            <a:off x="841248" y="2816352"/>
            <a:ext cx="2880360" cy="36576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87552" y="2898648"/>
            <a:ext cx="2651760" cy="274320"/>
          </a:xfrm>
          <a:prstGeom prst="rect">
            <a:avLst/>
          </a:prstGeom>
          <a:noFill/>
        </p:spPr>
        <p:txBody>
          <a:bodyPr wrap="square" anchor="t" lIns="0" rIns="0" tIns="0" bIns="0">
            <a:spAutoFit/>
          </a:bodyPr>
          <a:lstStyle/>
          <a:p>
            <a:pPr algn="l">
              <a:spcAft>
                <a:spcPts val="600"/>
              </a:spcAft>
            </a:pPr>
            <a:r>
              <a:rPr sz="1200" b="0">
                <a:solidFill>
                  <a:srgbClr val="A8ACA1"/>
                </a:solidFill>
                <a:latin typeface="Segoe UI"/>
              </a:rPr>
              <a:t>Workplaces that ban cloud AI</a:t>
            </a:r>
          </a:p>
        </p:txBody>
      </p:sp>
      <p:sp>
        <p:nvSpPr>
          <p:cNvPr id="14" name="Rounded Rectangle 13"/>
          <p:cNvSpPr/>
          <p:nvPr/>
        </p:nvSpPr>
        <p:spPr>
          <a:xfrm>
            <a:off x="3904488" y="2816352"/>
            <a:ext cx="2880360" cy="36576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050792" y="2898648"/>
            <a:ext cx="2651760" cy="274320"/>
          </a:xfrm>
          <a:prstGeom prst="rect">
            <a:avLst/>
          </a:prstGeom>
          <a:noFill/>
        </p:spPr>
        <p:txBody>
          <a:bodyPr wrap="square" anchor="t" lIns="0" rIns="0" tIns="0" bIns="0">
            <a:spAutoFit/>
          </a:bodyPr>
          <a:lstStyle/>
          <a:p>
            <a:pPr algn="l">
              <a:spcAft>
                <a:spcPts val="600"/>
              </a:spcAft>
            </a:pPr>
            <a:r>
              <a:rPr sz="1200" b="0">
                <a:solidFill>
                  <a:srgbClr val="A8ACA1"/>
                </a:solidFill>
                <a:latin typeface="Segoe UI"/>
              </a:rPr>
              <a:t>Students with a good phone</a:t>
            </a:r>
          </a:p>
        </p:txBody>
      </p:sp>
      <p:sp>
        <p:nvSpPr>
          <p:cNvPr id="16" name="Rounded Rectangle 15"/>
          <p:cNvSpPr/>
          <p:nvPr/>
        </p:nvSpPr>
        <p:spPr>
          <a:xfrm>
            <a:off x="841248" y="3273552"/>
            <a:ext cx="2880360" cy="36576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87552" y="3355848"/>
            <a:ext cx="2651760" cy="274320"/>
          </a:xfrm>
          <a:prstGeom prst="rect">
            <a:avLst/>
          </a:prstGeom>
          <a:noFill/>
        </p:spPr>
        <p:txBody>
          <a:bodyPr wrap="square" anchor="t" lIns="0" rIns="0" tIns="0" bIns="0">
            <a:spAutoFit/>
          </a:bodyPr>
          <a:lstStyle/>
          <a:p>
            <a:pPr algn="l">
              <a:spcAft>
                <a:spcPts val="600"/>
              </a:spcAft>
            </a:pPr>
            <a:r>
              <a:rPr sz="1200" b="0">
                <a:solidFill>
                  <a:srgbClr val="A8ACA1"/>
                </a:solidFill>
                <a:latin typeface="Segoe UI"/>
              </a:rPr>
              <a:t>Field work with no signal</a:t>
            </a:r>
          </a:p>
        </p:txBody>
      </p:sp>
      <p:sp>
        <p:nvSpPr>
          <p:cNvPr id="18" name="Rounded Rectangle 17"/>
          <p:cNvSpPr/>
          <p:nvPr/>
        </p:nvSpPr>
        <p:spPr>
          <a:xfrm>
            <a:off x="3904488" y="3273552"/>
            <a:ext cx="2880360" cy="36576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050792" y="3355848"/>
            <a:ext cx="2651760" cy="274320"/>
          </a:xfrm>
          <a:prstGeom prst="rect">
            <a:avLst/>
          </a:prstGeom>
          <a:noFill/>
        </p:spPr>
        <p:txBody>
          <a:bodyPr wrap="square" anchor="t" lIns="0" rIns="0" tIns="0" bIns="0">
            <a:spAutoFit/>
          </a:bodyPr>
          <a:lstStyle/>
          <a:p>
            <a:pPr algn="l">
              <a:spcAft>
                <a:spcPts val="600"/>
              </a:spcAft>
            </a:pPr>
            <a:r>
              <a:rPr sz="1200" b="0">
                <a:solidFill>
                  <a:srgbClr val="A8ACA1"/>
                </a:solidFill>
                <a:latin typeface="Segoe UI"/>
              </a:rPr>
              <a:t>Any capable Android</a:t>
            </a:r>
          </a:p>
        </p:txBody>
      </p:sp>
      <p:sp>
        <p:nvSpPr>
          <p:cNvPr id="20" name="Rectangle 19"/>
          <p:cNvSpPr/>
          <p:nvPr/>
        </p:nvSpPr>
        <p:spPr>
          <a:xfrm>
            <a:off x="841248" y="3995928"/>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78992" y="3904488"/>
            <a:ext cx="5144551" cy="274320"/>
          </a:xfrm>
          <a:prstGeom prst="rect">
            <a:avLst/>
          </a:prstGeom>
          <a:noFill/>
        </p:spPr>
        <p:txBody>
          <a:bodyPr wrap="square" anchor="t" lIns="0" rIns="0" tIns="0" bIns="0">
            <a:spAutoFit/>
          </a:bodyPr>
          <a:lstStyle/>
          <a:p>
            <a:pPr algn="l">
              <a:spcAft>
                <a:spcPts val="600"/>
              </a:spcAft>
            </a:pPr>
            <a:r>
              <a:rPr sz="1400" b="0">
                <a:solidFill>
                  <a:srgbClr val="F0EFE9"/>
                </a:solidFill>
                <a:latin typeface="Segoe UI"/>
              </a:rPr>
              <a:t>What you can hold is what you can run</a:t>
            </a:r>
          </a:p>
        </p:txBody>
      </p:sp>
      <p:sp>
        <p:nvSpPr>
          <p:cNvPr id="22" name="Rectangle 21"/>
          <p:cNvSpPr/>
          <p:nvPr/>
        </p:nvSpPr>
        <p:spPr>
          <a:xfrm>
            <a:off x="841248" y="4379976"/>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78992" y="4288536"/>
            <a:ext cx="5144551" cy="274320"/>
          </a:xfrm>
          <a:prstGeom prst="rect">
            <a:avLst/>
          </a:prstGeom>
          <a:noFill/>
        </p:spPr>
        <p:txBody>
          <a:bodyPr wrap="square" anchor="t" lIns="0" rIns="0" tIns="0" bIns="0">
            <a:spAutoFit/>
          </a:bodyPr>
          <a:lstStyle/>
          <a:p>
            <a:pPr algn="l">
              <a:spcAft>
                <a:spcPts val="600"/>
              </a:spcAft>
            </a:pPr>
            <a:r>
              <a:rPr sz="1400" b="0">
                <a:solidFill>
                  <a:srgbClr val="F0EFE9"/>
                </a:solidFill>
                <a:latin typeface="Segoe UI"/>
              </a:rPr>
              <a:t>Put devices together and you can hold more</a:t>
            </a:r>
          </a:p>
        </p:txBody>
      </p:sp>
      <p:sp>
        <p:nvSpPr>
          <p:cNvPr id="24" name="Rounded Rectangle 23"/>
          <p:cNvSpPr/>
          <p:nvPr/>
        </p:nvSpPr>
        <p:spPr>
          <a:xfrm>
            <a:off x="6772183" y="1755648"/>
            <a:ext cx="4852583" cy="301752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046503" y="1993392"/>
            <a:ext cx="4572000"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WHY THE PHONE MATTERS HERE</a:t>
            </a:r>
          </a:p>
        </p:txBody>
      </p:sp>
      <p:sp>
        <p:nvSpPr>
          <p:cNvPr id="26" name="TextBox 25"/>
          <p:cNvSpPr txBox="1"/>
          <p:nvPr/>
        </p:nvSpPr>
        <p:spPr>
          <a:xfrm>
            <a:off x="7046503" y="2395728"/>
            <a:ext cx="2011680" cy="548640"/>
          </a:xfrm>
          <a:prstGeom prst="rect">
            <a:avLst/>
          </a:prstGeom>
          <a:noFill/>
        </p:spPr>
        <p:txBody>
          <a:bodyPr wrap="square" anchor="t" lIns="0" rIns="0" tIns="0" bIns="0">
            <a:spAutoFit/>
          </a:bodyPr>
          <a:lstStyle/>
          <a:p>
            <a:pPr algn="l">
              <a:spcAft>
                <a:spcPts val="600"/>
              </a:spcAft>
            </a:pPr>
            <a:r>
              <a:rPr sz="3400" b="1">
                <a:solidFill>
                  <a:srgbClr val="5FD68A"/>
                </a:solidFill>
                <a:latin typeface="Consolas"/>
              </a:rPr>
              <a:t>94.2%</a:t>
            </a:r>
          </a:p>
        </p:txBody>
      </p:sp>
      <p:sp>
        <p:nvSpPr>
          <p:cNvPr id="27" name="TextBox 26"/>
          <p:cNvSpPr txBox="1"/>
          <p:nvPr/>
        </p:nvSpPr>
        <p:spPr>
          <a:xfrm>
            <a:off x="7046503" y="2898648"/>
            <a:ext cx="2194560" cy="457200"/>
          </a:xfrm>
          <a:prstGeom prst="rect">
            <a:avLst/>
          </a:prstGeom>
          <a:noFill/>
        </p:spPr>
        <p:txBody>
          <a:bodyPr wrap="square" anchor="t" lIns="0" rIns="0" tIns="0" bIns="0">
            <a:spAutoFit/>
          </a:bodyPr>
          <a:lstStyle/>
          <a:p>
            <a:pPr algn="l">
              <a:lnSpc>
                <a:spcPct val="130000"/>
              </a:lnSpc>
              <a:spcAft>
                <a:spcPts val="600"/>
              </a:spcAft>
            </a:pPr>
            <a:r>
              <a:rPr sz="1200" b="0">
                <a:solidFill>
                  <a:srgbClr val="71766C"/>
                </a:solidFill>
                <a:latin typeface="Segoe UI"/>
              </a:rPr>
              <a:t>of rural Indian homes
have a phone</a:t>
            </a:r>
          </a:p>
        </p:txBody>
      </p:sp>
      <p:sp>
        <p:nvSpPr>
          <p:cNvPr id="28" name="TextBox 27"/>
          <p:cNvSpPr txBox="1"/>
          <p:nvPr/>
        </p:nvSpPr>
        <p:spPr>
          <a:xfrm>
            <a:off x="9515383" y="2395728"/>
            <a:ext cx="2011680" cy="548640"/>
          </a:xfrm>
          <a:prstGeom prst="rect">
            <a:avLst/>
          </a:prstGeom>
          <a:noFill/>
        </p:spPr>
        <p:txBody>
          <a:bodyPr wrap="square" anchor="t" lIns="0" rIns="0" tIns="0" bIns="0">
            <a:spAutoFit/>
          </a:bodyPr>
          <a:lstStyle/>
          <a:p>
            <a:pPr algn="l">
              <a:spcAft>
                <a:spcPts val="600"/>
              </a:spcAft>
            </a:pPr>
            <a:r>
              <a:rPr sz="3400" b="1">
                <a:solidFill>
                  <a:srgbClr val="F0EFE9"/>
                </a:solidFill>
                <a:latin typeface="Consolas"/>
              </a:rPr>
              <a:t>4.2%</a:t>
            </a:r>
          </a:p>
        </p:txBody>
      </p:sp>
      <p:sp>
        <p:nvSpPr>
          <p:cNvPr id="29" name="TextBox 28"/>
          <p:cNvSpPr txBox="1"/>
          <p:nvPr/>
        </p:nvSpPr>
        <p:spPr>
          <a:xfrm>
            <a:off x="9515383" y="2898648"/>
            <a:ext cx="2194560" cy="457200"/>
          </a:xfrm>
          <a:prstGeom prst="rect">
            <a:avLst/>
          </a:prstGeom>
          <a:noFill/>
        </p:spPr>
        <p:txBody>
          <a:bodyPr wrap="square" anchor="t" lIns="0" rIns="0" tIns="0" bIns="0">
            <a:spAutoFit/>
          </a:bodyPr>
          <a:lstStyle/>
          <a:p>
            <a:pPr algn="l">
              <a:spcAft>
                <a:spcPts val="600"/>
              </a:spcAft>
            </a:pPr>
            <a:r>
              <a:rPr sz="1200" b="0">
                <a:solidFill>
                  <a:srgbClr val="71766C"/>
                </a:solidFill>
                <a:latin typeface="Segoe UI"/>
              </a:rPr>
              <a:t>have a computer</a:t>
            </a:r>
          </a:p>
        </p:txBody>
      </p:sp>
      <p:sp>
        <p:nvSpPr>
          <p:cNvPr id="30" name="TextBox 29"/>
          <p:cNvSpPr txBox="1"/>
          <p:nvPr/>
        </p:nvSpPr>
        <p:spPr>
          <a:xfrm>
            <a:off x="7046503" y="3584448"/>
            <a:ext cx="4303943" cy="1005840"/>
          </a:xfrm>
          <a:prstGeom prst="rect">
            <a:avLst/>
          </a:prstGeom>
          <a:noFill/>
        </p:spPr>
        <p:txBody>
          <a:bodyPr wrap="square" anchor="t" lIns="0" rIns="0" tIns="0" bIns="0">
            <a:spAutoFit/>
          </a:bodyPr>
          <a:lstStyle/>
          <a:p>
            <a:pPr algn="l">
              <a:lnSpc>
                <a:spcPct val="135000"/>
              </a:lnSpc>
              <a:spcAft>
                <a:spcPts val="600"/>
              </a:spcAft>
            </a:pPr>
            <a:r>
              <a:rPr sz="1300" b="0">
                <a:solidFill>
                  <a:srgbClr val="A8ACA1"/>
                </a:solidFill>
                <a:latin typeface="Segoe UI"/>
              </a:rPr>
              <a:t>They are not our first customer, and we will not pretend they are. It is why the phone has to be the device that works, not the spare one. For most people it is the only computer in the house.</a:t>
            </a:r>
          </a:p>
        </p:txBody>
      </p:sp>
      <p:sp>
        <p:nvSpPr>
          <p:cNvPr id="31" name="TextBox 30"/>
          <p:cNvSpPr txBox="1"/>
          <p:nvPr/>
        </p:nvSpPr>
        <p:spPr>
          <a:xfrm>
            <a:off x="7046503" y="4498848"/>
            <a:ext cx="5486400" cy="274320"/>
          </a:xfrm>
          <a:prstGeom prst="rect">
            <a:avLst/>
          </a:prstGeom>
          <a:noFill/>
        </p:spPr>
        <p:txBody>
          <a:bodyPr wrap="square" anchor="t" lIns="0" rIns="0" tIns="0" bIns="0">
            <a:spAutoFit/>
          </a:bodyPr>
          <a:lstStyle/>
          <a:p>
            <a:pPr algn="l">
              <a:spcAft>
                <a:spcPts val="600"/>
              </a:spcAft>
            </a:pPr>
            <a:r>
              <a:rPr sz="1000" b="0">
                <a:solidFill>
                  <a:srgbClr val="71766C"/>
                </a:solidFill>
                <a:latin typeface="Consolas"/>
              </a:rPr>
              <a:t>MoSPI, Comprehensive Annual Modular Survey 2022-23</a:t>
            </a:r>
          </a:p>
        </p:txBody>
      </p:sp>
      <p:sp>
        <p:nvSpPr>
          <p:cNvPr id="32" name="TextBox 31"/>
          <p:cNvSpPr txBox="1"/>
          <p:nvPr/>
        </p:nvSpPr>
        <p:spPr>
          <a:xfrm>
            <a:off x="566928" y="6291072"/>
            <a:ext cx="6400800"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MeshAI</a:t>
            </a:r>
          </a:p>
        </p:txBody>
      </p:sp>
      <p:sp>
        <p:nvSpPr>
          <p:cNvPr id="33" name="TextBox 32"/>
          <p:cNvSpPr txBox="1"/>
          <p:nvPr/>
        </p:nvSpPr>
        <p:spPr>
          <a:xfrm>
            <a:off x="5223967" y="6291072"/>
            <a:ext cx="6400800" cy="274320"/>
          </a:xfrm>
          <a:prstGeom prst="rect">
            <a:avLst/>
          </a:prstGeom>
          <a:noFill/>
        </p:spPr>
        <p:txBody>
          <a:bodyPr wrap="square" anchor="t" lIns="0" rIns="0" tIns="0" bIns="0">
            <a:spAutoFit/>
          </a:bodyPr>
          <a:lstStyle/>
          <a:p>
            <a:pPr algn="r">
              <a:spcAft>
                <a:spcPts val="600"/>
              </a:spcAft>
            </a:pPr>
            <a:r>
              <a:rPr sz="1100" b="0">
                <a:solidFill>
                  <a:srgbClr val="71766C"/>
                </a:solidFill>
                <a:latin typeface="Consolas"/>
              </a:rPr>
              <a:t>it runs best on the newest phones, and their engineers can check that</a:t>
            </a:r>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800">
        <p159:morph option="byObject"/>
      </p:transition>
    </mc:Choice>
    <mc:Fallback>
      <p:transition spd="slow">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C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20624"/>
            <a:ext cx="11057839" cy="274320"/>
          </a:xfrm>
          <a:prstGeom prst="rect">
            <a:avLst/>
          </a:prstGeom>
          <a:noFill/>
        </p:spPr>
        <p:txBody>
          <a:bodyPr wrap="square" anchor="t" lIns="0" rIns="0" tIns="0" bIns="0">
            <a:spAutoFit/>
          </a:bodyPr>
          <a:lstStyle/>
          <a:p>
            <a:pPr algn="l">
              <a:spcAft>
                <a:spcPts val="600"/>
              </a:spcAft>
            </a:pPr>
            <a:r>
              <a:rPr sz="1200" b="0">
                <a:solidFill>
                  <a:srgbClr val="71766C"/>
                </a:solidFill>
                <a:latin typeface="Consolas"/>
              </a:rPr>
              <a:t>13 · BUILT WITH</a:t>
            </a:r>
          </a:p>
        </p:txBody>
      </p:sp>
      <p:sp>
        <p:nvSpPr>
          <p:cNvPr id="4" name="TextBox 3"/>
          <p:cNvSpPr txBox="1"/>
          <p:nvPr/>
        </p:nvSpPr>
        <p:spPr>
          <a:xfrm>
            <a:off x="566928" y="713232"/>
            <a:ext cx="11057839" cy="731520"/>
          </a:xfrm>
          <a:prstGeom prst="rect">
            <a:avLst/>
          </a:prstGeom>
          <a:noFill/>
        </p:spPr>
        <p:txBody>
          <a:bodyPr wrap="square" anchor="t" lIns="0" rIns="0" tIns="0" bIns="0">
            <a:spAutoFit/>
          </a:bodyPr>
          <a:lstStyle/>
          <a:p>
            <a:pPr algn="l">
              <a:spcAft>
                <a:spcPts val="600"/>
              </a:spcAft>
            </a:pPr>
            <a:r>
              <a:rPr sz="4000" b="1">
                <a:solidFill>
                  <a:srgbClr val="F0EFE9"/>
                </a:solidFill>
                <a:latin typeface="Segoe UI"/>
              </a:rPr>
              <a:t>What it is made of.</a:t>
            </a:r>
          </a:p>
        </p:txBody>
      </p:sp>
      <p:sp>
        <p:nvSpPr>
          <p:cNvPr id="5" name="Rectangle 4"/>
          <p:cNvSpPr/>
          <p:nvPr/>
        </p:nvSpPr>
        <p:spPr>
          <a:xfrm>
            <a:off x="566928" y="1481328"/>
            <a:ext cx="11057839" cy="9525"/>
          </a:xfrm>
          <a:prstGeom prst="rect">
            <a:avLst/>
          </a:prstGeom>
          <a:solidFill>
            <a:srgbClr val="2A2F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66928" y="1755648"/>
            <a:ext cx="3503066" cy="301752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993392"/>
            <a:ext cx="2991002"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THE RUNTIME</a:t>
            </a:r>
          </a:p>
        </p:txBody>
      </p:sp>
      <p:sp>
        <p:nvSpPr>
          <p:cNvPr id="8" name="Rectangle 7"/>
          <p:cNvSpPr/>
          <p:nvPr/>
        </p:nvSpPr>
        <p:spPr>
          <a:xfrm>
            <a:off x="822960" y="2487168"/>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0704" y="2395728"/>
            <a:ext cx="2753258" cy="274320"/>
          </a:xfrm>
          <a:prstGeom prst="rect">
            <a:avLst/>
          </a:prstGeom>
          <a:noFill/>
        </p:spPr>
        <p:txBody>
          <a:bodyPr wrap="square" anchor="t" lIns="0" rIns="0" tIns="0" bIns="0">
            <a:spAutoFit/>
          </a:bodyPr>
          <a:lstStyle/>
          <a:p>
            <a:pPr algn="l">
              <a:spcAft>
                <a:spcPts val="600"/>
              </a:spcAft>
            </a:pPr>
            <a:r>
              <a:rPr sz="1400" b="0">
                <a:solidFill>
                  <a:srgbClr val="F0EFE9"/>
                </a:solidFill>
                <a:latin typeface="Segoe UI"/>
              </a:rPr>
              <a:t>Any GGUF model</a:t>
            </a:r>
          </a:p>
        </p:txBody>
      </p:sp>
      <p:sp>
        <p:nvSpPr>
          <p:cNvPr id="10" name="TextBox 9"/>
          <p:cNvSpPr txBox="1"/>
          <p:nvPr/>
        </p:nvSpPr>
        <p:spPr>
          <a:xfrm>
            <a:off x="1060704" y="2606040"/>
            <a:ext cx="2753258" cy="228600"/>
          </a:xfrm>
          <a:prstGeom prst="rect">
            <a:avLst/>
          </a:prstGeom>
          <a:noFill/>
        </p:spPr>
        <p:txBody>
          <a:bodyPr wrap="square" anchor="t" lIns="0" rIns="0" tIns="0" bIns="0">
            <a:spAutoFit/>
          </a:bodyPr>
          <a:lstStyle/>
          <a:p>
            <a:pPr algn="l">
              <a:spcAft>
                <a:spcPts val="600"/>
              </a:spcAft>
            </a:pPr>
            <a:r>
              <a:rPr sz="1200" b="0">
                <a:solidFill>
                  <a:srgbClr val="71766C"/>
                </a:solidFill>
                <a:latin typeface="Segoe UI"/>
              </a:rPr>
              <a:t>we read the header and size it ourselves</a:t>
            </a:r>
          </a:p>
        </p:txBody>
      </p:sp>
      <p:sp>
        <p:nvSpPr>
          <p:cNvPr id="11" name="Rectangle 10"/>
          <p:cNvSpPr/>
          <p:nvPr/>
        </p:nvSpPr>
        <p:spPr>
          <a:xfrm>
            <a:off x="822960" y="3054096"/>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0704" y="2962656"/>
            <a:ext cx="2753258" cy="274320"/>
          </a:xfrm>
          <a:prstGeom prst="rect">
            <a:avLst/>
          </a:prstGeom>
          <a:noFill/>
        </p:spPr>
        <p:txBody>
          <a:bodyPr wrap="square" anchor="t" lIns="0" rIns="0" tIns="0" bIns="0">
            <a:spAutoFit/>
          </a:bodyPr>
          <a:lstStyle/>
          <a:p>
            <a:pPr algn="l">
              <a:spcAft>
                <a:spcPts val="600"/>
              </a:spcAft>
            </a:pPr>
            <a:r>
              <a:rPr sz="1400" b="0">
                <a:solidFill>
                  <a:srgbClr val="F0EFE9"/>
                </a:solidFill>
                <a:latin typeface="Segoe UI"/>
              </a:rPr>
              <a:t>llama.cpp and ggml</a:t>
            </a:r>
          </a:p>
        </p:txBody>
      </p:sp>
      <p:sp>
        <p:nvSpPr>
          <p:cNvPr id="13" name="TextBox 12"/>
          <p:cNvSpPr txBox="1"/>
          <p:nvPr/>
        </p:nvSpPr>
        <p:spPr>
          <a:xfrm>
            <a:off x="1060704" y="3172968"/>
            <a:ext cx="2753258" cy="228600"/>
          </a:xfrm>
          <a:prstGeom prst="rect">
            <a:avLst/>
          </a:prstGeom>
          <a:noFill/>
        </p:spPr>
        <p:txBody>
          <a:bodyPr wrap="square" anchor="t" lIns="0" rIns="0" tIns="0" bIns="0">
            <a:spAutoFit/>
          </a:bodyPr>
          <a:lstStyle/>
          <a:p>
            <a:pPr algn="l">
              <a:spcAft>
                <a:spcPts val="600"/>
              </a:spcAft>
            </a:pPr>
            <a:r>
              <a:rPr sz="1200" b="0">
                <a:solidFill>
                  <a:srgbClr val="71766C"/>
                </a:solidFill>
                <a:latin typeface="Segoe UI"/>
              </a:rPr>
              <a:t>MIT, and we say so</a:t>
            </a:r>
          </a:p>
        </p:txBody>
      </p:sp>
      <p:sp>
        <p:nvSpPr>
          <p:cNvPr id="14" name="Rectangle 13"/>
          <p:cNvSpPr/>
          <p:nvPr/>
        </p:nvSpPr>
        <p:spPr>
          <a:xfrm>
            <a:off x="822960" y="3621024"/>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60704" y="3529584"/>
            <a:ext cx="2753258" cy="274320"/>
          </a:xfrm>
          <a:prstGeom prst="rect">
            <a:avLst/>
          </a:prstGeom>
          <a:noFill/>
        </p:spPr>
        <p:txBody>
          <a:bodyPr wrap="square" anchor="t" lIns="0" rIns="0" tIns="0" bIns="0">
            <a:spAutoFit/>
          </a:bodyPr>
          <a:lstStyle/>
          <a:p>
            <a:pPr algn="l">
              <a:spcAft>
                <a:spcPts val="600"/>
              </a:spcAft>
            </a:pPr>
            <a:r>
              <a:rPr sz="1400" b="0">
                <a:solidFill>
                  <a:srgbClr val="F0EFE9"/>
                </a:solidFill>
                <a:latin typeface="Segoe UI"/>
              </a:rPr>
              <a:t>Our own planner</a:t>
            </a:r>
          </a:p>
        </p:txBody>
      </p:sp>
      <p:sp>
        <p:nvSpPr>
          <p:cNvPr id="16" name="TextBox 15"/>
          <p:cNvSpPr txBox="1"/>
          <p:nvPr/>
        </p:nvSpPr>
        <p:spPr>
          <a:xfrm>
            <a:off x="1060704" y="3739896"/>
            <a:ext cx="2753258" cy="228600"/>
          </a:xfrm>
          <a:prstGeom prst="rect">
            <a:avLst/>
          </a:prstGeom>
          <a:noFill/>
        </p:spPr>
        <p:txBody>
          <a:bodyPr wrap="square" anchor="t" lIns="0" rIns="0" tIns="0" bIns="0">
            <a:spAutoFit/>
          </a:bodyPr>
          <a:lstStyle/>
          <a:p>
            <a:pPr algn="l">
              <a:spcAft>
                <a:spcPts val="600"/>
              </a:spcAft>
            </a:pPr>
            <a:r>
              <a:rPr sz="1200" b="0">
                <a:solidFill>
                  <a:srgbClr val="71766C"/>
                </a:solidFill>
                <a:latin typeface="Segoe UI"/>
              </a:rPr>
              <a:t>with seven tests</a:t>
            </a:r>
          </a:p>
        </p:txBody>
      </p:sp>
      <p:sp>
        <p:nvSpPr>
          <p:cNvPr id="17" name="Rounded Rectangle 16"/>
          <p:cNvSpPr/>
          <p:nvPr/>
        </p:nvSpPr>
        <p:spPr>
          <a:xfrm>
            <a:off x="4344314" y="1755648"/>
            <a:ext cx="3503066" cy="301752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00346" y="1993392"/>
            <a:ext cx="2991002"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THE DEVICES</a:t>
            </a:r>
          </a:p>
        </p:txBody>
      </p:sp>
      <p:sp>
        <p:nvSpPr>
          <p:cNvPr id="19" name="Rectangle 18"/>
          <p:cNvSpPr/>
          <p:nvPr/>
        </p:nvSpPr>
        <p:spPr>
          <a:xfrm>
            <a:off x="4600346" y="2487168"/>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38090" y="2395728"/>
            <a:ext cx="2753258" cy="274320"/>
          </a:xfrm>
          <a:prstGeom prst="rect">
            <a:avLst/>
          </a:prstGeom>
          <a:noFill/>
        </p:spPr>
        <p:txBody>
          <a:bodyPr wrap="square" anchor="t" lIns="0" rIns="0" tIns="0" bIns="0">
            <a:spAutoFit/>
          </a:bodyPr>
          <a:lstStyle/>
          <a:p>
            <a:pPr algn="l">
              <a:spcAft>
                <a:spcPts val="600"/>
              </a:spcAft>
            </a:pPr>
            <a:r>
              <a:rPr sz="1400" b="0">
                <a:solidFill>
                  <a:srgbClr val="F0EFE9"/>
                </a:solidFill>
                <a:latin typeface="Segoe UI"/>
              </a:rPr>
              <a:t>Kotlin and Compose</a:t>
            </a:r>
          </a:p>
        </p:txBody>
      </p:sp>
      <p:sp>
        <p:nvSpPr>
          <p:cNvPr id="21" name="TextBox 20"/>
          <p:cNvSpPr txBox="1"/>
          <p:nvPr/>
        </p:nvSpPr>
        <p:spPr>
          <a:xfrm>
            <a:off x="4838090" y="2606040"/>
            <a:ext cx="2753258" cy="228600"/>
          </a:xfrm>
          <a:prstGeom prst="rect">
            <a:avLst/>
          </a:prstGeom>
          <a:noFill/>
        </p:spPr>
        <p:txBody>
          <a:bodyPr wrap="square" anchor="t" lIns="0" rIns="0" tIns="0" bIns="0">
            <a:spAutoFit/>
          </a:bodyPr>
          <a:lstStyle/>
          <a:p>
            <a:pPr algn="l">
              <a:spcAft>
                <a:spcPts val="600"/>
              </a:spcAft>
            </a:pPr>
            <a:r>
              <a:rPr sz="1200" b="0">
                <a:solidFill>
                  <a:srgbClr val="71766C"/>
                </a:solidFill>
                <a:latin typeface="Segoe UI"/>
              </a:rPr>
              <a:t>one app, host or helper</a:t>
            </a:r>
          </a:p>
        </p:txBody>
      </p:sp>
      <p:sp>
        <p:nvSpPr>
          <p:cNvPr id="22" name="Rectangle 21"/>
          <p:cNvSpPr/>
          <p:nvPr/>
        </p:nvSpPr>
        <p:spPr>
          <a:xfrm>
            <a:off x="4600346" y="3054096"/>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38090" y="2962656"/>
            <a:ext cx="2753258" cy="274320"/>
          </a:xfrm>
          <a:prstGeom prst="rect">
            <a:avLst/>
          </a:prstGeom>
          <a:noFill/>
        </p:spPr>
        <p:txBody>
          <a:bodyPr wrap="square" anchor="t" lIns="0" rIns="0" tIns="0" bIns="0">
            <a:spAutoFit/>
          </a:bodyPr>
          <a:lstStyle/>
          <a:p>
            <a:pPr algn="l">
              <a:spcAft>
                <a:spcPts val="600"/>
              </a:spcAft>
            </a:pPr>
            <a:r>
              <a:rPr sz="1400" b="0">
                <a:solidFill>
                  <a:srgbClr val="F0EFE9"/>
                </a:solidFill>
                <a:latin typeface="Segoe UI"/>
              </a:rPr>
              <a:t>Android NDK, arm64</a:t>
            </a:r>
          </a:p>
        </p:txBody>
      </p:sp>
      <p:sp>
        <p:nvSpPr>
          <p:cNvPr id="24" name="TextBox 23"/>
          <p:cNvSpPr txBox="1"/>
          <p:nvPr/>
        </p:nvSpPr>
        <p:spPr>
          <a:xfrm>
            <a:off x="4838090" y="3172968"/>
            <a:ext cx="2753258" cy="228600"/>
          </a:xfrm>
          <a:prstGeom prst="rect">
            <a:avLst/>
          </a:prstGeom>
          <a:noFill/>
        </p:spPr>
        <p:txBody>
          <a:bodyPr wrap="square" anchor="t" lIns="0" rIns="0" tIns="0" bIns="0">
            <a:spAutoFit/>
          </a:bodyPr>
          <a:lstStyle/>
          <a:p>
            <a:pPr algn="l">
              <a:spcAft>
                <a:spcPts val="600"/>
              </a:spcAft>
            </a:pPr>
            <a:r>
              <a:rPr sz="1200" b="0">
                <a:solidFill>
                  <a:srgbClr val="71766C"/>
                </a:solidFill>
                <a:latin typeface="Segoe UI"/>
              </a:rPr>
              <a:t>built for the phone's own chip</a:t>
            </a:r>
          </a:p>
        </p:txBody>
      </p:sp>
      <p:sp>
        <p:nvSpPr>
          <p:cNvPr id="25" name="Rectangle 24"/>
          <p:cNvSpPr/>
          <p:nvPr/>
        </p:nvSpPr>
        <p:spPr>
          <a:xfrm>
            <a:off x="4600346" y="3621024"/>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38090" y="3529584"/>
            <a:ext cx="2753258" cy="274320"/>
          </a:xfrm>
          <a:prstGeom prst="rect">
            <a:avLst/>
          </a:prstGeom>
          <a:noFill/>
        </p:spPr>
        <p:txBody>
          <a:bodyPr wrap="square" anchor="t" lIns="0" rIns="0" tIns="0" bIns="0">
            <a:spAutoFit/>
          </a:bodyPr>
          <a:lstStyle/>
          <a:p>
            <a:pPr algn="l">
              <a:spcAft>
                <a:spcPts val="600"/>
              </a:spcAft>
            </a:pPr>
            <a:r>
              <a:rPr sz="1400" b="0">
                <a:solidFill>
                  <a:srgbClr val="F0EFE9"/>
                </a:solidFill>
                <a:latin typeface="Segoe UI"/>
              </a:rPr>
              <a:t>A foreground service</a:t>
            </a:r>
          </a:p>
        </p:txBody>
      </p:sp>
      <p:sp>
        <p:nvSpPr>
          <p:cNvPr id="27" name="TextBox 26"/>
          <p:cNvSpPr txBox="1"/>
          <p:nvPr/>
        </p:nvSpPr>
        <p:spPr>
          <a:xfrm>
            <a:off x="4838090" y="3739896"/>
            <a:ext cx="2753258" cy="228600"/>
          </a:xfrm>
          <a:prstGeom prst="rect">
            <a:avLst/>
          </a:prstGeom>
          <a:noFill/>
        </p:spPr>
        <p:txBody>
          <a:bodyPr wrap="square" anchor="t" lIns="0" rIns="0" tIns="0" bIns="0">
            <a:spAutoFit/>
          </a:bodyPr>
          <a:lstStyle/>
          <a:p>
            <a:pPr algn="l">
              <a:spcAft>
                <a:spcPts val="600"/>
              </a:spcAft>
            </a:pPr>
            <a:r>
              <a:rPr sz="1200" b="0">
                <a:solidFill>
                  <a:srgbClr val="71766C"/>
                </a:solidFill>
                <a:latin typeface="Segoe UI"/>
              </a:rPr>
              <a:t>so Android lets it keep running</a:t>
            </a:r>
          </a:p>
        </p:txBody>
      </p:sp>
      <p:sp>
        <p:nvSpPr>
          <p:cNvPr id="28" name="Rounded Rectangle 27"/>
          <p:cNvSpPr/>
          <p:nvPr/>
        </p:nvSpPr>
        <p:spPr>
          <a:xfrm>
            <a:off x="8121700" y="1755648"/>
            <a:ext cx="3503066" cy="3017520"/>
          </a:xfrm>
          <a:prstGeom prst="roundRect">
            <a:avLst>
              <a:gd name="adj" fmla="val 4000"/>
            </a:avLst>
          </a:prstGeom>
          <a:solidFill>
            <a:srgbClr val="141612"/>
          </a:solidFill>
          <a:ln w="9525">
            <a:solidFill>
              <a:srgbClr val="2A2F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377732" y="1993392"/>
            <a:ext cx="2991002"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THE LINK AND TOOLS</a:t>
            </a:r>
          </a:p>
        </p:txBody>
      </p:sp>
      <p:sp>
        <p:nvSpPr>
          <p:cNvPr id="30" name="Rectangle 29"/>
          <p:cNvSpPr/>
          <p:nvPr/>
        </p:nvSpPr>
        <p:spPr>
          <a:xfrm>
            <a:off x="8377732" y="2487168"/>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615476" y="2395728"/>
            <a:ext cx="2753258" cy="274320"/>
          </a:xfrm>
          <a:prstGeom prst="rect">
            <a:avLst/>
          </a:prstGeom>
          <a:noFill/>
        </p:spPr>
        <p:txBody>
          <a:bodyPr wrap="square" anchor="t" lIns="0" rIns="0" tIns="0" bIns="0">
            <a:spAutoFit/>
          </a:bodyPr>
          <a:lstStyle/>
          <a:p>
            <a:pPr algn="l">
              <a:spcAft>
                <a:spcPts val="600"/>
              </a:spcAft>
            </a:pPr>
            <a:r>
              <a:rPr sz="1400" b="0">
                <a:solidFill>
                  <a:srgbClr val="F0EFE9"/>
                </a:solidFill>
                <a:latin typeface="Segoe UI"/>
              </a:rPr>
              <a:t>A Rust agent and web panel</a:t>
            </a:r>
          </a:p>
        </p:txBody>
      </p:sp>
      <p:sp>
        <p:nvSpPr>
          <p:cNvPr id="32" name="TextBox 31"/>
          <p:cNvSpPr txBox="1"/>
          <p:nvPr/>
        </p:nvSpPr>
        <p:spPr>
          <a:xfrm>
            <a:off x="8615476" y="2606040"/>
            <a:ext cx="2753258" cy="228600"/>
          </a:xfrm>
          <a:prstGeom prst="rect">
            <a:avLst/>
          </a:prstGeom>
          <a:noFill/>
        </p:spPr>
        <p:txBody>
          <a:bodyPr wrap="square" anchor="t" lIns="0" rIns="0" tIns="0" bIns="0">
            <a:spAutoFit/>
          </a:bodyPr>
          <a:lstStyle/>
          <a:p>
            <a:pPr algn="l">
              <a:spcAft>
                <a:spcPts val="600"/>
              </a:spcAft>
            </a:pPr>
            <a:r>
              <a:rPr sz="1200" b="0">
                <a:solidFill>
                  <a:srgbClr val="71766C"/>
                </a:solidFill>
                <a:latin typeface="Segoe UI"/>
              </a:rPr>
              <a:t>mesh host, mesh join, mesh ask</a:t>
            </a:r>
          </a:p>
        </p:txBody>
      </p:sp>
      <p:sp>
        <p:nvSpPr>
          <p:cNvPr id="33" name="Rectangle 32"/>
          <p:cNvSpPr/>
          <p:nvPr/>
        </p:nvSpPr>
        <p:spPr>
          <a:xfrm>
            <a:off x="8377732" y="3054096"/>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615476" y="2962656"/>
            <a:ext cx="2753258" cy="274320"/>
          </a:xfrm>
          <a:prstGeom prst="rect">
            <a:avLst/>
          </a:prstGeom>
          <a:noFill/>
        </p:spPr>
        <p:txBody>
          <a:bodyPr wrap="square" anchor="t" lIns="0" rIns="0" tIns="0" bIns="0">
            <a:spAutoFit/>
          </a:bodyPr>
          <a:lstStyle/>
          <a:p>
            <a:pPr algn="l">
              <a:spcAft>
                <a:spcPts val="600"/>
              </a:spcAft>
            </a:pPr>
            <a:r>
              <a:rPr sz="1400" b="0">
                <a:solidFill>
                  <a:srgbClr val="F0EFE9"/>
                </a:solidFill>
                <a:latin typeface="Segoe UI"/>
              </a:rPr>
              <a:t>USB tethering</a:t>
            </a:r>
          </a:p>
        </p:txBody>
      </p:sp>
      <p:sp>
        <p:nvSpPr>
          <p:cNvPr id="35" name="TextBox 34"/>
          <p:cNvSpPr txBox="1"/>
          <p:nvPr/>
        </p:nvSpPr>
        <p:spPr>
          <a:xfrm>
            <a:off x="8615476" y="3172968"/>
            <a:ext cx="2753258" cy="228600"/>
          </a:xfrm>
          <a:prstGeom prst="rect">
            <a:avLst/>
          </a:prstGeom>
          <a:noFill/>
        </p:spPr>
        <p:txBody>
          <a:bodyPr wrap="square" anchor="t" lIns="0" rIns="0" tIns="0" bIns="0">
            <a:spAutoFit/>
          </a:bodyPr>
          <a:lstStyle/>
          <a:p>
            <a:pPr algn="l">
              <a:spcAft>
                <a:spcPts val="600"/>
              </a:spcAft>
            </a:pPr>
            <a:r>
              <a:rPr sz="1200" b="0">
                <a:solidFill>
                  <a:srgbClr val="71766C"/>
                </a:solidFill>
                <a:latin typeface="Segoe UI"/>
              </a:rPr>
              <a:t>2 to 3 ms</a:t>
            </a:r>
          </a:p>
        </p:txBody>
      </p:sp>
      <p:sp>
        <p:nvSpPr>
          <p:cNvPr id="36" name="Rectangle 35"/>
          <p:cNvSpPr/>
          <p:nvPr/>
        </p:nvSpPr>
        <p:spPr>
          <a:xfrm>
            <a:off x="8377732" y="3621024"/>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615476" y="3529584"/>
            <a:ext cx="2753258" cy="274320"/>
          </a:xfrm>
          <a:prstGeom prst="rect">
            <a:avLst/>
          </a:prstGeom>
          <a:noFill/>
        </p:spPr>
        <p:txBody>
          <a:bodyPr wrap="square" anchor="t" lIns="0" rIns="0" tIns="0" bIns="0">
            <a:spAutoFit/>
          </a:bodyPr>
          <a:lstStyle/>
          <a:p>
            <a:pPr algn="l">
              <a:spcAft>
                <a:spcPts val="600"/>
              </a:spcAft>
            </a:pPr>
            <a:r>
              <a:rPr sz="1400" b="0">
                <a:solidFill>
                  <a:srgbClr val="F0EFE9"/>
                </a:solidFill>
                <a:latin typeface="Segoe UI"/>
              </a:rPr>
              <a:t>An OpenAI-style endpoint</a:t>
            </a:r>
          </a:p>
        </p:txBody>
      </p:sp>
      <p:sp>
        <p:nvSpPr>
          <p:cNvPr id="38" name="TextBox 37"/>
          <p:cNvSpPr txBox="1"/>
          <p:nvPr/>
        </p:nvSpPr>
        <p:spPr>
          <a:xfrm>
            <a:off x="8615476" y="3739896"/>
            <a:ext cx="2753258" cy="228600"/>
          </a:xfrm>
          <a:prstGeom prst="rect">
            <a:avLst/>
          </a:prstGeom>
          <a:noFill/>
        </p:spPr>
        <p:txBody>
          <a:bodyPr wrap="square" anchor="t" lIns="0" rIns="0" tIns="0" bIns="0">
            <a:spAutoFit/>
          </a:bodyPr>
          <a:lstStyle/>
          <a:p>
            <a:pPr algn="l">
              <a:spcAft>
                <a:spcPts val="600"/>
              </a:spcAft>
            </a:pPr>
            <a:r>
              <a:rPr sz="1200" b="0">
                <a:solidFill>
                  <a:srgbClr val="71766C"/>
                </a:solidFill>
                <a:latin typeface="Segoe UI"/>
              </a:rPr>
              <a:t>plus a CLI and a git hook</a:t>
            </a:r>
          </a:p>
        </p:txBody>
      </p:sp>
      <p:sp>
        <p:nvSpPr>
          <p:cNvPr id="39" name="Rectangle 38"/>
          <p:cNvSpPr/>
          <p:nvPr/>
        </p:nvSpPr>
        <p:spPr>
          <a:xfrm>
            <a:off x="8377732" y="4187952"/>
            <a:ext cx="118872" cy="19050"/>
          </a:xfrm>
          <a:prstGeom prst="rect">
            <a:avLst/>
          </a:prstGeom>
          <a:solidFill>
            <a:srgbClr val="5FD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615476" y="4096512"/>
            <a:ext cx="2753258" cy="274320"/>
          </a:xfrm>
          <a:prstGeom prst="rect">
            <a:avLst/>
          </a:prstGeom>
          <a:noFill/>
        </p:spPr>
        <p:txBody>
          <a:bodyPr wrap="square" anchor="t" lIns="0" rIns="0" tIns="0" bIns="0">
            <a:spAutoFit/>
          </a:bodyPr>
          <a:lstStyle/>
          <a:p>
            <a:pPr algn="l">
              <a:spcAft>
                <a:spcPts val="600"/>
              </a:spcAft>
            </a:pPr>
            <a:r>
              <a:rPr sz="1400" b="0">
                <a:solidFill>
                  <a:srgbClr val="F0EFE9"/>
                </a:solidFill>
                <a:latin typeface="Segoe UI"/>
              </a:rPr>
              <a:t>No cloud, no account</a:t>
            </a:r>
          </a:p>
        </p:txBody>
      </p:sp>
      <p:sp>
        <p:nvSpPr>
          <p:cNvPr id="41" name="TextBox 40"/>
          <p:cNvSpPr txBox="1"/>
          <p:nvPr/>
        </p:nvSpPr>
        <p:spPr>
          <a:xfrm>
            <a:off x="8615476" y="4306824"/>
            <a:ext cx="2753258" cy="228600"/>
          </a:xfrm>
          <a:prstGeom prst="rect">
            <a:avLst/>
          </a:prstGeom>
          <a:noFill/>
        </p:spPr>
        <p:txBody>
          <a:bodyPr wrap="square" anchor="t" lIns="0" rIns="0" tIns="0" bIns="0">
            <a:spAutoFit/>
          </a:bodyPr>
          <a:lstStyle/>
          <a:p>
            <a:pPr algn="l">
              <a:spcAft>
                <a:spcPts val="600"/>
              </a:spcAft>
            </a:pPr>
            <a:r>
              <a:rPr sz="1200" b="0">
                <a:solidFill>
                  <a:srgbClr val="71766C"/>
                </a:solidFill>
                <a:latin typeface="Segoe UI"/>
              </a:rPr>
              <a:t>nothing phones home</a:t>
            </a:r>
          </a:p>
        </p:txBody>
      </p:sp>
      <p:sp>
        <p:nvSpPr>
          <p:cNvPr id="42" name="TextBox 41"/>
          <p:cNvSpPr txBox="1"/>
          <p:nvPr/>
        </p:nvSpPr>
        <p:spPr>
          <a:xfrm>
            <a:off x="566928" y="6291072"/>
            <a:ext cx="6400800"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MeshAI</a:t>
            </a:r>
          </a:p>
        </p:txBody>
      </p:sp>
      <p:sp>
        <p:nvSpPr>
          <p:cNvPr id="43" name="TextBox 42"/>
          <p:cNvSpPr txBox="1"/>
          <p:nvPr/>
        </p:nvSpPr>
        <p:spPr>
          <a:xfrm>
            <a:off x="5223967" y="6291072"/>
            <a:ext cx="6400800" cy="274320"/>
          </a:xfrm>
          <a:prstGeom prst="rect">
            <a:avLst/>
          </a:prstGeom>
          <a:noFill/>
        </p:spPr>
        <p:txBody>
          <a:bodyPr wrap="square" anchor="t" lIns="0" rIns="0" tIns="0" bIns="0">
            <a:spAutoFit/>
          </a:bodyPr>
          <a:lstStyle/>
          <a:p>
            <a:pPr algn="r">
              <a:spcAft>
                <a:spcPts val="600"/>
              </a:spcAft>
            </a:pPr>
            <a:r>
              <a:rPr sz="1100" b="0">
                <a:solidFill>
                  <a:srgbClr val="71766C"/>
                </a:solidFill>
                <a:latin typeface="Consolas"/>
              </a:rPr>
              <a:t>github.com/prajwal-gunnala/maynards</a:t>
            </a:r>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800">
        <p159:morph option="byObject"/>
      </p:transition>
    </mc:Choice>
    <mc:Fallback>
      <p:transition spd="slow">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C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011680"/>
            <a:ext cx="9144000" cy="914400"/>
          </a:xfrm>
          <a:prstGeom prst="rect">
            <a:avLst/>
          </a:prstGeom>
          <a:noFill/>
        </p:spPr>
        <p:txBody>
          <a:bodyPr wrap="square" anchor="t" lIns="0" rIns="0" tIns="0" bIns="0">
            <a:spAutoFit/>
          </a:bodyPr>
          <a:lstStyle/>
          <a:p>
            <a:pPr algn="l">
              <a:spcAft>
                <a:spcPts val="600"/>
              </a:spcAft>
            </a:pPr>
            <a:r>
              <a:rPr sz="5200" b="1">
                <a:solidFill>
                  <a:srgbClr val="F0EFE9"/>
                </a:solidFill>
                <a:latin typeface="Segoe UI"/>
              </a:rPr>
              <a:t>Thank you</a:t>
            </a:r>
          </a:p>
        </p:txBody>
      </p:sp>
      <p:sp>
        <p:nvSpPr>
          <p:cNvPr id="4" name="TextBox 3"/>
          <p:cNvSpPr txBox="1"/>
          <p:nvPr/>
        </p:nvSpPr>
        <p:spPr>
          <a:xfrm>
            <a:off x="566928" y="3108960"/>
            <a:ext cx="8778240" cy="914400"/>
          </a:xfrm>
          <a:prstGeom prst="rect">
            <a:avLst/>
          </a:prstGeom>
          <a:noFill/>
        </p:spPr>
        <p:txBody>
          <a:bodyPr wrap="square" anchor="t" lIns="0" rIns="0" tIns="0" bIns="0">
            <a:spAutoFit/>
          </a:bodyPr>
          <a:lstStyle/>
          <a:p>
            <a:pPr algn="l">
              <a:lnSpc>
                <a:spcPct val="130000"/>
              </a:lnSpc>
              <a:spcAft>
                <a:spcPts val="600"/>
              </a:spcAft>
            </a:pPr>
            <a:r>
              <a:rPr sz="2100" b="0">
                <a:solidFill>
                  <a:srgbClr val="A8ACA1"/>
                </a:solidFill>
                <a:latin typeface="Segoe UI"/>
              </a:rPr>
              <a:t>A big model, on the devices you already own, with the internet switched off.</a:t>
            </a:r>
          </a:p>
        </p:txBody>
      </p:sp>
      <p:sp>
        <p:nvSpPr>
          <p:cNvPr id="5" name="TextBox 4"/>
          <p:cNvSpPr txBox="1"/>
          <p:nvPr/>
        </p:nvSpPr>
        <p:spPr>
          <a:xfrm>
            <a:off x="566928" y="4297680"/>
            <a:ext cx="4754880" cy="365760"/>
          </a:xfrm>
          <a:prstGeom prst="rect">
            <a:avLst/>
          </a:prstGeom>
          <a:noFill/>
        </p:spPr>
        <p:txBody>
          <a:bodyPr wrap="square" anchor="t" lIns="0" rIns="0" tIns="0" bIns="0">
            <a:spAutoFit/>
          </a:bodyPr>
          <a:lstStyle/>
          <a:p>
            <a:pPr algn="l">
              <a:spcAft>
                <a:spcPts val="600"/>
              </a:spcAft>
            </a:pPr>
            <a:r>
              <a:rPr sz="2000" b="1">
                <a:solidFill>
                  <a:srgbClr val="F0EFE9"/>
                </a:solidFill>
                <a:latin typeface="Segoe UI"/>
              </a:rPr>
              <a:t>Prajwal Gunnala</a:t>
            </a:r>
          </a:p>
        </p:txBody>
      </p:sp>
      <p:sp>
        <p:nvSpPr>
          <p:cNvPr id="6" name="TextBox 5"/>
          <p:cNvSpPr txBox="1"/>
          <p:nvPr/>
        </p:nvSpPr>
        <p:spPr>
          <a:xfrm>
            <a:off x="566928" y="4663440"/>
            <a:ext cx="4754880" cy="274320"/>
          </a:xfrm>
          <a:prstGeom prst="rect">
            <a:avLst/>
          </a:prstGeom>
          <a:noFill/>
        </p:spPr>
        <p:txBody>
          <a:bodyPr wrap="square" anchor="t" lIns="0" rIns="0" tIns="0" bIns="0">
            <a:spAutoFit/>
          </a:bodyPr>
          <a:lstStyle/>
          <a:p>
            <a:pPr algn="l">
              <a:spcAft>
                <a:spcPts val="600"/>
              </a:spcAft>
            </a:pPr>
            <a:r>
              <a:rPr sz="1200" b="0">
                <a:solidFill>
                  <a:srgbClr val="71766C"/>
                </a:solidFill>
                <a:latin typeface="Consolas"/>
              </a:rPr>
              <a:t>github.com/prajwal-gunnala/maynards</a:t>
            </a:r>
          </a:p>
        </p:txBody>
      </p:sp>
      <p:sp>
        <p:nvSpPr>
          <p:cNvPr id="7" name="TextBox 6"/>
          <p:cNvSpPr txBox="1"/>
          <p:nvPr/>
        </p:nvSpPr>
        <p:spPr>
          <a:xfrm>
            <a:off x="5687568" y="4297680"/>
            <a:ext cx="4754880" cy="365760"/>
          </a:xfrm>
          <a:prstGeom prst="rect">
            <a:avLst/>
          </a:prstGeom>
          <a:noFill/>
        </p:spPr>
        <p:txBody>
          <a:bodyPr wrap="square" anchor="t" lIns="0" rIns="0" tIns="0" bIns="0">
            <a:spAutoFit/>
          </a:bodyPr>
          <a:lstStyle/>
          <a:p>
            <a:pPr algn="l">
              <a:spcAft>
                <a:spcPts val="600"/>
              </a:spcAft>
            </a:pPr>
            <a:r>
              <a:rPr sz="2000" b="1">
                <a:solidFill>
                  <a:srgbClr val="F0EFE9"/>
                </a:solidFill>
                <a:latin typeface="Segoe UI"/>
              </a:rPr>
              <a:t>Yuva Raj Ambati</a:t>
            </a:r>
          </a:p>
        </p:txBody>
      </p:sp>
      <p:sp>
        <p:nvSpPr>
          <p:cNvPr id="8" name="TextBox 7"/>
          <p:cNvSpPr txBox="1"/>
          <p:nvPr/>
        </p:nvSpPr>
        <p:spPr>
          <a:xfrm>
            <a:off x="5687568" y="4663440"/>
            <a:ext cx="4754880" cy="274320"/>
          </a:xfrm>
          <a:prstGeom prst="rect">
            <a:avLst/>
          </a:prstGeom>
          <a:noFill/>
        </p:spPr>
        <p:txBody>
          <a:bodyPr wrap="square" anchor="t" lIns="0" rIns="0" tIns="0" bIns="0">
            <a:spAutoFit/>
          </a:bodyPr>
          <a:lstStyle/>
          <a:p>
            <a:pPr algn="l">
              <a:spcAft>
                <a:spcPts val="600"/>
              </a:spcAft>
            </a:pPr>
            <a:r>
              <a:rPr sz="1200" b="0">
                <a:solidFill>
                  <a:srgbClr val="71766C"/>
                </a:solidFill>
                <a:latin typeface="Consolas"/>
              </a:rPr>
              <a:t>every number here is in that repository</a:t>
            </a:r>
          </a:p>
        </p:txBody>
      </p:sp>
      <p:sp>
        <p:nvSpPr>
          <p:cNvPr id="9" name="Rounded Rectangle 8"/>
          <p:cNvSpPr/>
          <p:nvPr/>
        </p:nvSpPr>
        <p:spPr>
          <a:xfrm>
            <a:off x="566928" y="5394960"/>
            <a:ext cx="2468880" cy="457200"/>
          </a:xfrm>
          <a:prstGeom prst="roundRect">
            <a:avLst>
              <a:gd name="adj" fmla="val 4000"/>
            </a:avLst>
          </a:prstGeom>
          <a:solidFill>
            <a:srgbClr val="142E20"/>
          </a:solidFill>
          <a:ln w="9525">
            <a:solidFill>
              <a:srgbClr val="5FD6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5513832"/>
            <a:ext cx="2468880" cy="274320"/>
          </a:xfrm>
          <a:prstGeom prst="rect">
            <a:avLst/>
          </a:prstGeom>
          <a:noFill/>
        </p:spPr>
        <p:txBody>
          <a:bodyPr wrap="square" anchor="t" lIns="0" rIns="0" tIns="0" bIns="0">
            <a:spAutoFit/>
          </a:bodyPr>
          <a:lstStyle/>
          <a:p>
            <a:pPr algn="ctr">
              <a:spcAft>
                <a:spcPts val="600"/>
              </a:spcAft>
            </a:pPr>
            <a:r>
              <a:rPr sz="1200" b="0">
                <a:solidFill>
                  <a:srgbClr val="5FD68A"/>
                </a:solidFill>
                <a:latin typeface="Consolas"/>
              </a:rPr>
              <a:t>30B across three devices</a:t>
            </a:r>
          </a:p>
        </p:txBody>
      </p:sp>
      <p:sp>
        <p:nvSpPr>
          <p:cNvPr id="11" name="Rounded Rectangle 10"/>
          <p:cNvSpPr/>
          <p:nvPr/>
        </p:nvSpPr>
        <p:spPr>
          <a:xfrm>
            <a:off x="3218688" y="5394960"/>
            <a:ext cx="2468880" cy="457200"/>
          </a:xfrm>
          <a:prstGeom prst="roundRect">
            <a:avLst>
              <a:gd name="adj" fmla="val 4000"/>
            </a:avLst>
          </a:prstGeom>
          <a:solidFill>
            <a:srgbClr val="142E20"/>
          </a:solidFill>
          <a:ln w="9525">
            <a:solidFill>
              <a:srgbClr val="5FD6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18688" y="5513832"/>
            <a:ext cx="2468880" cy="274320"/>
          </a:xfrm>
          <a:prstGeom prst="rect">
            <a:avLst/>
          </a:prstGeom>
          <a:noFill/>
        </p:spPr>
        <p:txBody>
          <a:bodyPr wrap="square" anchor="t" lIns="0" rIns="0" tIns="0" bIns="0">
            <a:spAutoFit/>
          </a:bodyPr>
          <a:lstStyle/>
          <a:p>
            <a:pPr algn="ctr">
              <a:spcAft>
                <a:spcPts val="600"/>
              </a:spcAft>
            </a:pPr>
            <a:r>
              <a:rPr sz="1200" b="0">
                <a:solidFill>
                  <a:srgbClr val="5FD68A"/>
                </a:solidFill>
                <a:latin typeface="Consolas"/>
              </a:rPr>
              <a:t>ready in 70 s</a:t>
            </a:r>
          </a:p>
        </p:txBody>
      </p:sp>
      <p:sp>
        <p:nvSpPr>
          <p:cNvPr id="13" name="Rounded Rectangle 12"/>
          <p:cNvSpPr/>
          <p:nvPr/>
        </p:nvSpPr>
        <p:spPr>
          <a:xfrm>
            <a:off x="5870448" y="5394960"/>
            <a:ext cx="2468880" cy="457200"/>
          </a:xfrm>
          <a:prstGeom prst="roundRect">
            <a:avLst>
              <a:gd name="adj" fmla="val 4000"/>
            </a:avLst>
          </a:prstGeom>
          <a:solidFill>
            <a:srgbClr val="142E20"/>
          </a:solidFill>
          <a:ln w="9525">
            <a:solidFill>
              <a:srgbClr val="5FD6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70448" y="5513832"/>
            <a:ext cx="2468880" cy="274320"/>
          </a:xfrm>
          <a:prstGeom prst="rect">
            <a:avLst/>
          </a:prstGeom>
          <a:noFill/>
        </p:spPr>
        <p:txBody>
          <a:bodyPr wrap="square" anchor="t" lIns="0" rIns="0" tIns="0" bIns="0">
            <a:spAutoFit/>
          </a:bodyPr>
          <a:lstStyle/>
          <a:p>
            <a:pPr algn="ctr">
              <a:spcAft>
                <a:spcPts val="600"/>
              </a:spcAft>
            </a:pPr>
            <a:r>
              <a:rPr sz="1200" b="0">
                <a:solidFill>
                  <a:srgbClr val="5FD68A"/>
                </a:solidFill>
                <a:latin typeface="Consolas"/>
              </a:rPr>
              <a:t>6.6 words a second</a:t>
            </a:r>
          </a:p>
        </p:txBody>
      </p:sp>
      <p:sp>
        <p:nvSpPr>
          <p:cNvPr id="15" name="Rounded Rectangle 14"/>
          <p:cNvSpPr/>
          <p:nvPr/>
        </p:nvSpPr>
        <p:spPr>
          <a:xfrm>
            <a:off x="8522207" y="5394960"/>
            <a:ext cx="2468880" cy="457200"/>
          </a:xfrm>
          <a:prstGeom prst="roundRect">
            <a:avLst>
              <a:gd name="adj" fmla="val 4000"/>
            </a:avLst>
          </a:prstGeom>
          <a:solidFill>
            <a:srgbClr val="142E20"/>
          </a:solidFill>
          <a:ln w="9525">
            <a:solidFill>
              <a:srgbClr val="5FD6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22207" y="5513832"/>
            <a:ext cx="2468880" cy="274320"/>
          </a:xfrm>
          <a:prstGeom prst="rect">
            <a:avLst/>
          </a:prstGeom>
          <a:noFill/>
        </p:spPr>
        <p:txBody>
          <a:bodyPr wrap="square" anchor="t" lIns="0" rIns="0" tIns="0" bIns="0">
            <a:spAutoFit/>
          </a:bodyPr>
          <a:lstStyle/>
          <a:p>
            <a:pPr algn="ctr">
              <a:spcAft>
                <a:spcPts val="600"/>
              </a:spcAft>
            </a:pPr>
            <a:r>
              <a:rPr sz="1200" b="0">
                <a:solidFill>
                  <a:srgbClr val="5FD68A"/>
                </a:solidFill>
                <a:latin typeface="Consolas"/>
              </a:rPr>
              <a:t>internet off</a:t>
            </a:r>
          </a:p>
        </p:txBody>
      </p:sp>
      <p:sp>
        <p:nvSpPr>
          <p:cNvPr id="17" name="TextBox 16"/>
          <p:cNvSpPr txBox="1"/>
          <p:nvPr/>
        </p:nvSpPr>
        <p:spPr>
          <a:xfrm>
            <a:off x="566928" y="6291072"/>
            <a:ext cx="6400800" cy="274320"/>
          </a:xfrm>
          <a:prstGeom prst="rect">
            <a:avLst/>
          </a:prstGeom>
          <a:noFill/>
        </p:spPr>
        <p:txBody>
          <a:bodyPr wrap="square" anchor="t" lIns="0" rIns="0" tIns="0" bIns="0">
            <a:spAutoFit/>
          </a:bodyPr>
          <a:lstStyle/>
          <a:p>
            <a:pPr algn="l">
              <a:spcAft>
                <a:spcPts val="600"/>
              </a:spcAft>
            </a:pPr>
            <a:r>
              <a:rPr sz="1100" b="0">
                <a:solidFill>
                  <a:srgbClr val="71766C"/>
                </a:solidFill>
                <a:latin typeface="Consolas"/>
              </a:rPr>
              <a:t>Team Maynards</a:t>
            </a:r>
          </a:p>
        </p:txBody>
      </p:sp>
      <p:sp>
        <p:nvSpPr>
          <p:cNvPr id="18" name="TextBox 17"/>
          <p:cNvSpPr txBox="1"/>
          <p:nvPr/>
        </p:nvSpPr>
        <p:spPr>
          <a:xfrm>
            <a:off x="5223967" y="6291072"/>
            <a:ext cx="6400800" cy="274320"/>
          </a:xfrm>
          <a:prstGeom prst="rect">
            <a:avLst/>
          </a:prstGeom>
          <a:noFill/>
        </p:spPr>
        <p:txBody>
          <a:bodyPr wrap="square" anchor="t" lIns="0" rIns="0" tIns="0" bIns="0">
            <a:spAutoFit/>
          </a:bodyPr>
          <a:lstStyle/>
          <a:p>
            <a:pPr algn="r">
              <a:spcAft>
                <a:spcPts val="600"/>
              </a:spcAft>
            </a:pPr>
            <a:r>
              <a:rPr sz="1100" b="0">
                <a:solidFill>
                  <a:srgbClr val="71766C"/>
                </a:solidFill>
                <a:latin typeface="Consolas"/>
              </a:rPr>
              <a:t>iQOO Hackathon 2026 · Developer Tools</a:t>
            </a:r>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800">
        <p159:morph option="byObject"/>
      </p:transition>
    </mc:Choice>
    <mc:Fallback>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