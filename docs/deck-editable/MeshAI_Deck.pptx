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9265688" y="3429000"/>
            <a:ext cx="2834640" cy="0"/>
          </a:xfrm>
          <a:custGeom>
            <a:avLst/>
            <a:gdLst/>
            <a:ahLst/>
            <a:cxnLst/>
            <a:rect l="l" t="t" r="r" b="b"/>
            <a:pathLst>
              <a:path w="2834640" h="0">
                <a:moveTo>
                  <a:pt x="0" y="0"/>
                </a:moveTo>
                <a:lnTo>
                  <a:pt x="2834640" y="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9265688" y="3429000"/>
            <a:ext cx="2454870" cy="1417320"/>
          </a:xfrm>
          <a:custGeom>
            <a:avLst/>
            <a:gdLst/>
            <a:ahLst/>
            <a:cxnLst/>
            <a:rect l="l" t="t" r="r" b="b"/>
            <a:pathLst>
              <a:path w="2454870" h="1417320">
                <a:moveTo>
                  <a:pt x="0" y="0"/>
                </a:moveTo>
                <a:lnTo>
                  <a:pt x="2454870" y="141732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9265688" y="3429000"/>
            <a:ext cx="1417320" cy="2454870"/>
          </a:xfrm>
          <a:custGeom>
            <a:avLst/>
            <a:gdLst/>
            <a:ahLst/>
            <a:cxnLst/>
            <a:rect l="l" t="t" r="r" b="b"/>
            <a:pathLst>
              <a:path w="1417320" h="2454870">
                <a:moveTo>
                  <a:pt x="0" y="0"/>
                </a:moveTo>
                <a:lnTo>
                  <a:pt x="1417320" y="245487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9265688" y="3429000"/>
            <a:ext cx="0" cy="2834640"/>
          </a:xfrm>
          <a:custGeom>
            <a:avLst/>
            <a:gdLst/>
            <a:ahLst/>
            <a:cxnLst/>
            <a:rect l="l" t="t" r="r" b="b"/>
            <a:pathLst>
              <a:path w="0" h="2834640">
                <a:moveTo>
                  <a:pt x="0" y="0"/>
                </a:moveTo>
                <a:lnTo>
                  <a:pt x="0" y="283464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7848368" y="3429000"/>
            <a:ext cx="1417320" cy="2454870"/>
          </a:xfrm>
          <a:custGeom>
            <a:avLst/>
            <a:gdLst/>
            <a:ahLst/>
            <a:cxnLst/>
            <a:rect l="l" t="t" r="r" b="b"/>
            <a:pathLst>
              <a:path w="1417320" h="2454870">
                <a:moveTo>
                  <a:pt x="1417320" y="0"/>
                </a:moveTo>
                <a:lnTo>
                  <a:pt x="0" y="245487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6810817" y="3429000"/>
            <a:ext cx="2454871" cy="1417320"/>
          </a:xfrm>
          <a:custGeom>
            <a:avLst/>
            <a:gdLst/>
            <a:ahLst/>
            <a:cxnLst/>
            <a:rect l="l" t="t" r="r" b="b"/>
            <a:pathLst>
              <a:path w="2454871" h="1417320">
                <a:moveTo>
                  <a:pt x="2454871" y="0"/>
                </a:moveTo>
                <a:lnTo>
                  <a:pt x="0" y="141732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6431048" y="3429000"/>
            <a:ext cx="2834640" cy="0"/>
          </a:xfrm>
          <a:custGeom>
            <a:avLst/>
            <a:gdLst/>
            <a:ahLst/>
            <a:cxnLst/>
            <a:rect l="l" t="t" r="r" b="b"/>
            <a:pathLst>
              <a:path w="2834640" h="0">
                <a:moveTo>
                  <a:pt x="2834640" y="0"/>
                </a:moveTo>
                <a:lnTo>
                  <a:pt x="0" y="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6810817" y="2011680"/>
            <a:ext cx="2454871" cy="1417320"/>
          </a:xfrm>
          <a:custGeom>
            <a:avLst/>
            <a:gdLst/>
            <a:ahLst/>
            <a:cxnLst/>
            <a:rect l="l" t="t" r="r" b="b"/>
            <a:pathLst>
              <a:path w="2454871" h="1417320">
                <a:moveTo>
                  <a:pt x="2454871" y="1417320"/>
                </a:moveTo>
                <a:lnTo>
                  <a:pt x="0" y="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7848367" y="974129"/>
            <a:ext cx="1417321" cy="2454871"/>
          </a:xfrm>
          <a:custGeom>
            <a:avLst/>
            <a:gdLst/>
            <a:ahLst/>
            <a:cxnLst/>
            <a:rect l="l" t="t" r="r" b="b"/>
            <a:pathLst>
              <a:path w="1417321" h="2454871">
                <a:moveTo>
                  <a:pt x="1417321" y="2454871"/>
                </a:moveTo>
                <a:lnTo>
                  <a:pt x="0" y="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265688" y="594360"/>
            <a:ext cx="0" cy="2834640"/>
          </a:xfrm>
          <a:custGeom>
            <a:avLst/>
            <a:gdLst/>
            <a:ahLst/>
            <a:cxnLst/>
            <a:rect l="l" t="t" r="r" b="b"/>
            <a:pathLst>
              <a:path w="0" h="2834640">
                <a:moveTo>
                  <a:pt x="0" y="2834640"/>
                </a:moveTo>
                <a:lnTo>
                  <a:pt x="0" y="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265688" y="974129"/>
            <a:ext cx="1417320" cy="2454871"/>
          </a:xfrm>
          <a:custGeom>
            <a:avLst/>
            <a:gdLst/>
            <a:ahLst/>
            <a:cxnLst/>
            <a:rect l="l" t="t" r="r" b="b"/>
            <a:pathLst>
              <a:path w="1417320" h="2454871">
                <a:moveTo>
                  <a:pt x="0" y="2454871"/>
                </a:moveTo>
                <a:lnTo>
                  <a:pt x="1417320" y="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265688" y="2011679"/>
            <a:ext cx="2454870" cy="1417321"/>
          </a:xfrm>
          <a:custGeom>
            <a:avLst/>
            <a:gdLst/>
            <a:ahLst/>
            <a:cxnLst/>
            <a:rect l="l" t="t" r="r" b="b"/>
            <a:pathLst>
              <a:path w="2454870" h="1417321">
                <a:moveTo>
                  <a:pt x="0" y="1417321"/>
                </a:moveTo>
                <a:lnTo>
                  <a:pt x="2454870" y="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8557028" y="2720340"/>
            <a:ext cx="1417320" cy="1417320"/>
          </a:xfrm>
          <a:custGeom>
            <a:avLst/>
            <a:gdLst/>
            <a:ahLst/>
            <a:cxnLst/>
            <a:rect l="l" t="t" r="r" b="b"/>
            <a:pathLst>
              <a:path w="1417320" h="1417320">
                <a:moveTo>
                  <a:pt x="1417320" y="708660"/>
                </a:moveTo>
                <a:lnTo>
                  <a:pt x="1322377" y="1062990"/>
                </a:lnTo>
                <a:lnTo>
                  <a:pt x="1062990" y="1322377"/>
                </a:lnTo>
                <a:lnTo>
                  <a:pt x="708660" y="1417320"/>
                </a:lnTo>
                <a:lnTo>
                  <a:pt x="354330" y="1322377"/>
                </a:lnTo>
                <a:lnTo>
                  <a:pt x="94942" y="1062990"/>
                </a:lnTo>
                <a:lnTo>
                  <a:pt x="0" y="708660"/>
                </a:lnTo>
                <a:lnTo>
                  <a:pt x="94942" y="354330"/>
                </a:lnTo>
                <a:lnTo>
                  <a:pt x="354330" y="94942"/>
                </a:lnTo>
                <a:lnTo>
                  <a:pt x="708660" y="0"/>
                </a:lnTo>
                <a:lnTo>
                  <a:pt x="1062990" y="94942"/>
                </a:lnTo>
                <a:lnTo>
                  <a:pt x="1322377" y="354329"/>
                </a:lnTo>
                <a:lnTo>
                  <a:pt x="1417320" y="708660"/>
                </a:lnTo>
                <a:close/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7848368" y="2011680"/>
            <a:ext cx="2834640" cy="2834640"/>
          </a:xfrm>
          <a:custGeom>
            <a:avLst/>
            <a:gdLst/>
            <a:ahLst/>
            <a:cxnLst/>
            <a:rect l="l" t="t" r="r" b="b"/>
            <a:pathLst>
              <a:path w="2834640" h="2834640">
                <a:moveTo>
                  <a:pt x="2834640" y="1417320"/>
                </a:moveTo>
                <a:lnTo>
                  <a:pt x="2644755" y="2125980"/>
                </a:lnTo>
                <a:lnTo>
                  <a:pt x="2125980" y="2644755"/>
                </a:lnTo>
                <a:lnTo>
                  <a:pt x="1417320" y="2834640"/>
                </a:lnTo>
                <a:lnTo>
                  <a:pt x="708660" y="2644755"/>
                </a:lnTo>
                <a:lnTo>
                  <a:pt x="189884" y="2125980"/>
                </a:lnTo>
                <a:lnTo>
                  <a:pt x="0" y="1417320"/>
                </a:lnTo>
                <a:lnTo>
                  <a:pt x="189884" y="708660"/>
                </a:lnTo>
                <a:lnTo>
                  <a:pt x="708660" y="189884"/>
                </a:lnTo>
                <a:lnTo>
                  <a:pt x="1417320" y="0"/>
                </a:lnTo>
                <a:lnTo>
                  <a:pt x="2125980" y="189884"/>
                </a:lnTo>
                <a:lnTo>
                  <a:pt x="2644755" y="708659"/>
                </a:lnTo>
                <a:lnTo>
                  <a:pt x="2834640" y="1417319"/>
                </a:lnTo>
                <a:close/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7139708" y="1303020"/>
            <a:ext cx="4251960" cy="4251960"/>
          </a:xfrm>
          <a:custGeom>
            <a:avLst/>
            <a:gdLst/>
            <a:ahLst/>
            <a:cxnLst/>
            <a:rect l="l" t="t" r="r" b="b"/>
            <a:pathLst>
              <a:path w="4251960" h="4251960">
                <a:moveTo>
                  <a:pt x="4251960" y="2125980"/>
                </a:moveTo>
                <a:lnTo>
                  <a:pt x="3967132" y="3188970"/>
                </a:lnTo>
                <a:lnTo>
                  <a:pt x="3188970" y="3967132"/>
                </a:lnTo>
                <a:lnTo>
                  <a:pt x="2125980" y="4251960"/>
                </a:lnTo>
                <a:lnTo>
                  <a:pt x="1062990" y="3967132"/>
                </a:lnTo>
                <a:lnTo>
                  <a:pt x="284827" y="3188970"/>
                </a:lnTo>
                <a:lnTo>
                  <a:pt x="0" y="2125980"/>
                </a:lnTo>
                <a:lnTo>
                  <a:pt x="284827" y="1062990"/>
                </a:lnTo>
                <a:lnTo>
                  <a:pt x="1062989" y="284827"/>
                </a:lnTo>
                <a:lnTo>
                  <a:pt x="2125980" y="0"/>
                </a:lnTo>
                <a:lnTo>
                  <a:pt x="3188970" y="284827"/>
                </a:lnTo>
                <a:lnTo>
                  <a:pt x="3967132" y="1062989"/>
                </a:lnTo>
                <a:lnTo>
                  <a:pt x="4251960" y="2125979"/>
                </a:lnTo>
                <a:close/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6431048" y="594360"/>
            <a:ext cx="5669280" cy="5669280"/>
          </a:xfrm>
          <a:custGeom>
            <a:avLst/>
            <a:gdLst/>
            <a:ahLst/>
            <a:cxnLst/>
            <a:rect l="l" t="t" r="r" b="b"/>
            <a:pathLst>
              <a:path w="5669280" h="5669280">
                <a:moveTo>
                  <a:pt x="5669280" y="2834640"/>
                </a:moveTo>
                <a:lnTo>
                  <a:pt x="5289510" y="4251960"/>
                </a:lnTo>
                <a:lnTo>
                  <a:pt x="4251960" y="5289510"/>
                </a:lnTo>
                <a:lnTo>
                  <a:pt x="2834640" y="5669280"/>
                </a:lnTo>
                <a:lnTo>
                  <a:pt x="1417320" y="5289510"/>
                </a:lnTo>
                <a:lnTo>
                  <a:pt x="379769" y="4251960"/>
                </a:lnTo>
                <a:lnTo>
                  <a:pt x="0" y="2834640"/>
                </a:lnTo>
                <a:lnTo>
                  <a:pt x="379769" y="1417320"/>
                </a:lnTo>
                <a:lnTo>
                  <a:pt x="1417319" y="379769"/>
                </a:lnTo>
                <a:lnTo>
                  <a:pt x="2834640" y="0"/>
                </a:lnTo>
                <a:lnTo>
                  <a:pt x="4251960" y="379769"/>
                </a:lnTo>
                <a:lnTo>
                  <a:pt x="5289510" y="1417319"/>
                </a:lnTo>
                <a:lnTo>
                  <a:pt x="5669280" y="2834639"/>
                </a:lnTo>
                <a:close/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8813071" y="3020509"/>
            <a:ext cx="452617" cy="408491"/>
          </a:xfrm>
          <a:custGeom>
            <a:avLst/>
            <a:gdLst/>
            <a:ahLst/>
            <a:cxnLst/>
            <a:rect l="l" t="t" r="r" b="b"/>
            <a:pathLst>
              <a:path w="452617" h="408491">
                <a:moveTo>
                  <a:pt x="452617" y="408491"/>
                </a:moveTo>
                <a:lnTo>
                  <a:pt x="181047" y="0"/>
                </a:lnTo>
                <a:lnTo>
                  <a:pt x="0" y="119752"/>
                </a:lnTo>
              </a:path>
            </a:pathLst>
          </a:custGeom>
          <a:noFill/>
          <a:ln w="19050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8604733" y="3186661"/>
            <a:ext cx="660955" cy="242339"/>
          </a:xfrm>
          <a:custGeom>
            <a:avLst/>
            <a:gdLst/>
            <a:ahLst/>
            <a:cxnLst/>
            <a:rect l="l" t="t" r="r" b="b"/>
            <a:pathLst>
              <a:path w="660955" h="242339">
                <a:moveTo>
                  <a:pt x="660955" y="242339"/>
                </a:moveTo>
                <a:lnTo>
                  <a:pt x="264382" y="0"/>
                </a:lnTo>
                <a:lnTo>
                  <a:pt x="0" y="219443"/>
                </a:lnTo>
              </a:path>
            </a:pathLst>
          </a:custGeom>
          <a:noFill/>
          <a:ln w="19050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8612577" y="3382728"/>
            <a:ext cx="653111" cy="337083"/>
          </a:xfrm>
          <a:custGeom>
            <a:avLst/>
            <a:gdLst/>
            <a:ahLst/>
            <a:cxnLst/>
            <a:rect l="l" t="t" r="r" b="b"/>
            <a:pathLst>
              <a:path w="653111" h="337083">
                <a:moveTo>
                  <a:pt x="653111" y="46272"/>
                </a:moveTo>
                <a:lnTo>
                  <a:pt x="261244" y="0"/>
                </a:lnTo>
                <a:lnTo>
                  <a:pt x="0" y="337083"/>
                </a:lnTo>
              </a:path>
            </a:pathLst>
          </a:custGeom>
          <a:noFill/>
          <a:ln w="19050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8834037" y="3429000"/>
            <a:ext cx="431651" cy="549776"/>
          </a:xfrm>
          <a:custGeom>
            <a:avLst/>
            <a:gdLst/>
            <a:ahLst/>
            <a:cxnLst/>
            <a:rect l="l" t="t" r="r" b="b"/>
            <a:pathLst>
              <a:path w="431651" h="549776">
                <a:moveTo>
                  <a:pt x="431651" y="0"/>
                </a:moveTo>
                <a:lnTo>
                  <a:pt x="172660" y="115581"/>
                </a:lnTo>
                <a:lnTo>
                  <a:pt x="0" y="549776"/>
                </a:lnTo>
              </a:path>
            </a:pathLst>
          </a:custGeom>
          <a:noFill/>
          <a:ln w="19050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9265688" y="3020509"/>
            <a:ext cx="452616" cy="408491"/>
          </a:xfrm>
          <a:custGeom>
            <a:avLst/>
            <a:gdLst/>
            <a:ahLst/>
            <a:cxnLst/>
            <a:rect l="l" t="t" r="r" b="b"/>
            <a:pathLst>
              <a:path w="452616" h="408491">
                <a:moveTo>
                  <a:pt x="0" y="408491"/>
                </a:moveTo>
                <a:lnTo>
                  <a:pt x="271569" y="0"/>
                </a:lnTo>
                <a:lnTo>
                  <a:pt x="452616" y="119752"/>
                </a:lnTo>
              </a:path>
            </a:pathLst>
          </a:custGeom>
          <a:noFill/>
          <a:ln w="19050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9265688" y="3186661"/>
            <a:ext cx="660954" cy="242339"/>
          </a:xfrm>
          <a:custGeom>
            <a:avLst/>
            <a:gdLst/>
            <a:ahLst/>
            <a:cxnLst/>
            <a:rect l="l" t="t" r="r" b="b"/>
            <a:pathLst>
              <a:path w="660954" h="242339">
                <a:moveTo>
                  <a:pt x="0" y="242339"/>
                </a:moveTo>
                <a:lnTo>
                  <a:pt x="396572" y="0"/>
                </a:lnTo>
                <a:lnTo>
                  <a:pt x="660954" y="219443"/>
                </a:lnTo>
              </a:path>
            </a:pathLst>
          </a:custGeom>
          <a:noFill/>
          <a:ln w="19050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9265688" y="3382728"/>
            <a:ext cx="653110" cy="337083"/>
          </a:xfrm>
          <a:custGeom>
            <a:avLst/>
            <a:gdLst/>
            <a:ahLst/>
            <a:cxnLst/>
            <a:rect l="l" t="t" r="r" b="b"/>
            <a:pathLst>
              <a:path w="653110" h="337083">
                <a:moveTo>
                  <a:pt x="0" y="46272"/>
                </a:moveTo>
                <a:lnTo>
                  <a:pt x="391866" y="0"/>
                </a:lnTo>
                <a:lnTo>
                  <a:pt x="653110" y="337083"/>
                </a:lnTo>
              </a:path>
            </a:pathLst>
          </a:custGeom>
          <a:noFill/>
          <a:ln w="19050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265688" y="3429000"/>
            <a:ext cx="431650" cy="549776"/>
          </a:xfrm>
          <a:custGeom>
            <a:avLst/>
            <a:gdLst/>
            <a:ahLst/>
            <a:cxnLst/>
            <a:rect l="l" t="t" r="r" b="b"/>
            <a:pathLst>
              <a:path w="431650" h="549776">
                <a:moveTo>
                  <a:pt x="0" y="0"/>
                </a:moveTo>
                <a:lnTo>
                  <a:pt x="258990" y="115581"/>
                </a:lnTo>
                <a:lnTo>
                  <a:pt x="431650" y="549776"/>
                </a:lnTo>
              </a:path>
            </a:pathLst>
          </a:custGeom>
          <a:noFill/>
          <a:ln w="19050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032516" y="3305556"/>
            <a:ext cx="466344" cy="466344"/>
          </a:xfrm>
          <a:prstGeom prst="ellipse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23041" y="3080613"/>
            <a:ext cx="285292" cy="285292"/>
          </a:xfrm>
          <a:prstGeom prst="ellipse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TEAM MAYNARDS · IQOO HACKATHON 2026 · DEVELOPER 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2286000"/>
            <a:ext cx="8229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>
                <a:solidFill>
                  <a:srgbClr val="F0EFE9"/>
                </a:solidFill>
                <a:latin typeface="Segoe UI"/>
              </a:rPr>
              <a:t>MeshAI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429000"/>
            <a:ext cx="7863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0">
                <a:solidFill>
                  <a:srgbClr val="F0EFE9"/>
                </a:solidFill>
                <a:latin typeface="Segoe UI"/>
              </a:rPr>
              <a:t>Run big models on the devices you already own.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43434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2C6BC"/>
                </a:solidFill>
                <a:latin typeface="Segoe UI"/>
              </a:rPr>
              <a:t>A 30B model across one laptop and two phones. No cloud. No internet.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983480"/>
            <a:ext cx="2615184" cy="457200"/>
          </a:xfrm>
          <a:prstGeom prst="roundRect">
            <a:avLst>
              <a:gd name="adj" fmla="val 4000"/>
            </a:avLst>
          </a:prstGeom>
          <a:solidFill>
            <a:srgbClr val="141612"/>
          </a:solidFill>
          <a:ln w="9525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5102352"/>
            <a:ext cx="2615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FD68A"/>
                </a:solidFill>
                <a:latin typeface="Consolas"/>
              </a:rPr>
              <a:t>ready in 70 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64992" y="4983480"/>
            <a:ext cx="2615184" cy="457200"/>
          </a:xfrm>
          <a:prstGeom prst="roundRect">
            <a:avLst>
              <a:gd name="adj" fmla="val 4000"/>
            </a:avLst>
          </a:prstGeom>
          <a:solidFill>
            <a:srgbClr val="141612"/>
          </a:solidFill>
          <a:ln w="9525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64992" y="5102352"/>
            <a:ext cx="2615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C2C6BC"/>
                </a:solidFill>
                <a:latin typeface="Consolas"/>
              </a:rPr>
              <a:t>6.6 tokens per second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63056" y="4983480"/>
            <a:ext cx="2615184" cy="457200"/>
          </a:xfrm>
          <a:prstGeom prst="roundRect">
            <a:avLst>
              <a:gd name="adj" fmla="val 4000"/>
            </a:avLst>
          </a:prstGeom>
          <a:solidFill>
            <a:srgbClr val="141612"/>
          </a:solidFill>
          <a:ln w="9525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63056" y="5102352"/>
            <a:ext cx="2615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C2C6BC"/>
                </a:solidFill>
                <a:latin typeface="Consolas"/>
              </a:rPr>
              <a:t>4 KB per word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61120" y="4983480"/>
            <a:ext cx="2615184" cy="457200"/>
          </a:xfrm>
          <a:prstGeom prst="roundRect">
            <a:avLst>
              <a:gd name="adj" fmla="val 4000"/>
            </a:avLst>
          </a:prstGeom>
          <a:solidFill>
            <a:srgbClr val="141612"/>
          </a:solidFill>
          <a:ln w="9525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0" y="5102352"/>
            <a:ext cx="2615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C2C6BC"/>
                </a:solidFill>
                <a:latin typeface="Consolas"/>
              </a:rPr>
              <a:t>internet off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629107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Prajwal Gunnala · Yuva Raj Ambati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72607" y="6291072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27 September 2026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17781" y="409941"/>
            <a:ext cx="113155" cy="102123"/>
          </a:xfrm>
          <a:custGeom>
            <a:avLst/>
            <a:gdLst/>
            <a:ahLst/>
            <a:cxnLst/>
            <a:rect l="l" t="t" r="r" b="b"/>
            <a:pathLst>
              <a:path w="113155" h="102123">
                <a:moveTo>
                  <a:pt x="113155" y="102123"/>
                </a:moveTo>
                <a:lnTo>
                  <a:pt x="45262" y="0"/>
                </a:lnTo>
                <a:lnTo>
                  <a:pt x="0" y="29938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65697" y="451479"/>
            <a:ext cx="165239" cy="60585"/>
          </a:xfrm>
          <a:custGeom>
            <a:avLst/>
            <a:gdLst/>
            <a:ahLst/>
            <a:cxnLst/>
            <a:rect l="l" t="t" r="r" b="b"/>
            <a:pathLst>
              <a:path w="165239" h="60585">
                <a:moveTo>
                  <a:pt x="165239" y="60585"/>
                </a:moveTo>
                <a:lnTo>
                  <a:pt x="66095" y="0"/>
                </a:lnTo>
                <a:lnTo>
                  <a:pt x="0" y="54861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67658" y="500496"/>
            <a:ext cx="163278" cy="84270"/>
          </a:xfrm>
          <a:custGeom>
            <a:avLst/>
            <a:gdLst/>
            <a:ahLst/>
            <a:cxnLst/>
            <a:rect l="l" t="t" r="r" b="b"/>
            <a:pathLst>
              <a:path w="163278" h="84270">
                <a:moveTo>
                  <a:pt x="163278" y="11568"/>
                </a:moveTo>
                <a:lnTo>
                  <a:pt x="65311" y="0"/>
                </a:lnTo>
                <a:lnTo>
                  <a:pt x="0" y="84270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23023" y="512064"/>
            <a:ext cx="107913" cy="137444"/>
          </a:xfrm>
          <a:custGeom>
            <a:avLst/>
            <a:gdLst/>
            <a:ahLst/>
            <a:cxnLst/>
            <a:rect l="l" t="t" r="r" b="b"/>
            <a:pathLst>
              <a:path w="107913" h="137444">
                <a:moveTo>
                  <a:pt x="107913" y="0"/>
                </a:moveTo>
                <a:lnTo>
                  <a:pt x="43165" y="28895"/>
                </a:lnTo>
                <a:lnTo>
                  <a:pt x="0" y="137444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30936" y="409941"/>
            <a:ext cx="113154" cy="102123"/>
          </a:xfrm>
          <a:custGeom>
            <a:avLst/>
            <a:gdLst/>
            <a:ahLst/>
            <a:cxnLst/>
            <a:rect l="l" t="t" r="r" b="b"/>
            <a:pathLst>
              <a:path w="113154" h="102123">
                <a:moveTo>
                  <a:pt x="0" y="102123"/>
                </a:moveTo>
                <a:lnTo>
                  <a:pt x="67892" y="0"/>
                </a:lnTo>
                <a:lnTo>
                  <a:pt x="113154" y="29938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630936" y="451479"/>
            <a:ext cx="165238" cy="60585"/>
          </a:xfrm>
          <a:custGeom>
            <a:avLst/>
            <a:gdLst/>
            <a:ahLst/>
            <a:cxnLst/>
            <a:rect l="l" t="t" r="r" b="b"/>
            <a:pathLst>
              <a:path w="165238" h="60585">
                <a:moveTo>
                  <a:pt x="0" y="60585"/>
                </a:moveTo>
                <a:lnTo>
                  <a:pt x="99143" y="0"/>
                </a:lnTo>
                <a:lnTo>
                  <a:pt x="165238" y="54861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630936" y="500496"/>
            <a:ext cx="163277" cy="84270"/>
          </a:xfrm>
          <a:custGeom>
            <a:avLst/>
            <a:gdLst/>
            <a:ahLst/>
            <a:cxnLst/>
            <a:rect l="l" t="t" r="r" b="b"/>
            <a:pathLst>
              <a:path w="163277" h="84270">
                <a:moveTo>
                  <a:pt x="0" y="11568"/>
                </a:moveTo>
                <a:lnTo>
                  <a:pt x="97966" y="0"/>
                </a:lnTo>
                <a:lnTo>
                  <a:pt x="163277" y="84270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630936" y="512064"/>
            <a:ext cx="107912" cy="137444"/>
          </a:xfrm>
          <a:custGeom>
            <a:avLst/>
            <a:gdLst/>
            <a:ahLst/>
            <a:cxnLst/>
            <a:rect l="l" t="t" r="r" b="b"/>
            <a:pathLst>
              <a:path w="107912" h="137444">
                <a:moveTo>
                  <a:pt x="0" y="0"/>
                </a:moveTo>
                <a:lnTo>
                  <a:pt x="64747" y="28895"/>
                </a:lnTo>
                <a:lnTo>
                  <a:pt x="107912" y="137444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2643" y="481203"/>
            <a:ext cx="116586" cy="116586"/>
          </a:xfrm>
          <a:prstGeom prst="ellipse">
            <a:avLst/>
          </a:prstGeom>
          <a:solidFill>
            <a:srgbClr val="969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5274" y="424967"/>
            <a:ext cx="71323" cy="71323"/>
          </a:xfrm>
          <a:prstGeom prst="ellipse">
            <a:avLst/>
          </a:prstGeom>
          <a:solidFill>
            <a:srgbClr val="969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42062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01 · THE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F0EFE9"/>
                </a:solidFill>
                <a:latin typeface="Segoe UI"/>
              </a:rPr>
              <a:t>A 30B model needs 18.6 GB of memory.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389888"/>
            <a:ext cx="8778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2C6BC"/>
                </a:solidFill>
                <a:latin typeface="Segoe UI"/>
              </a:rPr>
              <a:t>If it does not fit, you cannot run it. So people run small models, and small models get it wrong.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103120"/>
            <a:ext cx="11057839" cy="9525"/>
          </a:xfrm>
          <a:prstGeom prst="rect">
            <a:avLst/>
          </a:prstGeom>
          <a:solidFill>
            <a:srgbClr val="2A2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2377440"/>
            <a:ext cx="5391759" cy="3566160"/>
          </a:xfrm>
          <a:prstGeom prst="roundRect">
            <a:avLst>
              <a:gd name="adj" fmla="val 4000"/>
            </a:avLst>
          </a:prstGeom>
          <a:solidFill>
            <a:srgbClr val="141612"/>
          </a:solidFill>
          <a:ln w="9525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2615184"/>
            <a:ext cx="48431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WHAT A MODEL NEEDS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2980944"/>
            <a:ext cx="3745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0EFE9"/>
                </a:solidFill>
                <a:latin typeface="Segoe UI"/>
              </a:rPr>
              <a:t>Qwen3 0.6B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4207" y="298094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0">
                <a:solidFill>
                  <a:srgbClr val="C2C6BC"/>
                </a:solidFill>
                <a:latin typeface="Consolas"/>
              </a:rPr>
              <a:t>0.64 GB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3364992"/>
            <a:ext cx="3745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0EFE9"/>
                </a:solidFill>
                <a:latin typeface="Segoe UI"/>
              </a:rPr>
              <a:t>Qwen3 8B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4207" y="336499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0">
                <a:solidFill>
                  <a:srgbClr val="C2C6BC"/>
                </a:solidFill>
                <a:latin typeface="Consolas"/>
              </a:rPr>
              <a:t>4.7 GB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3749040"/>
            <a:ext cx="3745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0EFE9"/>
                </a:solidFill>
                <a:latin typeface="Segoe UI"/>
              </a:rPr>
              <a:t>gpt-oss 20B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4207" y="374904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0">
                <a:solidFill>
                  <a:srgbClr val="C2C6BC"/>
                </a:solidFill>
                <a:latin typeface="Consolas"/>
              </a:rPr>
              <a:t>12.1 GB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4133088"/>
            <a:ext cx="3745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5FD68A"/>
                </a:solidFill>
                <a:latin typeface="Segoe UI"/>
              </a:rPr>
              <a:t>Qwen3-Coder 30B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4207" y="4133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0">
                <a:solidFill>
                  <a:srgbClr val="5FD68A"/>
                </a:solidFill>
                <a:latin typeface="Consolas"/>
              </a:rPr>
              <a:t>18.6 GB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4663440"/>
            <a:ext cx="48431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WHAT A DEVICE HAS FREE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5029200"/>
            <a:ext cx="3745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0EFE9"/>
                </a:solidFill>
                <a:latin typeface="Segoe UI"/>
              </a:rPr>
              <a:t>A budget laptop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55567" y="50292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2C6BC"/>
                </a:solidFill>
                <a:latin typeface="Consolas"/>
              </a:rPr>
              <a:t>about 4 GB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5358384"/>
            <a:ext cx="3745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0EFE9"/>
                </a:solidFill>
                <a:latin typeface="Segoe UI"/>
              </a:rPr>
              <a:t>One 16 GB phone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55567" y="535838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2C6BC"/>
                </a:solidFill>
                <a:latin typeface="Consolas"/>
              </a:rPr>
              <a:t>about 8.7 GB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5687568"/>
            <a:ext cx="3745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FD68A"/>
                </a:solidFill>
                <a:latin typeface="Segoe UI"/>
              </a:rPr>
              <a:t>The three together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55567" y="568756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5FD68A"/>
                </a:solidFill>
                <a:latin typeface="Consolas"/>
              </a:rPr>
              <a:t>about 20 GB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3007" y="2377440"/>
            <a:ext cx="5391759" cy="3566160"/>
          </a:xfrm>
          <a:prstGeom prst="roundRect">
            <a:avLst>
              <a:gd name="adj" fmla="val 4000"/>
            </a:avLst>
          </a:prstGeom>
          <a:solidFill>
            <a:srgbClr val="141612"/>
          </a:solidFill>
          <a:ln w="9525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7327" y="2615184"/>
            <a:ext cx="48431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SMALL MODELS GET IT WRONG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07327" y="2926080"/>
            <a:ext cx="48431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C2C6BC"/>
                </a:solidFill>
                <a:latin typeface="Segoe UI"/>
              </a:rPr>
              <a:t>We asked three setups the same 15 coding problems and ran their answers against the tests.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90207" y="4937760"/>
            <a:ext cx="1051560" cy="274320"/>
          </a:xfrm>
          <a:prstGeom prst="roundRect">
            <a:avLst>
              <a:gd name="adj" fmla="val 18000"/>
            </a:avLst>
          </a:prstGeom>
          <a:solidFill>
            <a:srgbClr val="2A2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90207" y="4626864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>
                <a:solidFill>
                  <a:srgbClr val="969C90"/>
                </a:solidFill>
                <a:latin typeface="Consolas"/>
              </a:rPr>
              <a:t>13%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15887" y="5303520"/>
            <a:ext cx="1600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0.6B  2 of 15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07526" y="4251960"/>
            <a:ext cx="1051560" cy="960120"/>
          </a:xfrm>
          <a:prstGeom prst="roundRect">
            <a:avLst>
              <a:gd name="adj" fmla="val 18000"/>
            </a:avLst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7526" y="3941064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>
                <a:solidFill>
                  <a:srgbClr val="5FD68A"/>
                </a:solidFill>
                <a:latin typeface="Consolas"/>
              </a:rPr>
              <a:t>47%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33206" y="5303520"/>
            <a:ext cx="1600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1.7B  7 of 15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24847" y="3931920"/>
            <a:ext cx="1051560" cy="1280160"/>
          </a:xfrm>
          <a:prstGeom prst="roundRect">
            <a:avLst>
              <a:gd name="adj" fmla="val 4000"/>
            </a:avLst>
          </a:prstGeom>
          <a:solidFill>
            <a:srgbClr val="0B0C0B"/>
          </a:solidFill>
          <a:ln w="9525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24847" y="3621024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>
                <a:solidFill>
                  <a:srgbClr val="969C90"/>
                </a:solidFill>
                <a:latin typeface="Consolas"/>
              </a:rPr>
              <a:t>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50527" y="5303520"/>
            <a:ext cx="1600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30B  18.6 GB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29107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MeshAI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72607" y="6291072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measured 27 September · results/REPORT.md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9997189" y="5074920"/>
            <a:ext cx="2286000" cy="0"/>
          </a:xfrm>
          <a:custGeom>
            <a:avLst/>
            <a:gdLst/>
            <a:ahLst/>
            <a:cxnLst/>
            <a:rect l="l" t="t" r="r" b="b"/>
            <a:pathLst>
              <a:path w="2286000" h="0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9997189" y="5074920"/>
            <a:ext cx="1979734" cy="1143000"/>
          </a:xfrm>
          <a:custGeom>
            <a:avLst/>
            <a:gdLst/>
            <a:ahLst/>
            <a:cxnLst/>
            <a:rect l="l" t="t" r="r" b="b"/>
            <a:pathLst>
              <a:path w="1979734" h="1143000">
                <a:moveTo>
                  <a:pt x="0" y="0"/>
                </a:moveTo>
                <a:lnTo>
                  <a:pt x="1979734" y="114300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9997189" y="5074920"/>
            <a:ext cx="1143000" cy="1979734"/>
          </a:xfrm>
          <a:custGeom>
            <a:avLst/>
            <a:gdLst/>
            <a:ahLst/>
            <a:cxnLst/>
            <a:rect l="l" t="t" r="r" b="b"/>
            <a:pathLst>
              <a:path w="1143000" h="1979734">
                <a:moveTo>
                  <a:pt x="0" y="0"/>
                </a:moveTo>
                <a:lnTo>
                  <a:pt x="1143000" y="1979734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9997189" y="5074920"/>
            <a:ext cx="0" cy="2286000"/>
          </a:xfrm>
          <a:custGeom>
            <a:avLst/>
            <a:gdLst/>
            <a:ahLst/>
            <a:cxnLst/>
            <a:rect l="l" t="t" r="r" b="b"/>
            <a:pathLst>
              <a:path w="0" h="2286000">
                <a:moveTo>
                  <a:pt x="0" y="0"/>
                </a:moveTo>
                <a:lnTo>
                  <a:pt x="0" y="228600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8854189" y="5074920"/>
            <a:ext cx="1143000" cy="1979734"/>
          </a:xfrm>
          <a:custGeom>
            <a:avLst/>
            <a:gdLst/>
            <a:ahLst/>
            <a:cxnLst/>
            <a:rect l="l" t="t" r="r" b="b"/>
            <a:pathLst>
              <a:path w="1143000" h="1979734">
                <a:moveTo>
                  <a:pt x="1143000" y="0"/>
                </a:moveTo>
                <a:lnTo>
                  <a:pt x="0" y="1979734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8017454" y="5074920"/>
            <a:ext cx="1979735" cy="1143000"/>
          </a:xfrm>
          <a:custGeom>
            <a:avLst/>
            <a:gdLst/>
            <a:ahLst/>
            <a:cxnLst/>
            <a:rect l="l" t="t" r="r" b="b"/>
            <a:pathLst>
              <a:path w="1979735" h="1143000">
                <a:moveTo>
                  <a:pt x="1979735" y="0"/>
                </a:moveTo>
                <a:lnTo>
                  <a:pt x="0" y="114300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7711189" y="5074920"/>
            <a:ext cx="2286000" cy="0"/>
          </a:xfrm>
          <a:custGeom>
            <a:avLst/>
            <a:gdLst/>
            <a:ahLst/>
            <a:cxnLst/>
            <a:rect l="l" t="t" r="r" b="b"/>
            <a:pathLst>
              <a:path w="2286000" h="0">
                <a:moveTo>
                  <a:pt x="2286000" y="0"/>
                </a:moveTo>
                <a:lnTo>
                  <a:pt x="0" y="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8017454" y="3931920"/>
            <a:ext cx="1979735" cy="1143000"/>
          </a:xfrm>
          <a:custGeom>
            <a:avLst/>
            <a:gdLst/>
            <a:ahLst/>
            <a:cxnLst/>
            <a:rect l="l" t="t" r="r" b="b"/>
            <a:pathLst>
              <a:path w="1979735" h="1143000">
                <a:moveTo>
                  <a:pt x="1979735" y="1143000"/>
                </a:moveTo>
                <a:lnTo>
                  <a:pt x="0" y="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8854189" y="3095185"/>
            <a:ext cx="1143000" cy="1979735"/>
          </a:xfrm>
          <a:custGeom>
            <a:avLst/>
            <a:gdLst/>
            <a:ahLst/>
            <a:cxnLst/>
            <a:rect l="l" t="t" r="r" b="b"/>
            <a:pathLst>
              <a:path w="1143000" h="1979735">
                <a:moveTo>
                  <a:pt x="1143000" y="1979735"/>
                </a:moveTo>
                <a:lnTo>
                  <a:pt x="0" y="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997189" y="2788920"/>
            <a:ext cx="0" cy="2286000"/>
          </a:xfrm>
          <a:custGeom>
            <a:avLst/>
            <a:gdLst/>
            <a:ahLst/>
            <a:cxnLst/>
            <a:rect l="l" t="t" r="r" b="b"/>
            <a:pathLst>
              <a:path w="0" h="2286000">
                <a:moveTo>
                  <a:pt x="0" y="2286000"/>
                </a:moveTo>
                <a:lnTo>
                  <a:pt x="0" y="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997189" y="3095185"/>
            <a:ext cx="1143000" cy="1979735"/>
          </a:xfrm>
          <a:custGeom>
            <a:avLst/>
            <a:gdLst/>
            <a:ahLst/>
            <a:cxnLst/>
            <a:rect l="l" t="t" r="r" b="b"/>
            <a:pathLst>
              <a:path w="1143000" h="1979735">
                <a:moveTo>
                  <a:pt x="0" y="1979735"/>
                </a:moveTo>
                <a:lnTo>
                  <a:pt x="1143000" y="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997189" y="3931919"/>
            <a:ext cx="1979734" cy="1143001"/>
          </a:xfrm>
          <a:custGeom>
            <a:avLst/>
            <a:gdLst/>
            <a:ahLst/>
            <a:cxnLst/>
            <a:rect l="l" t="t" r="r" b="b"/>
            <a:pathLst>
              <a:path w="1979734" h="1143001">
                <a:moveTo>
                  <a:pt x="0" y="1143001"/>
                </a:moveTo>
                <a:lnTo>
                  <a:pt x="1979734" y="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9425689" y="4503420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1143000" y="571500"/>
                </a:moveTo>
                <a:lnTo>
                  <a:pt x="1066433" y="857250"/>
                </a:lnTo>
                <a:lnTo>
                  <a:pt x="857250" y="1066433"/>
                </a:lnTo>
                <a:lnTo>
                  <a:pt x="571500" y="1143000"/>
                </a:lnTo>
                <a:lnTo>
                  <a:pt x="285750" y="1066433"/>
                </a:lnTo>
                <a:lnTo>
                  <a:pt x="76566" y="857250"/>
                </a:lnTo>
                <a:lnTo>
                  <a:pt x="0" y="571500"/>
                </a:lnTo>
                <a:lnTo>
                  <a:pt x="76566" y="285750"/>
                </a:lnTo>
                <a:lnTo>
                  <a:pt x="285750" y="76566"/>
                </a:lnTo>
                <a:lnTo>
                  <a:pt x="571500" y="0"/>
                </a:lnTo>
                <a:lnTo>
                  <a:pt x="857250" y="76566"/>
                </a:lnTo>
                <a:lnTo>
                  <a:pt x="1066433" y="285750"/>
                </a:lnTo>
                <a:lnTo>
                  <a:pt x="1143000" y="571500"/>
                </a:lnTo>
                <a:close/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8854189" y="3931920"/>
            <a:ext cx="2286000" cy="2286000"/>
          </a:xfrm>
          <a:custGeom>
            <a:avLst/>
            <a:gdLst/>
            <a:ahLst/>
            <a:cxnLst/>
            <a:rect l="l" t="t" r="r" b="b"/>
            <a:pathLst>
              <a:path w="2286000" h="2286000">
                <a:moveTo>
                  <a:pt x="2286000" y="1143000"/>
                </a:moveTo>
                <a:lnTo>
                  <a:pt x="2132867" y="1714500"/>
                </a:lnTo>
                <a:lnTo>
                  <a:pt x="1714500" y="2132867"/>
                </a:lnTo>
                <a:lnTo>
                  <a:pt x="1143000" y="2286000"/>
                </a:lnTo>
                <a:lnTo>
                  <a:pt x="571500" y="2132867"/>
                </a:lnTo>
                <a:lnTo>
                  <a:pt x="153132" y="1714500"/>
                </a:lnTo>
                <a:lnTo>
                  <a:pt x="0" y="1143000"/>
                </a:lnTo>
                <a:lnTo>
                  <a:pt x="153132" y="571500"/>
                </a:lnTo>
                <a:lnTo>
                  <a:pt x="571500" y="153132"/>
                </a:lnTo>
                <a:lnTo>
                  <a:pt x="1143000" y="0"/>
                </a:lnTo>
                <a:lnTo>
                  <a:pt x="1714500" y="153132"/>
                </a:lnTo>
                <a:lnTo>
                  <a:pt x="2132867" y="571500"/>
                </a:lnTo>
                <a:lnTo>
                  <a:pt x="2286000" y="1143000"/>
                </a:lnTo>
                <a:close/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8282689" y="336042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3429000" h="3429000">
                <a:moveTo>
                  <a:pt x="3429000" y="1714500"/>
                </a:moveTo>
                <a:lnTo>
                  <a:pt x="3199300" y="2571750"/>
                </a:lnTo>
                <a:lnTo>
                  <a:pt x="2571750" y="3199300"/>
                </a:lnTo>
                <a:lnTo>
                  <a:pt x="1714500" y="3429000"/>
                </a:lnTo>
                <a:lnTo>
                  <a:pt x="857250" y="3199300"/>
                </a:lnTo>
                <a:lnTo>
                  <a:pt x="229699" y="2571750"/>
                </a:lnTo>
                <a:lnTo>
                  <a:pt x="0" y="1714500"/>
                </a:lnTo>
                <a:lnTo>
                  <a:pt x="229699" y="857250"/>
                </a:lnTo>
                <a:lnTo>
                  <a:pt x="857250" y="229699"/>
                </a:lnTo>
                <a:lnTo>
                  <a:pt x="1714500" y="0"/>
                </a:lnTo>
                <a:lnTo>
                  <a:pt x="2571750" y="229699"/>
                </a:lnTo>
                <a:lnTo>
                  <a:pt x="3199300" y="857249"/>
                </a:lnTo>
                <a:lnTo>
                  <a:pt x="3429000" y="1714500"/>
                </a:lnTo>
                <a:close/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7711189" y="2788920"/>
            <a:ext cx="4572000" cy="4572000"/>
          </a:xfrm>
          <a:custGeom>
            <a:avLst/>
            <a:gdLst/>
            <a:ahLst/>
            <a:cxnLst/>
            <a:rect l="l" t="t" r="r" b="b"/>
            <a:pathLst>
              <a:path w="4572000" h="4572000">
                <a:moveTo>
                  <a:pt x="4572000" y="2286000"/>
                </a:moveTo>
                <a:lnTo>
                  <a:pt x="4265734" y="3429000"/>
                </a:lnTo>
                <a:lnTo>
                  <a:pt x="3429000" y="4265734"/>
                </a:lnTo>
                <a:lnTo>
                  <a:pt x="2286000" y="4572000"/>
                </a:lnTo>
                <a:lnTo>
                  <a:pt x="1143000" y="4265734"/>
                </a:lnTo>
                <a:lnTo>
                  <a:pt x="306265" y="3429000"/>
                </a:lnTo>
                <a:lnTo>
                  <a:pt x="0" y="2286000"/>
                </a:lnTo>
                <a:lnTo>
                  <a:pt x="306265" y="1143000"/>
                </a:lnTo>
                <a:lnTo>
                  <a:pt x="1143000" y="306265"/>
                </a:lnTo>
                <a:lnTo>
                  <a:pt x="2286000" y="0"/>
                </a:lnTo>
                <a:lnTo>
                  <a:pt x="3429000" y="306265"/>
                </a:lnTo>
                <a:lnTo>
                  <a:pt x="4265734" y="1142999"/>
                </a:lnTo>
                <a:lnTo>
                  <a:pt x="4572000" y="2285999"/>
                </a:lnTo>
                <a:close/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9574746" y="4693662"/>
            <a:ext cx="422443" cy="381258"/>
          </a:xfrm>
          <a:custGeom>
            <a:avLst/>
            <a:gdLst/>
            <a:ahLst/>
            <a:cxnLst/>
            <a:rect l="l" t="t" r="r" b="b"/>
            <a:pathLst>
              <a:path w="422443" h="381258">
                <a:moveTo>
                  <a:pt x="422443" y="381258"/>
                </a:moveTo>
                <a:lnTo>
                  <a:pt x="168977" y="0"/>
                </a:lnTo>
                <a:lnTo>
                  <a:pt x="0" y="111768"/>
                </a:lnTo>
              </a:path>
            </a:pathLst>
          </a:custGeom>
          <a:noFill/>
          <a:ln w="19050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380298" y="4848737"/>
            <a:ext cx="616891" cy="226183"/>
          </a:xfrm>
          <a:custGeom>
            <a:avLst/>
            <a:gdLst/>
            <a:ahLst/>
            <a:cxnLst/>
            <a:rect l="l" t="t" r="r" b="b"/>
            <a:pathLst>
              <a:path w="616891" h="226183">
                <a:moveTo>
                  <a:pt x="616891" y="226183"/>
                </a:moveTo>
                <a:lnTo>
                  <a:pt x="246756" y="0"/>
                </a:lnTo>
                <a:lnTo>
                  <a:pt x="0" y="204813"/>
                </a:lnTo>
              </a:path>
            </a:pathLst>
          </a:custGeom>
          <a:noFill/>
          <a:ln w="19050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9387619" y="5031733"/>
            <a:ext cx="609570" cy="314610"/>
          </a:xfrm>
          <a:custGeom>
            <a:avLst/>
            <a:gdLst/>
            <a:ahLst/>
            <a:cxnLst/>
            <a:rect l="l" t="t" r="r" b="b"/>
            <a:pathLst>
              <a:path w="609570" h="314610">
                <a:moveTo>
                  <a:pt x="609570" y="43187"/>
                </a:moveTo>
                <a:lnTo>
                  <a:pt x="243828" y="0"/>
                </a:lnTo>
                <a:lnTo>
                  <a:pt x="0" y="314610"/>
                </a:lnTo>
              </a:path>
            </a:pathLst>
          </a:custGeom>
          <a:noFill/>
          <a:ln w="19050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9594314" y="5074920"/>
            <a:ext cx="402875" cy="513124"/>
          </a:xfrm>
          <a:custGeom>
            <a:avLst/>
            <a:gdLst/>
            <a:ahLst/>
            <a:cxnLst/>
            <a:rect l="l" t="t" r="r" b="b"/>
            <a:pathLst>
              <a:path w="402875" h="513124">
                <a:moveTo>
                  <a:pt x="402875" y="0"/>
                </a:moveTo>
                <a:lnTo>
                  <a:pt x="161150" y="107876"/>
                </a:lnTo>
                <a:lnTo>
                  <a:pt x="0" y="513124"/>
                </a:lnTo>
              </a:path>
            </a:pathLst>
          </a:custGeom>
          <a:noFill/>
          <a:ln w="19050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9997189" y="4693662"/>
            <a:ext cx="422442" cy="381258"/>
          </a:xfrm>
          <a:custGeom>
            <a:avLst/>
            <a:gdLst/>
            <a:ahLst/>
            <a:cxnLst/>
            <a:rect l="l" t="t" r="r" b="b"/>
            <a:pathLst>
              <a:path w="422442" h="381258">
                <a:moveTo>
                  <a:pt x="0" y="381258"/>
                </a:moveTo>
                <a:lnTo>
                  <a:pt x="253465" y="0"/>
                </a:lnTo>
                <a:lnTo>
                  <a:pt x="422442" y="111768"/>
                </a:lnTo>
              </a:path>
            </a:pathLst>
          </a:custGeom>
          <a:noFill/>
          <a:ln w="19050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9997189" y="4848737"/>
            <a:ext cx="616890" cy="226183"/>
          </a:xfrm>
          <a:custGeom>
            <a:avLst/>
            <a:gdLst/>
            <a:ahLst/>
            <a:cxnLst/>
            <a:rect l="l" t="t" r="r" b="b"/>
            <a:pathLst>
              <a:path w="616890" h="226183">
                <a:moveTo>
                  <a:pt x="0" y="226183"/>
                </a:moveTo>
                <a:lnTo>
                  <a:pt x="370134" y="0"/>
                </a:lnTo>
                <a:lnTo>
                  <a:pt x="616890" y="204813"/>
                </a:lnTo>
              </a:path>
            </a:pathLst>
          </a:custGeom>
          <a:noFill/>
          <a:ln w="19050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9997189" y="5031733"/>
            <a:ext cx="609569" cy="314610"/>
          </a:xfrm>
          <a:custGeom>
            <a:avLst/>
            <a:gdLst/>
            <a:ahLst/>
            <a:cxnLst/>
            <a:rect l="l" t="t" r="r" b="b"/>
            <a:pathLst>
              <a:path w="609569" h="314610">
                <a:moveTo>
                  <a:pt x="0" y="43187"/>
                </a:moveTo>
                <a:lnTo>
                  <a:pt x="365741" y="0"/>
                </a:lnTo>
                <a:lnTo>
                  <a:pt x="609569" y="314610"/>
                </a:lnTo>
              </a:path>
            </a:pathLst>
          </a:custGeom>
          <a:noFill/>
          <a:ln w="19050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97189" y="5074920"/>
            <a:ext cx="402874" cy="513124"/>
          </a:xfrm>
          <a:custGeom>
            <a:avLst/>
            <a:gdLst/>
            <a:ahLst/>
            <a:cxnLst/>
            <a:rect l="l" t="t" r="r" b="b"/>
            <a:pathLst>
              <a:path w="402874" h="513124">
                <a:moveTo>
                  <a:pt x="0" y="0"/>
                </a:moveTo>
                <a:lnTo>
                  <a:pt x="241724" y="107876"/>
                </a:lnTo>
                <a:lnTo>
                  <a:pt x="402874" y="513124"/>
                </a:lnTo>
              </a:path>
            </a:pathLst>
          </a:custGeom>
          <a:noFill/>
          <a:ln w="19050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779561" y="4959705"/>
            <a:ext cx="435254" cy="435254"/>
          </a:xfrm>
          <a:prstGeom prst="ellipse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864052" y="4749759"/>
            <a:ext cx="266273" cy="266273"/>
          </a:xfrm>
          <a:prstGeom prst="ellipse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2194560"/>
            <a:ext cx="87782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400" b="1">
                <a:solidFill>
                  <a:srgbClr val="F0EFE9"/>
                </a:solidFill>
                <a:latin typeface="Segoe UI"/>
              </a:rPr>
              <a:t>So how do you run a model
that does not fit?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17781" y="409941"/>
            <a:ext cx="113155" cy="102123"/>
          </a:xfrm>
          <a:custGeom>
            <a:avLst/>
            <a:gdLst/>
            <a:ahLst/>
            <a:cxnLst/>
            <a:rect l="l" t="t" r="r" b="b"/>
            <a:pathLst>
              <a:path w="113155" h="102123">
                <a:moveTo>
                  <a:pt x="113155" y="102123"/>
                </a:moveTo>
                <a:lnTo>
                  <a:pt x="45262" y="0"/>
                </a:lnTo>
                <a:lnTo>
                  <a:pt x="0" y="29938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65697" y="451479"/>
            <a:ext cx="165239" cy="60585"/>
          </a:xfrm>
          <a:custGeom>
            <a:avLst/>
            <a:gdLst/>
            <a:ahLst/>
            <a:cxnLst/>
            <a:rect l="l" t="t" r="r" b="b"/>
            <a:pathLst>
              <a:path w="165239" h="60585">
                <a:moveTo>
                  <a:pt x="165239" y="60585"/>
                </a:moveTo>
                <a:lnTo>
                  <a:pt x="66095" y="0"/>
                </a:lnTo>
                <a:lnTo>
                  <a:pt x="0" y="54861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67658" y="500496"/>
            <a:ext cx="163278" cy="84270"/>
          </a:xfrm>
          <a:custGeom>
            <a:avLst/>
            <a:gdLst/>
            <a:ahLst/>
            <a:cxnLst/>
            <a:rect l="l" t="t" r="r" b="b"/>
            <a:pathLst>
              <a:path w="163278" h="84270">
                <a:moveTo>
                  <a:pt x="163278" y="11568"/>
                </a:moveTo>
                <a:lnTo>
                  <a:pt x="65311" y="0"/>
                </a:lnTo>
                <a:lnTo>
                  <a:pt x="0" y="84270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23023" y="512064"/>
            <a:ext cx="107913" cy="137444"/>
          </a:xfrm>
          <a:custGeom>
            <a:avLst/>
            <a:gdLst/>
            <a:ahLst/>
            <a:cxnLst/>
            <a:rect l="l" t="t" r="r" b="b"/>
            <a:pathLst>
              <a:path w="107913" h="137444">
                <a:moveTo>
                  <a:pt x="107913" y="0"/>
                </a:moveTo>
                <a:lnTo>
                  <a:pt x="43165" y="28895"/>
                </a:lnTo>
                <a:lnTo>
                  <a:pt x="0" y="137444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30936" y="409941"/>
            <a:ext cx="113154" cy="102123"/>
          </a:xfrm>
          <a:custGeom>
            <a:avLst/>
            <a:gdLst/>
            <a:ahLst/>
            <a:cxnLst/>
            <a:rect l="l" t="t" r="r" b="b"/>
            <a:pathLst>
              <a:path w="113154" h="102123">
                <a:moveTo>
                  <a:pt x="0" y="102123"/>
                </a:moveTo>
                <a:lnTo>
                  <a:pt x="67892" y="0"/>
                </a:lnTo>
                <a:lnTo>
                  <a:pt x="113154" y="29938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630936" y="451479"/>
            <a:ext cx="165238" cy="60585"/>
          </a:xfrm>
          <a:custGeom>
            <a:avLst/>
            <a:gdLst/>
            <a:ahLst/>
            <a:cxnLst/>
            <a:rect l="l" t="t" r="r" b="b"/>
            <a:pathLst>
              <a:path w="165238" h="60585">
                <a:moveTo>
                  <a:pt x="0" y="60585"/>
                </a:moveTo>
                <a:lnTo>
                  <a:pt x="99143" y="0"/>
                </a:lnTo>
                <a:lnTo>
                  <a:pt x="165238" y="54861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630936" y="500496"/>
            <a:ext cx="163277" cy="84270"/>
          </a:xfrm>
          <a:custGeom>
            <a:avLst/>
            <a:gdLst/>
            <a:ahLst/>
            <a:cxnLst/>
            <a:rect l="l" t="t" r="r" b="b"/>
            <a:pathLst>
              <a:path w="163277" h="84270">
                <a:moveTo>
                  <a:pt x="0" y="11568"/>
                </a:moveTo>
                <a:lnTo>
                  <a:pt x="97966" y="0"/>
                </a:lnTo>
                <a:lnTo>
                  <a:pt x="163277" y="84270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630936" y="512064"/>
            <a:ext cx="107912" cy="137444"/>
          </a:xfrm>
          <a:custGeom>
            <a:avLst/>
            <a:gdLst/>
            <a:ahLst/>
            <a:cxnLst/>
            <a:rect l="l" t="t" r="r" b="b"/>
            <a:pathLst>
              <a:path w="107912" h="137444">
                <a:moveTo>
                  <a:pt x="0" y="0"/>
                </a:moveTo>
                <a:lnTo>
                  <a:pt x="64747" y="28895"/>
                </a:lnTo>
                <a:lnTo>
                  <a:pt x="107912" y="137444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2643" y="481203"/>
            <a:ext cx="116586" cy="116586"/>
          </a:xfrm>
          <a:prstGeom prst="ellipse">
            <a:avLst/>
          </a:prstGeom>
          <a:solidFill>
            <a:srgbClr val="969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5274" y="424967"/>
            <a:ext cx="71323" cy="71323"/>
          </a:xfrm>
          <a:prstGeom prst="ellipse">
            <a:avLst/>
          </a:prstGeom>
          <a:solidFill>
            <a:srgbClr val="969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42062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02 · WHAT WE BUILT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F0EFE9"/>
                </a:solidFill>
                <a:latin typeface="Segoe UI"/>
              </a:rPr>
              <a:t>Phones and a laptop, as one machine.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389888"/>
            <a:ext cx="8778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2C6BC"/>
                </a:solidFill>
                <a:latin typeface="Segoe UI"/>
              </a:rPr>
              <a:t>One device plans and answers. The others hold part of the model. Your tools do not change.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103120"/>
            <a:ext cx="11057839" cy="9525"/>
          </a:xfrm>
          <a:prstGeom prst="rect">
            <a:avLst/>
          </a:prstGeom>
          <a:solidFill>
            <a:srgbClr val="2A2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560320"/>
            <a:ext cx="118872" cy="19050"/>
          </a:xfrm>
          <a:prstGeom prst="rect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2468880"/>
            <a:ext cx="6345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F0EFE9"/>
                </a:solidFill>
                <a:latin typeface="Segoe UI"/>
              </a:rPr>
              <a:t>Phones and laptops in one cluster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979637"/>
            <a:ext cx="118872" cy="19050"/>
          </a:xfrm>
          <a:prstGeom prst="rect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888197"/>
            <a:ext cx="6345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F0EFE9"/>
                </a:solidFill>
                <a:latin typeface="Segoe UI"/>
              </a:rPr>
              <a:t>One device decides who holds what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398954"/>
            <a:ext cx="118872" cy="19050"/>
          </a:xfrm>
          <a:prstGeom prst="rect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307514"/>
            <a:ext cx="6345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F0EFE9"/>
                </a:solidFill>
                <a:latin typeface="Segoe UI"/>
              </a:rPr>
              <a:t>Only about 4 KB crosses the cable per word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818271"/>
            <a:ext cx="118872" cy="19050"/>
          </a:xfrm>
          <a:prstGeom prst="rect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726831"/>
            <a:ext cx="6345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F0EFE9"/>
                </a:solidFill>
                <a:latin typeface="Segoe UI"/>
              </a:rPr>
              <a:t>It says no when a device would slow you down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16368" y="2468880"/>
            <a:ext cx="4108399" cy="2926080"/>
          </a:xfrm>
          <a:prstGeom prst="roundRect">
            <a:avLst>
              <a:gd name="adj" fmla="val 4000"/>
            </a:avLst>
          </a:prstGeom>
          <a:solidFill>
            <a:srgbClr val="142E20"/>
          </a:solidFill>
          <a:ln w="9525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08976" y="27432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D68A"/>
                </a:solidFill>
                <a:latin typeface="Consolas"/>
              </a:rPr>
              <a:t>THE PHONE IS NOT AN ACCESSORY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08976" y="3090672"/>
            <a:ext cx="352318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0">
                <a:solidFill>
                  <a:srgbClr val="F0EFE9"/>
                </a:solidFill>
                <a:latin typeface="Segoe UI"/>
              </a:rPr>
              <a:t>A phone can be the host: it plans the split, runs the model and answers.
Every other system treats a phone as a client that asks a server.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29107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MeshAI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72607" y="6291072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one app · host role or helper role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17781" y="409941"/>
            <a:ext cx="113155" cy="102123"/>
          </a:xfrm>
          <a:custGeom>
            <a:avLst/>
            <a:gdLst/>
            <a:ahLst/>
            <a:cxnLst/>
            <a:rect l="l" t="t" r="r" b="b"/>
            <a:pathLst>
              <a:path w="113155" h="102123">
                <a:moveTo>
                  <a:pt x="113155" y="102123"/>
                </a:moveTo>
                <a:lnTo>
                  <a:pt x="45262" y="0"/>
                </a:lnTo>
                <a:lnTo>
                  <a:pt x="0" y="29938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65697" y="451479"/>
            <a:ext cx="165239" cy="60585"/>
          </a:xfrm>
          <a:custGeom>
            <a:avLst/>
            <a:gdLst/>
            <a:ahLst/>
            <a:cxnLst/>
            <a:rect l="l" t="t" r="r" b="b"/>
            <a:pathLst>
              <a:path w="165239" h="60585">
                <a:moveTo>
                  <a:pt x="165239" y="60585"/>
                </a:moveTo>
                <a:lnTo>
                  <a:pt x="66095" y="0"/>
                </a:lnTo>
                <a:lnTo>
                  <a:pt x="0" y="54861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67658" y="500496"/>
            <a:ext cx="163278" cy="84270"/>
          </a:xfrm>
          <a:custGeom>
            <a:avLst/>
            <a:gdLst/>
            <a:ahLst/>
            <a:cxnLst/>
            <a:rect l="l" t="t" r="r" b="b"/>
            <a:pathLst>
              <a:path w="163278" h="84270">
                <a:moveTo>
                  <a:pt x="163278" y="11568"/>
                </a:moveTo>
                <a:lnTo>
                  <a:pt x="65311" y="0"/>
                </a:lnTo>
                <a:lnTo>
                  <a:pt x="0" y="84270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23023" y="512064"/>
            <a:ext cx="107913" cy="137444"/>
          </a:xfrm>
          <a:custGeom>
            <a:avLst/>
            <a:gdLst/>
            <a:ahLst/>
            <a:cxnLst/>
            <a:rect l="l" t="t" r="r" b="b"/>
            <a:pathLst>
              <a:path w="107913" h="137444">
                <a:moveTo>
                  <a:pt x="107913" y="0"/>
                </a:moveTo>
                <a:lnTo>
                  <a:pt x="43165" y="28895"/>
                </a:lnTo>
                <a:lnTo>
                  <a:pt x="0" y="137444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30936" y="409941"/>
            <a:ext cx="113154" cy="102123"/>
          </a:xfrm>
          <a:custGeom>
            <a:avLst/>
            <a:gdLst/>
            <a:ahLst/>
            <a:cxnLst/>
            <a:rect l="l" t="t" r="r" b="b"/>
            <a:pathLst>
              <a:path w="113154" h="102123">
                <a:moveTo>
                  <a:pt x="0" y="102123"/>
                </a:moveTo>
                <a:lnTo>
                  <a:pt x="67892" y="0"/>
                </a:lnTo>
                <a:lnTo>
                  <a:pt x="113154" y="29938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630936" y="451479"/>
            <a:ext cx="165238" cy="60585"/>
          </a:xfrm>
          <a:custGeom>
            <a:avLst/>
            <a:gdLst/>
            <a:ahLst/>
            <a:cxnLst/>
            <a:rect l="l" t="t" r="r" b="b"/>
            <a:pathLst>
              <a:path w="165238" h="60585">
                <a:moveTo>
                  <a:pt x="0" y="60585"/>
                </a:moveTo>
                <a:lnTo>
                  <a:pt x="99143" y="0"/>
                </a:lnTo>
                <a:lnTo>
                  <a:pt x="165238" y="54861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630936" y="500496"/>
            <a:ext cx="163277" cy="84270"/>
          </a:xfrm>
          <a:custGeom>
            <a:avLst/>
            <a:gdLst/>
            <a:ahLst/>
            <a:cxnLst/>
            <a:rect l="l" t="t" r="r" b="b"/>
            <a:pathLst>
              <a:path w="163277" h="84270">
                <a:moveTo>
                  <a:pt x="0" y="11568"/>
                </a:moveTo>
                <a:lnTo>
                  <a:pt x="97966" y="0"/>
                </a:lnTo>
                <a:lnTo>
                  <a:pt x="163277" y="84270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630936" y="512064"/>
            <a:ext cx="107912" cy="137444"/>
          </a:xfrm>
          <a:custGeom>
            <a:avLst/>
            <a:gdLst/>
            <a:ahLst/>
            <a:cxnLst/>
            <a:rect l="l" t="t" r="r" b="b"/>
            <a:pathLst>
              <a:path w="107912" h="137444">
                <a:moveTo>
                  <a:pt x="0" y="0"/>
                </a:moveTo>
                <a:lnTo>
                  <a:pt x="64747" y="28895"/>
                </a:lnTo>
                <a:lnTo>
                  <a:pt x="107912" y="137444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2643" y="481203"/>
            <a:ext cx="116586" cy="116586"/>
          </a:xfrm>
          <a:prstGeom prst="ellipse">
            <a:avLst/>
          </a:prstGeom>
          <a:solidFill>
            <a:srgbClr val="969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5274" y="424967"/>
            <a:ext cx="71323" cy="71323"/>
          </a:xfrm>
          <a:prstGeom prst="ellipse">
            <a:avLst/>
          </a:prstGeom>
          <a:solidFill>
            <a:srgbClr val="969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42062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03 · HOW IT 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F0EFE9"/>
                </a:solidFill>
                <a:latin typeface="Segoe UI"/>
              </a:rPr>
              <a:t>Layers split across the devices.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1389888"/>
            <a:ext cx="11057839" cy="9525"/>
          </a:xfrm>
          <a:prstGeom prst="rect">
            <a:avLst/>
          </a:prstGeom>
          <a:solidFill>
            <a:srgbClr val="2A2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1801368"/>
            <a:ext cx="4114800" cy="2651760"/>
          </a:xfrm>
          <a:prstGeom prst="roundRect">
            <a:avLst>
              <a:gd name="adj" fmla="val 4000"/>
            </a:avLst>
          </a:prstGeom>
          <a:solidFill>
            <a:srgbClr val="141612"/>
          </a:solidFill>
          <a:ln w="9525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199339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D68A"/>
                </a:solidFill>
                <a:latin typeface="Consolas"/>
              </a:rPr>
              <a:t>THIS LAPTOP · THE HOST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23225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2C6BC"/>
                </a:solidFill>
                <a:latin typeface="Segoe UI"/>
              </a:rPr>
              <a:t>Embeddings and output head stay here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" y="2578608"/>
            <a:ext cx="3639312" cy="182880"/>
          </a:xfrm>
          <a:prstGeom prst="roundRect">
            <a:avLst>
              <a:gd name="adj" fmla="val 18000"/>
            </a:avLst>
          </a:prstGeom>
          <a:solidFill>
            <a:srgbClr val="2C5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8986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2C6BC"/>
                </a:solidFill>
                <a:latin typeface="Segoe UI"/>
              </a:rPr>
              <a:t>Layers 0–19 · 8.3 GB in use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" y="3154680"/>
            <a:ext cx="128016" cy="384048"/>
          </a:xfrm>
          <a:prstGeom prst="roundRect">
            <a:avLst>
              <a:gd name="adj" fmla="val 18000"/>
            </a:avLst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1948" y="3154680"/>
            <a:ext cx="128016" cy="384048"/>
          </a:xfrm>
          <a:prstGeom prst="roundRect">
            <a:avLst>
              <a:gd name="adj" fmla="val 18000"/>
            </a:avLst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19224" y="3154680"/>
            <a:ext cx="128016" cy="384048"/>
          </a:xfrm>
          <a:prstGeom prst="roundRect">
            <a:avLst>
              <a:gd name="adj" fmla="val 18000"/>
            </a:avLst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276500" y="3154680"/>
            <a:ext cx="128016" cy="384048"/>
          </a:xfrm>
          <a:prstGeom prst="roundRect">
            <a:avLst>
              <a:gd name="adj" fmla="val 18000"/>
            </a:avLst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433776" y="3154680"/>
            <a:ext cx="128016" cy="384048"/>
          </a:xfrm>
          <a:prstGeom prst="roundRect">
            <a:avLst>
              <a:gd name="adj" fmla="val 18000"/>
            </a:avLst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591052" y="3154680"/>
            <a:ext cx="128016" cy="384048"/>
          </a:xfrm>
          <a:prstGeom prst="roundRect">
            <a:avLst>
              <a:gd name="adj" fmla="val 18000"/>
            </a:avLst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748328" y="3154680"/>
            <a:ext cx="128016" cy="384048"/>
          </a:xfrm>
          <a:prstGeom prst="roundRect">
            <a:avLst>
              <a:gd name="adj" fmla="val 18000"/>
            </a:avLst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905604" y="3154680"/>
            <a:ext cx="128016" cy="384048"/>
          </a:xfrm>
          <a:prstGeom prst="roundRect">
            <a:avLst>
              <a:gd name="adj" fmla="val 18000"/>
            </a:avLst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062880" y="3154680"/>
            <a:ext cx="128016" cy="384048"/>
          </a:xfrm>
          <a:prstGeom prst="roundRect">
            <a:avLst>
              <a:gd name="adj" fmla="val 18000"/>
            </a:avLst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220156" y="3154680"/>
            <a:ext cx="128016" cy="384048"/>
          </a:xfrm>
          <a:prstGeom prst="roundRect">
            <a:avLst>
              <a:gd name="adj" fmla="val 18000"/>
            </a:avLst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377432" y="3154680"/>
            <a:ext cx="128016" cy="384048"/>
          </a:xfrm>
          <a:prstGeom prst="roundRect">
            <a:avLst>
              <a:gd name="adj" fmla="val 18000"/>
            </a:avLst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534708" y="3154680"/>
            <a:ext cx="128016" cy="384048"/>
          </a:xfrm>
          <a:prstGeom prst="roundRect">
            <a:avLst>
              <a:gd name="adj" fmla="val 18000"/>
            </a:avLst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691984" y="3154680"/>
            <a:ext cx="128016" cy="384048"/>
          </a:xfrm>
          <a:prstGeom prst="roundRect">
            <a:avLst>
              <a:gd name="adj" fmla="val 18000"/>
            </a:avLst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849260" y="3154680"/>
            <a:ext cx="128016" cy="384048"/>
          </a:xfrm>
          <a:prstGeom prst="roundRect">
            <a:avLst>
              <a:gd name="adj" fmla="val 18000"/>
            </a:avLst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006536" y="3154680"/>
            <a:ext cx="128016" cy="384048"/>
          </a:xfrm>
          <a:prstGeom prst="roundRect">
            <a:avLst>
              <a:gd name="adj" fmla="val 18000"/>
            </a:avLst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163812" y="3154680"/>
            <a:ext cx="128016" cy="384048"/>
          </a:xfrm>
          <a:prstGeom prst="roundRect">
            <a:avLst>
              <a:gd name="adj" fmla="val 18000"/>
            </a:avLst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321088" y="3154680"/>
            <a:ext cx="128016" cy="384048"/>
          </a:xfrm>
          <a:prstGeom prst="roundRect">
            <a:avLst>
              <a:gd name="adj" fmla="val 18000"/>
            </a:avLst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478364" y="3154680"/>
            <a:ext cx="128016" cy="384048"/>
          </a:xfrm>
          <a:prstGeom prst="roundRect">
            <a:avLst>
              <a:gd name="adj" fmla="val 18000"/>
            </a:avLst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635640" y="3154680"/>
            <a:ext cx="128016" cy="384048"/>
          </a:xfrm>
          <a:prstGeom prst="roundRect">
            <a:avLst>
              <a:gd name="adj" fmla="val 18000"/>
            </a:avLst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792916" y="3154680"/>
            <a:ext cx="128016" cy="384048"/>
          </a:xfrm>
          <a:prstGeom prst="roundRect">
            <a:avLst>
              <a:gd name="adj" fmla="val 18000"/>
            </a:avLst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" y="3721608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969C90"/>
                </a:solidFill>
                <a:latin typeface="Segoe UI"/>
              </a:rPr>
              <a:t>Plans the split · serves one endpoint · reads the model file once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93208" y="1801368"/>
            <a:ext cx="1737360" cy="2651760"/>
          </a:xfrm>
          <a:prstGeom prst="roundRect">
            <a:avLst>
              <a:gd name="adj" fmla="val 4000"/>
            </a:avLst>
          </a:prstGeom>
          <a:solidFill>
            <a:srgbClr val="141612"/>
          </a:solidFill>
          <a:ln w="9525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76088" y="199339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78BFA"/>
                </a:solidFill>
                <a:latin typeface="Consolas"/>
              </a:rPr>
              <a:t>A PHONE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76088" y="232257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2C6BC"/>
                </a:solidFill>
                <a:latin typeface="Segoe UI"/>
              </a:rPr>
              <a:t>Layers 20–33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76088" y="25603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5.7 GB in use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276088" y="2852928"/>
            <a:ext cx="1371600" cy="53035"/>
          </a:xfrm>
          <a:prstGeom prst="roundRect">
            <a:avLst>
              <a:gd name="adj" fmla="val 18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276088" y="2909620"/>
            <a:ext cx="1371600" cy="53035"/>
          </a:xfrm>
          <a:prstGeom prst="roundRect">
            <a:avLst>
              <a:gd name="adj" fmla="val 18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276088" y="2966312"/>
            <a:ext cx="1371600" cy="53035"/>
          </a:xfrm>
          <a:prstGeom prst="roundRect">
            <a:avLst>
              <a:gd name="adj" fmla="val 18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276088" y="3023004"/>
            <a:ext cx="1371600" cy="53035"/>
          </a:xfrm>
          <a:prstGeom prst="roundRect">
            <a:avLst>
              <a:gd name="adj" fmla="val 18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276088" y="3079696"/>
            <a:ext cx="1371600" cy="53035"/>
          </a:xfrm>
          <a:prstGeom prst="roundRect">
            <a:avLst>
              <a:gd name="adj" fmla="val 18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276088" y="3136388"/>
            <a:ext cx="1371600" cy="53035"/>
          </a:xfrm>
          <a:prstGeom prst="roundRect">
            <a:avLst>
              <a:gd name="adj" fmla="val 18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276088" y="3193080"/>
            <a:ext cx="1371600" cy="53035"/>
          </a:xfrm>
          <a:prstGeom prst="roundRect">
            <a:avLst>
              <a:gd name="adj" fmla="val 18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276088" y="3249772"/>
            <a:ext cx="1371600" cy="53035"/>
          </a:xfrm>
          <a:prstGeom prst="roundRect">
            <a:avLst>
              <a:gd name="adj" fmla="val 18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276088" y="3306464"/>
            <a:ext cx="1371600" cy="53035"/>
          </a:xfrm>
          <a:prstGeom prst="roundRect">
            <a:avLst>
              <a:gd name="adj" fmla="val 18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276088" y="3363156"/>
            <a:ext cx="1371600" cy="53035"/>
          </a:xfrm>
          <a:prstGeom prst="roundRect">
            <a:avLst>
              <a:gd name="adj" fmla="val 18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276088" y="3419848"/>
            <a:ext cx="1371600" cy="53035"/>
          </a:xfrm>
          <a:prstGeom prst="roundRect">
            <a:avLst>
              <a:gd name="adj" fmla="val 18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276088" y="3476540"/>
            <a:ext cx="1371600" cy="53035"/>
          </a:xfrm>
          <a:prstGeom prst="roundRect">
            <a:avLst>
              <a:gd name="adj" fmla="val 18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276088" y="3533232"/>
            <a:ext cx="1371600" cy="53035"/>
          </a:xfrm>
          <a:prstGeom prst="roundRect">
            <a:avLst>
              <a:gd name="adj" fmla="val 18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5276088" y="3589924"/>
            <a:ext cx="1371600" cy="53035"/>
          </a:xfrm>
          <a:prstGeom prst="roundRect">
            <a:avLst>
              <a:gd name="adj" fmla="val 18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276088" y="405993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69C90"/>
                </a:solidFill>
                <a:latin typeface="Segoe UI"/>
              </a:rPr>
              <a:t>keeps its layers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196328" y="1801368"/>
            <a:ext cx="1737360" cy="2651760"/>
          </a:xfrm>
          <a:prstGeom prst="roundRect">
            <a:avLst>
              <a:gd name="adj" fmla="val 4000"/>
            </a:avLst>
          </a:prstGeom>
          <a:solidFill>
            <a:srgbClr val="141612"/>
          </a:solidFill>
          <a:ln w="9525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79208" y="199339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78BFA"/>
                </a:solidFill>
                <a:latin typeface="Consolas"/>
              </a:rPr>
              <a:t>A PHONE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79208" y="232257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2C6BC"/>
                </a:solidFill>
                <a:latin typeface="Segoe UI"/>
              </a:rPr>
              <a:t>Layers 34–47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79208" y="25603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5.1 GB in use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379208" y="2852928"/>
            <a:ext cx="1371600" cy="53035"/>
          </a:xfrm>
          <a:prstGeom prst="roundRect">
            <a:avLst>
              <a:gd name="adj" fmla="val 18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379208" y="2909620"/>
            <a:ext cx="1371600" cy="53035"/>
          </a:xfrm>
          <a:prstGeom prst="roundRect">
            <a:avLst>
              <a:gd name="adj" fmla="val 18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379208" y="2966312"/>
            <a:ext cx="1371600" cy="53035"/>
          </a:xfrm>
          <a:prstGeom prst="roundRect">
            <a:avLst>
              <a:gd name="adj" fmla="val 18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7379208" y="3023004"/>
            <a:ext cx="1371600" cy="53035"/>
          </a:xfrm>
          <a:prstGeom prst="roundRect">
            <a:avLst>
              <a:gd name="adj" fmla="val 18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7379208" y="3079696"/>
            <a:ext cx="1371600" cy="53035"/>
          </a:xfrm>
          <a:prstGeom prst="roundRect">
            <a:avLst>
              <a:gd name="adj" fmla="val 18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7379208" y="3136388"/>
            <a:ext cx="1371600" cy="53035"/>
          </a:xfrm>
          <a:prstGeom prst="roundRect">
            <a:avLst>
              <a:gd name="adj" fmla="val 18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7379208" y="3193080"/>
            <a:ext cx="1371600" cy="53035"/>
          </a:xfrm>
          <a:prstGeom prst="roundRect">
            <a:avLst>
              <a:gd name="adj" fmla="val 18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7379208" y="3249772"/>
            <a:ext cx="1371600" cy="53035"/>
          </a:xfrm>
          <a:prstGeom prst="roundRect">
            <a:avLst>
              <a:gd name="adj" fmla="val 18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7379208" y="3306464"/>
            <a:ext cx="1371600" cy="53035"/>
          </a:xfrm>
          <a:prstGeom prst="roundRect">
            <a:avLst>
              <a:gd name="adj" fmla="val 18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7379208" y="3363156"/>
            <a:ext cx="1371600" cy="53035"/>
          </a:xfrm>
          <a:prstGeom prst="roundRect">
            <a:avLst>
              <a:gd name="adj" fmla="val 18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7379208" y="3419848"/>
            <a:ext cx="1371600" cy="53035"/>
          </a:xfrm>
          <a:prstGeom prst="roundRect">
            <a:avLst>
              <a:gd name="adj" fmla="val 18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7379208" y="3476540"/>
            <a:ext cx="1371600" cy="53035"/>
          </a:xfrm>
          <a:prstGeom prst="roundRect">
            <a:avLst>
              <a:gd name="adj" fmla="val 18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7379208" y="3533232"/>
            <a:ext cx="1371600" cy="53035"/>
          </a:xfrm>
          <a:prstGeom prst="roundRect">
            <a:avLst>
              <a:gd name="adj" fmla="val 18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7379208" y="3589924"/>
            <a:ext cx="1371600" cy="53035"/>
          </a:xfrm>
          <a:prstGeom prst="roundRect">
            <a:avLst>
              <a:gd name="adj" fmla="val 18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379208" y="405993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69C90"/>
                </a:solidFill>
                <a:latin typeface="Segoe UI"/>
              </a:rPr>
              <a:t>ready in 70 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253728" y="1801368"/>
            <a:ext cx="2371039" cy="2651760"/>
          </a:xfrm>
          <a:prstGeom prst="roundRect">
            <a:avLst>
              <a:gd name="adj" fmla="val 4000"/>
            </a:avLst>
          </a:prstGeom>
          <a:solidFill>
            <a:srgbClr val="141612"/>
          </a:solidFill>
          <a:ln w="9525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509760" y="202996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F0EFE9"/>
                </a:solidFill>
                <a:latin typeface="Consolas"/>
              </a:rPr>
              <a:t>48 layers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509760" y="230428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69C90"/>
                </a:solidFill>
                <a:latin typeface="Segoe UI"/>
              </a:rPr>
              <a:t>one pass, in order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509760" y="260604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5FD68A"/>
                </a:solidFill>
                <a:latin typeface="Consolas"/>
              </a:rPr>
              <a:t>4 KB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509760" y="28803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69C90"/>
                </a:solidFill>
                <a:latin typeface="Segoe UI"/>
              </a:rPr>
              <a:t>crosses each cable, per word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509760" y="318211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F0EFE9"/>
                </a:solidFill>
                <a:latin typeface="Consolas"/>
              </a:rPr>
              <a:t>18.6 GB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509760" y="345643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69C90"/>
                </a:solidFill>
                <a:latin typeface="Segoe UI"/>
              </a:rPr>
              <a:t>of weights never move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509760" y="375818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F0EFE9"/>
                </a:solidFill>
                <a:latin typeface="Consolas"/>
              </a:rPr>
              <a:t>2–3 ms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509760" y="403250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69C90"/>
                </a:solidFill>
                <a:latin typeface="Segoe UI"/>
              </a:rPr>
              <a:t>over the USB cable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66928" y="4636008"/>
            <a:ext cx="3503066" cy="868680"/>
          </a:xfrm>
          <a:prstGeom prst="roundRect">
            <a:avLst>
              <a:gd name="adj" fmla="val 4000"/>
            </a:avLst>
          </a:prstGeom>
          <a:solidFill>
            <a:srgbClr val="141612"/>
          </a:solidFill>
          <a:ln w="9525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86384" y="4800600"/>
            <a:ext cx="306415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0EFE9"/>
                </a:solidFill>
                <a:latin typeface="Segoe UI"/>
              </a:rPr>
              <a:t>The host decides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86384" y="5093208"/>
            <a:ext cx="30641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969C90"/>
                </a:solidFill>
                <a:latin typeface="Segoe UI"/>
              </a:rPr>
              <a:t>from live memory, battery and link speed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344314" y="4636008"/>
            <a:ext cx="3503066" cy="868680"/>
          </a:xfrm>
          <a:prstGeom prst="roundRect">
            <a:avLst>
              <a:gd name="adj" fmla="val 4000"/>
            </a:avLst>
          </a:prstGeom>
          <a:solidFill>
            <a:srgbClr val="141612"/>
          </a:solidFill>
          <a:ln w="9525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563770" y="4800600"/>
            <a:ext cx="306415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0EFE9"/>
                </a:solidFill>
                <a:latin typeface="Segoe UI"/>
              </a:rPr>
              <a:t>The phone never sees your prompt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563770" y="5093208"/>
            <a:ext cx="30641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969C90"/>
                </a:solidFill>
                <a:latin typeface="Segoe UI"/>
              </a:rPr>
              <a:t>it gets numbers, computes, sends numbers back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8121700" y="4636008"/>
            <a:ext cx="3503066" cy="868680"/>
          </a:xfrm>
          <a:prstGeom prst="roundRect">
            <a:avLst>
              <a:gd name="adj" fmla="val 4000"/>
            </a:avLst>
          </a:prstGeom>
          <a:solidFill>
            <a:srgbClr val="141612"/>
          </a:solidFill>
          <a:ln w="9525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341156" y="4800600"/>
            <a:ext cx="306415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0EFE9"/>
                </a:solidFill>
                <a:latin typeface="Segoe UI"/>
              </a:rPr>
              <a:t>The head stays home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341156" y="5093208"/>
            <a:ext cx="30641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969C90"/>
                </a:solidFill>
                <a:latin typeface="Segoe UI"/>
              </a:rPr>
              <a:t>which is why only kilobytes cross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66928" y="629107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MeshAI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772607" y="6291072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the configuration we measured on 27 September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17781" y="409941"/>
            <a:ext cx="113155" cy="102123"/>
          </a:xfrm>
          <a:custGeom>
            <a:avLst/>
            <a:gdLst/>
            <a:ahLst/>
            <a:cxnLst/>
            <a:rect l="l" t="t" r="r" b="b"/>
            <a:pathLst>
              <a:path w="113155" h="102123">
                <a:moveTo>
                  <a:pt x="113155" y="102123"/>
                </a:moveTo>
                <a:lnTo>
                  <a:pt x="45262" y="0"/>
                </a:lnTo>
                <a:lnTo>
                  <a:pt x="0" y="29938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65697" y="451479"/>
            <a:ext cx="165239" cy="60585"/>
          </a:xfrm>
          <a:custGeom>
            <a:avLst/>
            <a:gdLst/>
            <a:ahLst/>
            <a:cxnLst/>
            <a:rect l="l" t="t" r="r" b="b"/>
            <a:pathLst>
              <a:path w="165239" h="60585">
                <a:moveTo>
                  <a:pt x="165239" y="60585"/>
                </a:moveTo>
                <a:lnTo>
                  <a:pt x="66095" y="0"/>
                </a:lnTo>
                <a:lnTo>
                  <a:pt x="0" y="54861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67658" y="500496"/>
            <a:ext cx="163278" cy="84270"/>
          </a:xfrm>
          <a:custGeom>
            <a:avLst/>
            <a:gdLst/>
            <a:ahLst/>
            <a:cxnLst/>
            <a:rect l="l" t="t" r="r" b="b"/>
            <a:pathLst>
              <a:path w="163278" h="84270">
                <a:moveTo>
                  <a:pt x="163278" y="11568"/>
                </a:moveTo>
                <a:lnTo>
                  <a:pt x="65311" y="0"/>
                </a:lnTo>
                <a:lnTo>
                  <a:pt x="0" y="84270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23023" y="512064"/>
            <a:ext cx="107913" cy="137444"/>
          </a:xfrm>
          <a:custGeom>
            <a:avLst/>
            <a:gdLst/>
            <a:ahLst/>
            <a:cxnLst/>
            <a:rect l="l" t="t" r="r" b="b"/>
            <a:pathLst>
              <a:path w="107913" h="137444">
                <a:moveTo>
                  <a:pt x="107913" y="0"/>
                </a:moveTo>
                <a:lnTo>
                  <a:pt x="43165" y="28895"/>
                </a:lnTo>
                <a:lnTo>
                  <a:pt x="0" y="137444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30936" y="409941"/>
            <a:ext cx="113154" cy="102123"/>
          </a:xfrm>
          <a:custGeom>
            <a:avLst/>
            <a:gdLst/>
            <a:ahLst/>
            <a:cxnLst/>
            <a:rect l="l" t="t" r="r" b="b"/>
            <a:pathLst>
              <a:path w="113154" h="102123">
                <a:moveTo>
                  <a:pt x="0" y="102123"/>
                </a:moveTo>
                <a:lnTo>
                  <a:pt x="67892" y="0"/>
                </a:lnTo>
                <a:lnTo>
                  <a:pt x="113154" y="29938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630936" y="451479"/>
            <a:ext cx="165238" cy="60585"/>
          </a:xfrm>
          <a:custGeom>
            <a:avLst/>
            <a:gdLst/>
            <a:ahLst/>
            <a:cxnLst/>
            <a:rect l="l" t="t" r="r" b="b"/>
            <a:pathLst>
              <a:path w="165238" h="60585">
                <a:moveTo>
                  <a:pt x="0" y="60585"/>
                </a:moveTo>
                <a:lnTo>
                  <a:pt x="99143" y="0"/>
                </a:lnTo>
                <a:lnTo>
                  <a:pt x="165238" y="54861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630936" y="500496"/>
            <a:ext cx="163277" cy="84270"/>
          </a:xfrm>
          <a:custGeom>
            <a:avLst/>
            <a:gdLst/>
            <a:ahLst/>
            <a:cxnLst/>
            <a:rect l="l" t="t" r="r" b="b"/>
            <a:pathLst>
              <a:path w="163277" h="84270">
                <a:moveTo>
                  <a:pt x="0" y="11568"/>
                </a:moveTo>
                <a:lnTo>
                  <a:pt x="97966" y="0"/>
                </a:lnTo>
                <a:lnTo>
                  <a:pt x="163277" y="84270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630936" y="512064"/>
            <a:ext cx="107912" cy="137444"/>
          </a:xfrm>
          <a:custGeom>
            <a:avLst/>
            <a:gdLst/>
            <a:ahLst/>
            <a:cxnLst/>
            <a:rect l="l" t="t" r="r" b="b"/>
            <a:pathLst>
              <a:path w="107912" h="137444">
                <a:moveTo>
                  <a:pt x="0" y="0"/>
                </a:moveTo>
                <a:lnTo>
                  <a:pt x="64747" y="28895"/>
                </a:lnTo>
                <a:lnTo>
                  <a:pt x="107912" y="137444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2643" y="481203"/>
            <a:ext cx="116586" cy="116586"/>
          </a:xfrm>
          <a:prstGeom prst="ellipse">
            <a:avLst/>
          </a:prstGeom>
          <a:solidFill>
            <a:srgbClr val="969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5274" y="424967"/>
            <a:ext cx="71323" cy="71323"/>
          </a:xfrm>
          <a:prstGeom prst="ellipse">
            <a:avLst/>
          </a:prstGeom>
          <a:solidFill>
            <a:srgbClr val="969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42062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04 · WHAT WE FIXED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F0EFE9"/>
                </a:solidFill>
                <a:latin typeface="Segoe UI"/>
              </a:rPr>
              <a:t>Loading went from 517 s to 70 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1389888"/>
            <a:ext cx="11057839" cy="9525"/>
          </a:xfrm>
          <a:prstGeom prst="rect">
            <a:avLst/>
          </a:prstGeom>
          <a:solidFill>
            <a:srgbClr val="2A2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1755648"/>
            <a:ext cx="3503066" cy="2286000"/>
          </a:xfrm>
          <a:prstGeom prst="roundRect">
            <a:avLst>
              <a:gd name="adj" fmla="val 4000"/>
            </a:avLst>
          </a:prstGeom>
          <a:solidFill>
            <a:srgbClr val="141612"/>
          </a:solidFill>
          <a:ln w="9525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1956816"/>
            <a:ext cx="299100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69C90"/>
                </a:solidFill>
                <a:latin typeface="Segoe UI"/>
              </a:rPr>
              <a:t>Loading the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286000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5FD68A"/>
                </a:solidFill>
                <a:latin typeface="Consolas"/>
              </a:rPr>
              <a:t>517 s  →  70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898648"/>
            <a:ext cx="299100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C2C6BC"/>
                </a:solidFill>
                <a:latin typeface="Segoe UI"/>
              </a:rPr>
              <a:t>It was reading the file in scattered pieces. Now it reads it once, start to finish.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4314" y="1755648"/>
            <a:ext cx="3503066" cy="2286000"/>
          </a:xfrm>
          <a:prstGeom prst="roundRect">
            <a:avLst>
              <a:gd name="adj" fmla="val 4000"/>
            </a:avLst>
          </a:prstGeom>
          <a:solidFill>
            <a:srgbClr val="141612"/>
          </a:solidFill>
          <a:ln w="9525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00346" y="1956816"/>
            <a:ext cx="299100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69C90"/>
                </a:solidFill>
                <a:latin typeface="Segoe UI"/>
              </a:rPr>
              <a:t>A split it has not used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0346" y="2286000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5FD68A"/>
                </a:solidFill>
                <a:latin typeface="Consolas"/>
              </a:rPr>
              <a:t>437 s  →  70 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0346" y="2898648"/>
            <a:ext cx="299100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C2C6BC"/>
                </a:solidFill>
                <a:latin typeface="Segoe UI"/>
              </a:rPr>
              <a:t>Each device now keeps its own layers, checked against the original file.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1700" y="1755648"/>
            <a:ext cx="3503066" cy="2286000"/>
          </a:xfrm>
          <a:prstGeom prst="roundRect">
            <a:avLst>
              <a:gd name="adj" fmla="val 4000"/>
            </a:avLst>
          </a:prstGeom>
          <a:solidFill>
            <a:srgbClr val="141612"/>
          </a:solidFill>
          <a:ln w="9525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77732" y="1956816"/>
            <a:ext cx="299100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69C90"/>
                </a:solidFill>
                <a:latin typeface="Segoe UI"/>
              </a:rPr>
              <a:t>First word in a long chat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7732" y="2286000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5FD68A"/>
                </a:solidFill>
                <a:latin typeface="Consolas"/>
              </a:rPr>
              <a:t>slow  →  fast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77732" y="2898648"/>
            <a:ext cx="299100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C2C6BC"/>
                </a:solidFill>
                <a:latin typeface="Segoe UI"/>
              </a:rPr>
              <a:t>One conversation slot, so the chat stays in cache instead of being read again.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270248"/>
            <a:ext cx="11057839" cy="1691640"/>
          </a:xfrm>
          <a:prstGeom prst="roundRect">
            <a:avLst>
              <a:gd name="adj" fmla="val 4000"/>
            </a:avLst>
          </a:prstGeom>
          <a:solidFill>
            <a:srgbClr val="141612"/>
          </a:solidFill>
          <a:ln w="9525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44897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AND THE REST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" y="4928616"/>
            <a:ext cx="118872" cy="19050"/>
          </a:xfrm>
          <a:prstGeom prst="rect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" y="4837176"/>
            <a:ext cx="4882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F0EFE9"/>
                </a:solidFill>
                <a:latin typeface="Segoe UI"/>
              </a:rPr>
              <a:t>The head stays on the host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" y="5401491"/>
            <a:ext cx="118872" cy="19050"/>
          </a:xfrm>
          <a:prstGeom prst="rect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8992" y="5310051"/>
            <a:ext cx="4882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F0EFE9"/>
                </a:solidFill>
                <a:latin typeface="Segoe UI"/>
              </a:rPr>
              <a:t>We take the middle ping, not the average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19088" y="4928616"/>
            <a:ext cx="118872" cy="19050"/>
          </a:xfrm>
          <a:prstGeom prst="rect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56832" y="4837176"/>
            <a:ext cx="4882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F0EFE9"/>
                </a:solidFill>
                <a:latin typeface="Segoe UI"/>
              </a:rPr>
              <a:t>We tested it hot, not cold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19088" y="5401491"/>
            <a:ext cx="118872" cy="19050"/>
          </a:xfrm>
          <a:prstGeom prst="rect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56832" y="5310051"/>
            <a:ext cx="4882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F0EFE9"/>
                </a:solidFill>
                <a:latin typeface="Segoe UI"/>
              </a:rPr>
              <a:t>Photos and text on two phones at once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29107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MeshAI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72607" y="6291072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every figure in docs/measurements.md, with its conditions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17781" y="409941"/>
            <a:ext cx="113155" cy="102123"/>
          </a:xfrm>
          <a:custGeom>
            <a:avLst/>
            <a:gdLst/>
            <a:ahLst/>
            <a:cxnLst/>
            <a:rect l="l" t="t" r="r" b="b"/>
            <a:pathLst>
              <a:path w="113155" h="102123">
                <a:moveTo>
                  <a:pt x="113155" y="102123"/>
                </a:moveTo>
                <a:lnTo>
                  <a:pt x="45262" y="0"/>
                </a:lnTo>
                <a:lnTo>
                  <a:pt x="0" y="29938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65697" y="451479"/>
            <a:ext cx="165239" cy="60585"/>
          </a:xfrm>
          <a:custGeom>
            <a:avLst/>
            <a:gdLst/>
            <a:ahLst/>
            <a:cxnLst/>
            <a:rect l="l" t="t" r="r" b="b"/>
            <a:pathLst>
              <a:path w="165239" h="60585">
                <a:moveTo>
                  <a:pt x="165239" y="60585"/>
                </a:moveTo>
                <a:lnTo>
                  <a:pt x="66095" y="0"/>
                </a:lnTo>
                <a:lnTo>
                  <a:pt x="0" y="54861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67658" y="500496"/>
            <a:ext cx="163278" cy="84270"/>
          </a:xfrm>
          <a:custGeom>
            <a:avLst/>
            <a:gdLst/>
            <a:ahLst/>
            <a:cxnLst/>
            <a:rect l="l" t="t" r="r" b="b"/>
            <a:pathLst>
              <a:path w="163278" h="84270">
                <a:moveTo>
                  <a:pt x="163278" y="11568"/>
                </a:moveTo>
                <a:lnTo>
                  <a:pt x="65311" y="0"/>
                </a:lnTo>
                <a:lnTo>
                  <a:pt x="0" y="84270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23023" y="512064"/>
            <a:ext cx="107913" cy="137444"/>
          </a:xfrm>
          <a:custGeom>
            <a:avLst/>
            <a:gdLst/>
            <a:ahLst/>
            <a:cxnLst/>
            <a:rect l="l" t="t" r="r" b="b"/>
            <a:pathLst>
              <a:path w="107913" h="137444">
                <a:moveTo>
                  <a:pt x="107913" y="0"/>
                </a:moveTo>
                <a:lnTo>
                  <a:pt x="43165" y="28895"/>
                </a:lnTo>
                <a:lnTo>
                  <a:pt x="0" y="137444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30936" y="409941"/>
            <a:ext cx="113154" cy="102123"/>
          </a:xfrm>
          <a:custGeom>
            <a:avLst/>
            <a:gdLst/>
            <a:ahLst/>
            <a:cxnLst/>
            <a:rect l="l" t="t" r="r" b="b"/>
            <a:pathLst>
              <a:path w="113154" h="102123">
                <a:moveTo>
                  <a:pt x="0" y="102123"/>
                </a:moveTo>
                <a:lnTo>
                  <a:pt x="67892" y="0"/>
                </a:lnTo>
                <a:lnTo>
                  <a:pt x="113154" y="29938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630936" y="451479"/>
            <a:ext cx="165238" cy="60585"/>
          </a:xfrm>
          <a:custGeom>
            <a:avLst/>
            <a:gdLst/>
            <a:ahLst/>
            <a:cxnLst/>
            <a:rect l="l" t="t" r="r" b="b"/>
            <a:pathLst>
              <a:path w="165238" h="60585">
                <a:moveTo>
                  <a:pt x="0" y="60585"/>
                </a:moveTo>
                <a:lnTo>
                  <a:pt x="99143" y="0"/>
                </a:lnTo>
                <a:lnTo>
                  <a:pt x="165238" y="54861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630936" y="500496"/>
            <a:ext cx="163277" cy="84270"/>
          </a:xfrm>
          <a:custGeom>
            <a:avLst/>
            <a:gdLst/>
            <a:ahLst/>
            <a:cxnLst/>
            <a:rect l="l" t="t" r="r" b="b"/>
            <a:pathLst>
              <a:path w="163277" h="84270">
                <a:moveTo>
                  <a:pt x="0" y="11568"/>
                </a:moveTo>
                <a:lnTo>
                  <a:pt x="97966" y="0"/>
                </a:lnTo>
                <a:lnTo>
                  <a:pt x="163277" y="84270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630936" y="512064"/>
            <a:ext cx="107912" cy="137444"/>
          </a:xfrm>
          <a:custGeom>
            <a:avLst/>
            <a:gdLst/>
            <a:ahLst/>
            <a:cxnLst/>
            <a:rect l="l" t="t" r="r" b="b"/>
            <a:pathLst>
              <a:path w="107912" h="137444">
                <a:moveTo>
                  <a:pt x="0" y="0"/>
                </a:moveTo>
                <a:lnTo>
                  <a:pt x="64747" y="28895"/>
                </a:lnTo>
                <a:lnTo>
                  <a:pt x="107912" y="137444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2643" y="481203"/>
            <a:ext cx="116586" cy="116586"/>
          </a:xfrm>
          <a:prstGeom prst="ellipse">
            <a:avLst/>
          </a:prstGeom>
          <a:solidFill>
            <a:srgbClr val="969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5274" y="424967"/>
            <a:ext cx="71323" cy="71323"/>
          </a:xfrm>
          <a:prstGeom prst="ellipse">
            <a:avLst/>
          </a:prstGeom>
          <a:solidFill>
            <a:srgbClr val="969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42062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05 · WHEN TO USE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F0EFE9"/>
                </a:solidFill>
                <a:latin typeface="Segoe UI"/>
              </a:rPr>
              <a:t>Use it when the model does not fit.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389888"/>
            <a:ext cx="8778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2C6BC"/>
                </a:solidFill>
                <a:latin typeface="Segoe UI"/>
              </a:rPr>
              <a:t>It is worth knowing where this helps, because it is the same thing as knowing where it does not.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103120"/>
            <a:ext cx="11057839" cy="9525"/>
          </a:xfrm>
          <a:prstGeom prst="rect">
            <a:avLst/>
          </a:prstGeom>
          <a:solidFill>
            <a:srgbClr val="2A2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2377440"/>
            <a:ext cx="5391759" cy="3246120"/>
          </a:xfrm>
          <a:prstGeom prst="roundRect">
            <a:avLst>
              <a:gd name="adj" fmla="val 4000"/>
            </a:avLst>
          </a:prstGeom>
          <a:solidFill>
            <a:srgbClr val="142E20"/>
          </a:solidFill>
          <a:ln w="9525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2615184"/>
            <a:ext cx="48431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D68A"/>
                </a:solidFill>
                <a:latin typeface="Consolas"/>
              </a:rPr>
              <a:t>USE IT WHEN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" y="3127248"/>
            <a:ext cx="118872" cy="19050"/>
          </a:xfrm>
          <a:prstGeom prst="rect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3035808"/>
            <a:ext cx="46053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F0EFE9"/>
                </a:solidFill>
                <a:latin typeface="Segoe UI"/>
              </a:rPr>
              <a:t>The model will not fit on one device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" y="3636699"/>
            <a:ext cx="118872" cy="19050"/>
          </a:xfrm>
          <a:prstGeom prst="rect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3545259"/>
            <a:ext cx="46053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F0EFE9"/>
                </a:solidFill>
                <a:latin typeface="Segoe UI"/>
              </a:rPr>
              <a:t>The work cannot leave your devices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" y="4146150"/>
            <a:ext cx="118872" cy="19050"/>
          </a:xfrm>
          <a:prstGeom prst="rect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4054710"/>
            <a:ext cx="46053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F0EFE9"/>
                </a:solidFill>
                <a:latin typeface="Segoe UI"/>
              </a:rPr>
              <a:t>You have devices sitting idle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" y="4655601"/>
            <a:ext cx="118872" cy="19050"/>
          </a:xfrm>
          <a:prstGeom prst="rect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4564161"/>
            <a:ext cx="46053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F0EFE9"/>
                </a:solidFill>
                <a:latin typeface="Segoe UI"/>
              </a:rPr>
              <a:t>You run it often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3007" y="2377440"/>
            <a:ext cx="5391759" cy="3246120"/>
          </a:xfrm>
          <a:prstGeom prst="roundRect">
            <a:avLst>
              <a:gd name="adj" fmla="val 4000"/>
            </a:avLst>
          </a:prstGeom>
          <a:solidFill>
            <a:srgbClr val="141612"/>
          </a:solidFill>
          <a:ln w="9525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07327" y="2615184"/>
            <a:ext cx="48431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DO NOT USE IT WHEN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07327" y="3127248"/>
            <a:ext cx="118872" cy="19050"/>
          </a:xfrm>
          <a:prstGeom prst="rect">
            <a:avLst/>
          </a:prstGeom>
          <a:solidFill>
            <a:srgbClr val="969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45071" y="3035808"/>
            <a:ext cx="45687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0EFE9"/>
                </a:solidFill>
                <a:latin typeface="Segoe UI"/>
              </a:rPr>
              <a:t>The model already fits one device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45071" y="3246120"/>
            <a:ext cx="45687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69C90"/>
                </a:solidFill>
                <a:latin typeface="Segoe UI"/>
              </a:rPr>
              <a:t>splitting would only make it slower, and the app refuses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07327" y="3675887"/>
            <a:ext cx="118872" cy="19050"/>
          </a:xfrm>
          <a:prstGeom prst="rect">
            <a:avLst/>
          </a:prstGeom>
          <a:solidFill>
            <a:srgbClr val="969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45071" y="3584447"/>
            <a:ext cx="45687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0EFE9"/>
                </a:solidFill>
                <a:latin typeface="Segoe UI"/>
              </a:rPr>
              <a:t>You want the fastest possible answer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45071" y="3794759"/>
            <a:ext cx="45687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69C90"/>
                </a:solidFill>
                <a:latin typeface="Segoe UI"/>
              </a:rPr>
              <a:t>every word crosses the cable once, so a cloud is quicker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07327" y="4224528"/>
            <a:ext cx="118872" cy="19050"/>
          </a:xfrm>
          <a:prstGeom prst="rect">
            <a:avLst/>
          </a:prstGeom>
          <a:solidFill>
            <a:srgbClr val="969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45071" y="4133088"/>
            <a:ext cx="45687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0EFE9"/>
                </a:solidFill>
                <a:latin typeface="Segoe UI"/>
              </a:rPr>
              <a:t>Your data is free to leave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45071" y="4343400"/>
            <a:ext cx="45687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69C90"/>
                </a:solidFill>
                <a:latin typeface="Segoe UI"/>
              </a:rPr>
              <a:t>then a cloud API is cheaper per word, and we say so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07327" y="4773167"/>
            <a:ext cx="118872" cy="19050"/>
          </a:xfrm>
          <a:prstGeom prst="rect">
            <a:avLst/>
          </a:prstGeom>
          <a:solidFill>
            <a:srgbClr val="969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45071" y="4681727"/>
            <a:ext cx="45687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0EFE9"/>
                </a:solidFill>
                <a:latin typeface="Segoe UI"/>
              </a:rPr>
              <a:t>You need a stranger's phone to be private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45071" y="4892039"/>
            <a:ext cx="45687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69C90"/>
                </a:solidFill>
                <a:latin typeface="Segoe UI"/>
              </a:rPr>
              <a:t>we only claim privacy across devices one owner controls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629107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MeshAI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72607" y="6291072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the app itself refuses the cases on the right, in words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17781" y="409941"/>
            <a:ext cx="113155" cy="102123"/>
          </a:xfrm>
          <a:custGeom>
            <a:avLst/>
            <a:gdLst/>
            <a:ahLst/>
            <a:cxnLst/>
            <a:rect l="l" t="t" r="r" b="b"/>
            <a:pathLst>
              <a:path w="113155" h="102123">
                <a:moveTo>
                  <a:pt x="113155" y="102123"/>
                </a:moveTo>
                <a:lnTo>
                  <a:pt x="45262" y="0"/>
                </a:lnTo>
                <a:lnTo>
                  <a:pt x="0" y="29938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65697" y="451479"/>
            <a:ext cx="165239" cy="60585"/>
          </a:xfrm>
          <a:custGeom>
            <a:avLst/>
            <a:gdLst/>
            <a:ahLst/>
            <a:cxnLst/>
            <a:rect l="l" t="t" r="r" b="b"/>
            <a:pathLst>
              <a:path w="165239" h="60585">
                <a:moveTo>
                  <a:pt x="165239" y="60585"/>
                </a:moveTo>
                <a:lnTo>
                  <a:pt x="66095" y="0"/>
                </a:lnTo>
                <a:lnTo>
                  <a:pt x="0" y="54861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67658" y="500496"/>
            <a:ext cx="163278" cy="84270"/>
          </a:xfrm>
          <a:custGeom>
            <a:avLst/>
            <a:gdLst/>
            <a:ahLst/>
            <a:cxnLst/>
            <a:rect l="l" t="t" r="r" b="b"/>
            <a:pathLst>
              <a:path w="163278" h="84270">
                <a:moveTo>
                  <a:pt x="163278" y="11568"/>
                </a:moveTo>
                <a:lnTo>
                  <a:pt x="65311" y="0"/>
                </a:lnTo>
                <a:lnTo>
                  <a:pt x="0" y="84270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23023" y="512064"/>
            <a:ext cx="107913" cy="137444"/>
          </a:xfrm>
          <a:custGeom>
            <a:avLst/>
            <a:gdLst/>
            <a:ahLst/>
            <a:cxnLst/>
            <a:rect l="l" t="t" r="r" b="b"/>
            <a:pathLst>
              <a:path w="107913" h="137444">
                <a:moveTo>
                  <a:pt x="107913" y="0"/>
                </a:moveTo>
                <a:lnTo>
                  <a:pt x="43165" y="28895"/>
                </a:lnTo>
                <a:lnTo>
                  <a:pt x="0" y="137444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30936" y="409941"/>
            <a:ext cx="113154" cy="102123"/>
          </a:xfrm>
          <a:custGeom>
            <a:avLst/>
            <a:gdLst/>
            <a:ahLst/>
            <a:cxnLst/>
            <a:rect l="l" t="t" r="r" b="b"/>
            <a:pathLst>
              <a:path w="113154" h="102123">
                <a:moveTo>
                  <a:pt x="0" y="102123"/>
                </a:moveTo>
                <a:lnTo>
                  <a:pt x="67892" y="0"/>
                </a:lnTo>
                <a:lnTo>
                  <a:pt x="113154" y="29938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630936" y="451479"/>
            <a:ext cx="165238" cy="60585"/>
          </a:xfrm>
          <a:custGeom>
            <a:avLst/>
            <a:gdLst/>
            <a:ahLst/>
            <a:cxnLst/>
            <a:rect l="l" t="t" r="r" b="b"/>
            <a:pathLst>
              <a:path w="165238" h="60585">
                <a:moveTo>
                  <a:pt x="0" y="60585"/>
                </a:moveTo>
                <a:lnTo>
                  <a:pt x="99143" y="0"/>
                </a:lnTo>
                <a:lnTo>
                  <a:pt x="165238" y="54861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630936" y="500496"/>
            <a:ext cx="163277" cy="84270"/>
          </a:xfrm>
          <a:custGeom>
            <a:avLst/>
            <a:gdLst/>
            <a:ahLst/>
            <a:cxnLst/>
            <a:rect l="l" t="t" r="r" b="b"/>
            <a:pathLst>
              <a:path w="163277" h="84270">
                <a:moveTo>
                  <a:pt x="0" y="11568"/>
                </a:moveTo>
                <a:lnTo>
                  <a:pt x="97966" y="0"/>
                </a:lnTo>
                <a:lnTo>
                  <a:pt x="163277" y="84270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630936" y="512064"/>
            <a:ext cx="107912" cy="137444"/>
          </a:xfrm>
          <a:custGeom>
            <a:avLst/>
            <a:gdLst/>
            <a:ahLst/>
            <a:cxnLst/>
            <a:rect l="l" t="t" r="r" b="b"/>
            <a:pathLst>
              <a:path w="107912" h="137444">
                <a:moveTo>
                  <a:pt x="0" y="0"/>
                </a:moveTo>
                <a:lnTo>
                  <a:pt x="64747" y="28895"/>
                </a:lnTo>
                <a:lnTo>
                  <a:pt x="107912" y="137444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2643" y="481203"/>
            <a:ext cx="116586" cy="116586"/>
          </a:xfrm>
          <a:prstGeom prst="ellipse">
            <a:avLst/>
          </a:prstGeom>
          <a:solidFill>
            <a:srgbClr val="969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5274" y="424967"/>
            <a:ext cx="71323" cy="71323"/>
          </a:xfrm>
          <a:prstGeom prst="ellipse">
            <a:avLst/>
          </a:prstGeom>
          <a:solidFill>
            <a:srgbClr val="969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42062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06 · WHAT YOU DO WITH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F0EFE9"/>
                </a:solidFill>
                <a:latin typeface="Segoe UI"/>
              </a:rPr>
              <a:t>Review your code before you commit.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389888"/>
            <a:ext cx="8778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2C6BC"/>
                </a:solidFill>
                <a:latin typeface="Segoe UI"/>
              </a:rPr>
              <a:t>One tap on the phone. The answer comes from a 30B model running on your own devices.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103120"/>
            <a:ext cx="11057839" cy="9525"/>
          </a:xfrm>
          <a:prstGeom prst="rect">
            <a:avLst/>
          </a:prstGeom>
          <a:solidFill>
            <a:srgbClr val="2A2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2468880"/>
            <a:ext cx="2558719" cy="1143000"/>
          </a:xfrm>
          <a:prstGeom prst="roundRect">
            <a:avLst>
              <a:gd name="adj" fmla="val 4000"/>
            </a:avLst>
          </a:prstGeom>
          <a:solidFill>
            <a:srgbClr val="141612"/>
          </a:solidFill>
          <a:ln w="9525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2651760"/>
            <a:ext cx="21198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0EFE9"/>
                </a:solidFill>
                <a:latin typeface="Segoe UI"/>
              </a:rPr>
              <a:t>Your laptop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2980944"/>
            <a:ext cx="2119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C2C6BC"/>
                </a:solidFill>
                <a:latin typeface="Segoe UI"/>
              </a:rPr>
              <a:t>You change a 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43935" y="2880360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5FD68A"/>
                </a:solidFill>
                <a:latin typeface="Segoe U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99967" y="2468880"/>
            <a:ext cx="2558719" cy="1143000"/>
          </a:xfrm>
          <a:prstGeom prst="roundRect">
            <a:avLst>
              <a:gd name="adj" fmla="val 4000"/>
            </a:avLst>
          </a:prstGeom>
          <a:solidFill>
            <a:srgbClr val="141612"/>
          </a:solidFill>
          <a:ln w="9525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9423" y="2651760"/>
            <a:ext cx="21198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0EFE9"/>
                </a:solidFill>
                <a:latin typeface="Segoe UI"/>
              </a:rPr>
              <a:t>Your phone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9423" y="2980944"/>
            <a:ext cx="2119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C2C6BC"/>
                </a:solidFill>
                <a:latin typeface="Segoe UI"/>
              </a:rPr>
              <a:t>Tap: review my changes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76975" y="2880360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5FD68A"/>
                </a:solidFill>
                <a:latin typeface="Segoe U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3007" y="2468880"/>
            <a:ext cx="2558719" cy="1143000"/>
          </a:xfrm>
          <a:prstGeom prst="roundRect">
            <a:avLst>
              <a:gd name="adj" fmla="val 4000"/>
            </a:avLst>
          </a:prstGeom>
          <a:solidFill>
            <a:srgbClr val="141612"/>
          </a:solidFill>
          <a:ln w="9525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2463" y="2651760"/>
            <a:ext cx="21198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0EFE9"/>
                </a:solidFill>
                <a:latin typeface="Segoe UI"/>
              </a:rPr>
              <a:t>The mesh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2463" y="2980944"/>
            <a:ext cx="2119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C2C6BC"/>
                </a:solidFill>
                <a:latin typeface="Segoe UI"/>
              </a:rPr>
              <a:t>30B across three devices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10015" y="2880360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5FD68A"/>
                </a:solidFill>
                <a:latin typeface="Segoe U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66047" y="2468880"/>
            <a:ext cx="2558719" cy="1143000"/>
          </a:xfrm>
          <a:prstGeom prst="roundRect">
            <a:avLst>
              <a:gd name="adj" fmla="val 4000"/>
            </a:avLst>
          </a:prstGeom>
          <a:solidFill>
            <a:srgbClr val="142E20"/>
          </a:solidFill>
          <a:ln w="9525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85503" y="2651760"/>
            <a:ext cx="21198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FD68A"/>
                </a:solidFill>
                <a:latin typeface="Segoe UI"/>
              </a:rPr>
              <a:t>The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5503" y="2980944"/>
            <a:ext cx="2119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C2C6BC"/>
                </a:solidFill>
                <a:latin typeface="Segoe UI"/>
              </a:rPr>
              <a:t>On your phone, in seconds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3931920"/>
            <a:ext cx="5391759" cy="2011680"/>
          </a:xfrm>
          <a:prstGeom prst="roundRect">
            <a:avLst>
              <a:gd name="adj" fmla="val 4000"/>
            </a:avLst>
          </a:prstGeom>
          <a:solidFill>
            <a:srgbClr val="141612"/>
          </a:solidFill>
          <a:ln w="9525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4169664"/>
            <a:ext cx="48431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WHY PEOPLE KEEP 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" y="4626864"/>
            <a:ext cx="118872" cy="19050"/>
          </a:xfrm>
          <a:prstGeom prst="rect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8992" y="4535424"/>
            <a:ext cx="46053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F0EFE9"/>
                </a:solidFill>
                <a:latin typeface="Segoe UI"/>
              </a:rPr>
              <a:t>It installs as a git hook, in one command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" y="5280006"/>
            <a:ext cx="118872" cy="19050"/>
          </a:xfrm>
          <a:prstGeom prst="rect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8992" y="5188566"/>
            <a:ext cx="46053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F0EFE9"/>
                </a:solidFill>
                <a:latin typeface="Segoe UI"/>
              </a:rPr>
              <a:t>Every commit gets read before it lands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" y="5661441"/>
            <a:ext cx="118872" cy="19050"/>
          </a:xfrm>
          <a:prstGeom prst="rect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8992" y="5570001"/>
            <a:ext cx="46053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F0EFE9"/>
                </a:solidFill>
                <a:latin typeface="Segoe UI"/>
              </a:rPr>
              <a:t>No bill, however many times you run 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33007" y="3931920"/>
            <a:ext cx="5391759" cy="2011680"/>
          </a:xfrm>
          <a:prstGeom prst="roundRect">
            <a:avLst>
              <a:gd name="adj" fmla="val 4000"/>
            </a:avLst>
          </a:prstGeom>
          <a:solidFill>
            <a:srgbClr val="141612"/>
          </a:solidFill>
          <a:ln w="9525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07327" y="4169664"/>
            <a:ext cx="48431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AND IT NEVER LEAVES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07327" y="4626864"/>
            <a:ext cx="118872" cy="19050"/>
          </a:xfrm>
          <a:prstGeom prst="rect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45071" y="4535424"/>
            <a:ext cx="46053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F0EFE9"/>
                </a:solidFill>
                <a:latin typeface="Segoe UI"/>
              </a:rPr>
              <a:t>Internet off. No account. No upload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07327" y="5008299"/>
            <a:ext cx="118872" cy="19050"/>
          </a:xfrm>
          <a:prstGeom prst="rect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45071" y="4916859"/>
            <a:ext cx="46053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F0EFE9"/>
                </a:solidFill>
                <a:latin typeface="Segoe UI"/>
              </a:rPr>
              <a:t>The code stays on the desk it was written 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07327" y="5661441"/>
            <a:ext cx="118872" cy="19050"/>
          </a:xfrm>
          <a:prstGeom prst="rect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45071" y="5570001"/>
            <a:ext cx="46053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F0EFE9"/>
                </a:solidFill>
                <a:latin typeface="Segoe UI"/>
              </a:rPr>
              <a:t>Also: review a file, or write its tests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29107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MeshAI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72607" y="6291072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mesh review · mesh tests · mesh diff · git pre-commit hook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9997189" y="5074920"/>
            <a:ext cx="2286000" cy="0"/>
          </a:xfrm>
          <a:custGeom>
            <a:avLst/>
            <a:gdLst/>
            <a:ahLst/>
            <a:cxnLst/>
            <a:rect l="l" t="t" r="r" b="b"/>
            <a:pathLst>
              <a:path w="2286000" h="0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9997189" y="5074920"/>
            <a:ext cx="1979734" cy="1143000"/>
          </a:xfrm>
          <a:custGeom>
            <a:avLst/>
            <a:gdLst/>
            <a:ahLst/>
            <a:cxnLst/>
            <a:rect l="l" t="t" r="r" b="b"/>
            <a:pathLst>
              <a:path w="1979734" h="1143000">
                <a:moveTo>
                  <a:pt x="0" y="0"/>
                </a:moveTo>
                <a:lnTo>
                  <a:pt x="1979734" y="114300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9997189" y="5074920"/>
            <a:ext cx="1143000" cy="1979734"/>
          </a:xfrm>
          <a:custGeom>
            <a:avLst/>
            <a:gdLst/>
            <a:ahLst/>
            <a:cxnLst/>
            <a:rect l="l" t="t" r="r" b="b"/>
            <a:pathLst>
              <a:path w="1143000" h="1979734">
                <a:moveTo>
                  <a:pt x="0" y="0"/>
                </a:moveTo>
                <a:lnTo>
                  <a:pt x="1143000" y="1979734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9997189" y="5074920"/>
            <a:ext cx="0" cy="2286000"/>
          </a:xfrm>
          <a:custGeom>
            <a:avLst/>
            <a:gdLst/>
            <a:ahLst/>
            <a:cxnLst/>
            <a:rect l="l" t="t" r="r" b="b"/>
            <a:pathLst>
              <a:path w="0" h="2286000">
                <a:moveTo>
                  <a:pt x="0" y="0"/>
                </a:moveTo>
                <a:lnTo>
                  <a:pt x="0" y="228600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8854189" y="5074920"/>
            <a:ext cx="1143000" cy="1979734"/>
          </a:xfrm>
          <a:custGeom>
            <a:avLst/>
            <a:gdLst/>
            <a:ahLst/>
            <a:cxnLst/>
            <a:rect l="l" t="t" r="r" b="b"/>
            <a:pathLst>
              <a:path w="1143000" h="1979734">
                <a:moveTo>
                  <a:pt x="1143000" y="0"/>
                </a:moveTo>
                <a:lnTo>
                  <a:pt x="0" y="1979734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8017454" y="5074920"/>
            <a:ext cx="1979735" cy="1143000"/>
          </a:xfrm>
          <a:custGeom>
            <a:avLst/>
            <a:gdLst/>
            <a:ahLst/>
            <a:cxnLst/>
            <a:rect l="l" t="t" r="r" b="b"/>
            <a:pathLst>
              <a:path w="1979735" h="1143000">
                <a:moveTo>
                  <a:pt x="1979735" y="0"/>
                </a:moveTo>
                <a:lnTo>
                  <a:pt x="0" y="114300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7711189" y="5074920"/>
            <a:ext cx="2286000" cy="0"/>
          </a:xfrm>
          <a:custGeom>
            <a:avLst/>
            <a:gdLst/>
            <a:ahLst/>
            <a:cxnLst/>
            <a:rect l="l" t="t" r="r" b="b"/>
            <a:pathLst>
              <a:path w="2286000" h="0">
                <a:moveTo>
                  <a:pt x="2286000" y="0"/>
                </a:moveTo>
                <a:lnTo>
                  <a:pt x="0" y="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8017454" y="3931920"/>
            <a:ext cx="1979735" cy="1143000"/>
          </a:xfrm>
          <a:custGeom>
            <a:avLst/>
            <a:gdLst/>
            <a:ahLst/>
            <a:cxnLst/>
            <a:rect l="l" t="t" r="r" b="b"/>
            <a:pathLst>
              <a:path w="1979735" h="1143000">
                <a:moveTo>
                  <a:pt x="1979735" y="1143000"/>
                </a:moveTo>
                <a:lnTo>
                  <a:pt x="0" y="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8854189" y="3095185"/>
            <a:ext cx="1143000" cy="1979735"/>
          </a:xfrm>
          <a:custGeom>
            <a:avLst/>
            <a:gdLst/>
            <a:ahLst/>
            <a:cxnLst/>
            <a:rect l="l" t="t" r="r" b="b"/>
            <a:pathLst>
              <a:path w="1143000" h="1979735">
                <a:moveTo>
                  <a:pt x="1143000" y="1979735"/>
                </a:moveTo>
                <a:lnTo>
                  <a:pt x="0" y="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997189" y="2788920"/>
            <a:ext cx="0" cy="2286000"/>
          </a:xfrm>
          <a:custGeom>
            <a:avLst/>
            <a:gdLst/>
            <a:ahLst/>
            <a:cxnLst/>
            <a:rect l="l" t="t" r="r" b="b"/>
            <a:pathLst>
              <a:path w="0" h="2286000">
                <a:moveTo>
                  <a:pt x="0" y="2286000"/>
                </a:moveTo>
                <a:lnTo>
                  <a:pt x="0" y="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997189" y="3095185"/>
            <a:ext cx="1143000" cy="1979735"/>
          </a:xfrm>
          <a:custGeom>
            <a:avLst/>
            <a:gdLst/>
            <a:ahLst/>
            <a:cxnLst/>
            <a:rect l="l" t="t" r="r" b="b"/>
            <a:pathLst>
              <a:path w="1143000" h="1979735">
                <a:moveTo>
                  <a:pt x="0" y="1979735"/>
                </a:moveTo>
                <a:lnTo>
                  <a:pt x="1143000" y="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997189" y="3931919"/>
            <a:ext cx="1979734" cy="1143001"/>
          </a:xfrm>
          <a:custGeom>
            <a:avLst/>
            <a:gdLst/>
            <a:ahLst/>
            <a:cxnLst/>
            <a:rect l="l" t="t" r="r" b="b"/>
            <a:pathLst>
              <a:path w="1979734" h="1143001">
                <a:moveTo>
                  <a:pt x="0" y="1143001"/>
                </a:moveTo>
                <a:lnTo>
                  <a:pt x="1979734" y="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9425689" y="4503420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1143000" y="571500"/>
                </a:moveTo>
                <a:lnTo>
                  <a:pt x="1066433" y="857250"/>
                </a:lnTo>
                <a:lnTo>
                  <a:pt x="857250" y="1066433"/>
                </a:lnTo>
                <a:lnTo>
                  <a:pt x="571500" y="1143000"/>
                </a:lnTo>
                <a:lnTo>
                  <a:pt x="285750" y="1066433"/>
                </a:lnTo>
                <a:lnTo>
                  <a:pt x="76566" y="857250"/>
                </a:lnTo>
                <a:lnTo>
                  <a:pt x="0" y="571500"/>
                </a:lnTo>
                <a:lnTo>
                  <a:pt x="76566" y="285750"/>
                </a:lnTo>
                <a:lnTo>
                  <a:pt x="285750" y="76566"/>
                </a:lnTo>
                <a:lnTo>
                  <a:pt x="571500" y="0"/>
                </a:lnTo>
                <a:lnTo>
                  <a:pt x="857250" y="76566"/>
                </a:lnTo>
                <a:lnTo>
                  <a:pt x="1066433" y="285750"/>
                </a:lnTo>
                <a:lnTo>
                  <a:pt x="1143000" y="571500"/>
                </a:lnTo>
                <a:close/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8854189" y="3931920"/>
            <a:ext cx="2286000" cy="2286000"/>
          </a:xfrm>
          <a:custGeom>
            <a:avLst/>
            <a:gdLst/>
            <a:ahLst/>
            <a:cxnLst/>
            <a:rect l="l" t="t" r="r" b="b"/>
            <a:pathLst>
              <a:path w="2286000" h="2286000">
                <a:moveTo>
                  <a:pt x="2286000" y="1143000"/>
                </a:moveTo>
                <a:lnTo>
                  <a:pt x="2132867" y="1714500"/>
                </a:lnTo>
                <a:lnTo>
                  <a:pt x="1714500" y="2132867"/>
                </a:lnTo>
                <a:lnTo>
                  <a:pt x="1143000" y="2286000"/>
                </a:lnTo>
                <a:lnTo>
                  <a:pt x="571500" y="2132867"/>
                </a:lnTo>
                <a:lnTo>
                  <a:pt x="153132" y="1714500"/>
                </a:lnTo>
                <a:lnTo>
                  <a:pt x="0" y="1143000"/>
                </a:lnTo>
                <a:lnTo>
                  <a:pt x="153132" y="571500"/>
                </a:lnTo>
                <a:lnTo>
                  <a:pt x="571500" y="153132"/>
                </a:lnTo>
                <a:lnTo>
                  <a:pt x="1143000" y="0"/>
                </a:lnTo>
                <a:lnTo>
                  <a:pt x="1714500" y="153132"/>
                </a:lnTo>
                <a:lnTo>
                  <a:pt x="2132867" y="571500"/>
                </a:lnTo>
                <a:lnTo>
                  <a:pt x="2286000" y="1143000"/>
                </a:lnTo>
                <a:close/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8282689" y="336042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3429000" h="3429000">
                <a:moveTo>
                  <a:pt x="3429000" y="1714500"/>
                </a:moveTo>
                <a:lnTo>
                  <a:pt x="3199300" y="2571750"/>
                </a:lnTo>
                <a:lnTo>
                  <a:pt x="2571750" y="3199300"/>
                </a:lnTo>
                <a:lnTo>
                  <a:pt x="1714500" y="3429000"/>
                </a:lnTo>
                <a:lnTo>
                  <a:pt x="857250" y="3199300"/>
                </a:lnTo>
                <a:lnTo>
                  <a:pt x="229699" y="2571750"/>
                </a:lnTo>
                <a:lnTo>
                  <a:pt x="0" y="1714500"/>
                </a:lnTo>
                <a:lnTo>
                  <a:pt x="229699" y="857250"/>
                </a:lnTo>
                <a:lnTo>
                  <a:pt x="857250" y="229699"/>
                </a:lnTo>
                <a:lnTo>
                  <a:pt x="1714500" y="0"/>
                </a:lnTo>
                <a:lnTo>
                  <a:pt x="2571750" y="229699"/>
                </a:lnTo>
                <a:lnTo>
                  <a:pt x="3199300" y="857249"/>
                </a:lnTo>
                <a:lnTo>
                  <a:pt x="3429000" y="1714500"/>
                </a:lnTo>
                <a:close/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7711189" y="2788920"/>
            <a:ext cx="4572000" cy="4572000"/>
          </a:xfrm>
          <a:custGeom>
            <a:avLst/>
            <a:gdLst/>
            <a:ahLst/>
            <a:cxnLst/>
            <a:rect l="l" t="t" r="r" b="b"/>
            <a:pathLst>
              <a:path w="4572000" h="4572000">
                <a:moveTo>
                  <a:pt x="4572000" y="2286000"/>
                </a:moveTo>
                <a:lnTo>
                  <a:pt x="4265734" y="3429000"/>
                </a:lnTo>
                <a:lnTo>
                  <a:pt x="3429000" y="4265734"/>
                </a:lnTo>
                <a:lnTo>
                  <a:pt x="2286000" y="4572000"/>
                </a:lnTo>
                <a:lnTo>
                  <a:pt x="1143000" y="4265734"/>
                </a:lnTo>
                <a:lnTo>
                  <a:pt x="306265" y="3429000"/>
                </a:lnTo>
                <a:lnTo>
                  <a:pt x="0" y="2286000"/>
                </a:lnTo>
                <a:lnTo>
                  <a:pt x="306265" y="1143000"/>
                </a:lnTo>
                <a:lnTo>
                  <a:pt x="1143000" y="306265"/>
                </a:lnTo>
                <a:lnTo>
                  <a:pt x="2286000" y="0"/>
                </a:lnTo>
                <a:lnTo>
                  <a:pt x="3429000" y="306265"/>
                </a:lnTo>
                <a:lnTo>
                  <a:pt x="4265734" y="1142999"/>
                </a:lnTo>
                <a:lnTo>
                  <a:pt x="4572000" y="2285999"/>
                </a:lnTo>
                <a:close/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9574746" y="4693662"/>
            <a:ext cx="422443" cy="381258"/>
          </a:xfrm>
          <a:custGeom>
            <a:avLst/>
            <a:gdLst/>
            <a:ahLst/>
            <a:cxnLst/>
            <a:rect l="l" t="t" r="r" b="b"/>
            <a:pathLst>
              <a:path w="422443" h="381258">
                <a:moveTo>
                  <a:pt x="422443" y="381258"/>
                </a:moveTo>
                <a:lnTo>
                  <a:pt x="168977" y="0"/>
                </a:lnTo>
                <a:lnTo>
                  <a:pt x="0" y="111768"/>
                </a:lnTo>
              </a:path>
            </a:pathLst>
          </a:custGeom>
          <a:noFill/>
          <a:ln w="19050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380298" y="4848737"/>
            <a:ext cx="616891" cy="226183"/>
          </a:xfrm>
          <a:custGeom>
            <a:avLst/>
            <a:gdLst/>
            <a:ahLst/>
            <a:cxnLst/>
            <a:rect l="l" t="t" r="r" b="b"/>
            <a:pathLst>
              <a:path w="616891" h="226183">
                <a:moveTo>
                  <a:pt x="616891" y="226183"/>
                </a:moveTo>
                <a:lnTo>
                  <a:pt x="246756" y="0"/>
                </a:lnTo>
                <a:lnTo>
                  <a:pt x="0" y="204813"/>
                </a:lnTo>
              </a:path>
            </a:pathLst>
          </a:custGeom>
          <a:noFill/>
          <a:ln w="19050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9387619" y="5031733"/>
            <a:ext cx="609570" cy="314610"/>
          </a:xfrm>
          <a:custGeom>
            <a:avLst/>
            <a:gdLst/>
            <a:ahLst/>
            <a:cxnLst/>
            <a:rect l="l" t="t" r="r" b="b"/>
            <a:pathLst>
              <a:path w="609570" h="314610">
                <a:moveTo>
                  <a:pt x="609570" y="43187"/>
                </a:moveTo>
                <a:lnTo>
                  <a:pt x="243828" y="0"/>
                </a:lnTo>
                <a:lnTo>
                  <a:pt x="0" y="314610"/>
                </a:lnTo>
              </a:path>
            </a:pathLst>
          </a:custGeom>
          <a:noFill/>
          <a:ln w="19050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9594314" y="5074920"/>
            <a:ext cx="402875" cy="513124"/>
          </a:xfrm>
          <a:custGeom>
            <a:avLst/>
            <a:gdLst/>
            <a:ahLst/>
            <a:cxnLst/>
            <a:rect l="l" t="t" r="r" b="b"/>
            <a:pathLst>
              <a:path w="402875" h="513124">
                <a:moveTo>
                  <a:pt x="402875" y="0"/>
                </a:moveTo>
                <a:lnTo>
                  <a:pt x="161150" y="107876"/>
                </a:lnTo>
                <a:lnTo>
                  <a:pt x="0" y="513124"/>
                </a:lnTo>
              </a:path>
            </a:pathLst>
          </a:custGeom>
          <a:noFill/>
          <a:ln w="19050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9997189" y="4693662"/>
            <a:ext cx="422442" cy="381258"/>
          </a:xfrm>
          <a:custGeom>
            <a:avLst/>
            <a:gdLst/>
            <a:ahLst/>
            <a:cxnLst/>
            <a:rect l="l" t="t" r="r" b="b"/>
            <a:pathLst>
              <a:path w="422442" h="381258">
                <a:moveTo>
                  <a:pt x="0" y="381258"/>
                </a:moveTo>
                <a:lnTo>
                  <a:pt x="253465" y="0"/>
                </a:lnTo>
                <a:lnTo>
                  <a:pt x="422442" y="111768"/>
                </a:lnTo>
              </a:path>
            </a:pathLst>
          </a:custGeom>
          <a:noFill/>
          <a:ln w="19050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9997189" y="4848737"/>
            <a:ext cx="616890" cy="226183"/>
          </a:xfrm>
          <a:custGeom>
            <a:avLst/>
            <a:gdLst/>
            <a:ahLst/>
            <a:cxnLst/>
            <a:rect l="l" t="t" r="r" b="b"/>
            <a:pathLst>
              <a:path w="616890" h="226183">
                <a:moveTo>
                  <a:pt x="0" y="226183"/>
                </a:moveTo>
                <a:lnTo>
                  <a:pt x="370134" y="0"/>
                </a:lnTo>
                <a:lnTo>
                  <a:pt x="616890" y="204813"/>
                </a:lnTo>
              </a:path>
            </a:pathLst>
          </a:custGeom>
          <a:noFill/>
          <a:ln w="19050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9997189" y="5031733"/>
            <a:ext cx="609569" cy="314610"/>
          </a:xfrm>
          <a:custGeom>
            <a:avLst/>
            <a:gdLst/>
            <a:ahLst/>
            <a:cxnLst/>
            <a:rect l="l" t="t" r="r" b="b"/>
            <a:pathLst>
              <a:path w="609569" h="314610">
                <a:moveTo>
                  <a:pt x="0" y="43187"/>
                </a:moveTo>
                <a:lnTo>
                  <a:pt x="365741" y="0"/>
                </a:lnTo>
                <a:lnTo>
                  <a:pt x="609569" y="314610"/>
                </a:lnTo>
              </a:path>
            </a:pathLst>
          </a:custGeom>
          <a:noFill/>
          <a:ln w="19050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97189" y="5074920"/>
            <a:ext cx="402874" cy="513124"/>
          </a:xfrm>
          <a:custGeom>
            <a:avLst/>
            <a:gdLst/>
            <a:ahLst/>
            <a:cxnLst/>
            <a:rect l="l" t="t" r="r" b="b"/>
            <a:pathLst>
              <a:path w="402874" h="513124">
                <a:moveTo>
                  <a:pt x="0" y="0"/>
                </a:moveTo>
                <a:lnTo>
                  <a:pt x="241724" y="107876"/>
                </a:lnTo>
                <a:lnTo>
                  <a:pt x="402874" y="513124"/>
                </a:lnTo>
              </a:path>
            </a:pathLst>
          </a:custGeom>
          <a:noFill/>
          <a:ln w="19050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779561" y="4959705"/>
            <a:ext cx="435254" cy="435254"/>
          </a:xfrm>
          <a:prstGeom prst="ellipse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864052" y="4749759"/>
            <a:ext cx="266273" cy="266273"/>
          </a:xfrm>
          <a:prstGeom prst="ellipse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2194560"/>
            <a:ext cx="87782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400" b="1">
                <a:solidFill>
                  <a:srgbClr val="F0EFE9"/>
                </a:solidFill>
                <a:latin typeface="Segoe UI"/>
              </a:rPr>
              <a:t>Does splitting it
make the answers worse?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17781" y="409941"/>
            <a:ext cx="113155" cy="102123"/>
          </a:xfrm>
          <a:custGeom>
            <a:avLst/>
            <a:gdLst/>
            <a:ahLst/>
            <a:cxnLst/>
            <a:rect l="l" t="t" r="r" b="b"/>
            <a:pathLst>
              <a:path w="113155" h="102123">
                <a:moveTo>
                  <a:pt x="113155" y="102123"/>
                </a:moveTo>
                <a:lnTo>
                  <a:pt x="45262" y="0"/>
                </a:lnTo>
                <a:lnTo>
                  <a:pt x="0" y="29938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65697" y="451479"/>
            <a:ext cx="165239" cy="60585"/>
          </a:xfrm>
          <a:custGeom>
            <a:avLst/>
            <a:gdLst/>
            <a:ahLst/>
            <a:cxnLst/>
            <a:rect l="l" t="t" r="r" b="b"/>
            <a:pathLst>
              <a:path w="165239" h="60585">
                <a:moveTo>
                  <a:pt x="165239" y="60585"/>
                </a:moveTo>
                <a:lnTo>
                  <a:pt x="66095" y="0"/>
                </a:lnTo>
                <a:lnTo>
                  <a:pt x="0" y="54861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67658" y="500496"/>
            <a:ext cx="163278" cy="84270"/>
          </a:xfrm>
          <a:custGeom>
            <a:avLst/>
            <a:gdLst/>
            <a:ahLst/>
            <a:cxnLst/>
            <a:rect l="l" t="t" r="r" b="b"/>
            <a:pathLst>
              <a:path w="163278" h="84270">
                <a:moveTo>
                  <a:pt x="163278" y="11568"/>
                </a:moveTo>
                <a:lnTo>
                  <a:pt x="65311" y="0"/>
                </a:lnTo>
                <a:lnTo>
                  <a:pt x="0" y="84270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23023" y="512064"/>
            <a:ext cx="107913" cy="137444"/>
          </a:xfrm>
          <a:custGeom>
            <a:avLst/>
            <a:gdLst/>
            <a:ahLst/>
            <a:cxnLst/>
            <a:rect l="l" t="t" r="r" b="b"/>
            <a:pathLst>
              <a:path w="107913" h="137444">
                <a:moveTo>
                  <a:pt x="107913" y="0"/>
                </a:moveTo>
                <a:lnTo>
                  <a:pt x="43165" y="28895"/>
                </a:lnTo>
                <a:lnTo>
                  <a:pt x="0" y="137444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30936" y="409941"/>
            <a:ext cx="113154" cy="102123"/>
          </a:xfrm>
          <a:custGeom>
            <a:avLst/>
            <a:gdLst/>
            <a:ahLst/>
            <a:cxnLst/>
            <a:rect l="l" t="t" r="r" b="b"/>
            <a:pathLst>
              <a:path w="113154" h="102123">
                <a:moveTo>
                  <a:pt x="0" y="102123"/>
                </a:moveTo>
                <a:lnTo>
                  <a:pt x="67892" y="0"/>
                </a:lnTo>
                <a:lnTo>
                  <a:pt x="113154" y="29938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630936" y="451479"/>
            <a:ext cx="165238" cy="60585"/>
          </a:xfrm>
          <a:custGeom>
            <a:avLst/>
            <a:gdLst/>
            <a:ahLst/>
            <a:cxnLst/>
            <a:rect l="l" t="t" r="r" b="b"/>
            <a:pathLst>
              <a:path w="165238" h="60585">
                <a:moveTo>
                  <a:pt x="0" y="60585"/>
                </a:moveTo>
                <a:lnTo>
                  <a:pt x="99143" y="0"/>
                </a:lnTo>
                <a:lnTo>
                  <a:pt x="165238" y="54861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630936" y="500496"/>
            <a:ext cx="163277" cy="84270"/>
          </a:xfrm>
          <a:custGeom>
            <a:avLst/>
            <a:gdLst/>
            <a:ahLst/>
            <a:cxnLst/>
            <a:rect l="l" t="t" r="r" b="b"/>
            <a:pathLst>
              <a:path w="163277" h="84270">
                <a:moveTo>
                  <a:pt x="0" y="11568"/>
                </a:moveTo>
                <a:lnTo>
                  <a:pt x="97966" y="0"/>
                </a:lnTo>
                <a:lnTo>
                  <a:pt x="163277" y="84270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630936" y="512064"/>
            <a:ext cx="107912" cy="137444"/>
          </a:xfrm>
          <a:custGeom>
            <a:avLst/>
            <a:gdLst/>
            <a:ahLst/>
            <a:cxnLst/>
            <a:rect l="l" t="t" r="r" b="b"/>
            <a:pathLst>
              <a:path w="107912" h="137444">
                <a:moveTo>
                  <a:pt x="0" y="0"/>
                </a:moveTo>
                <a:lnTo>
                  <a:pt x="64747" y="28895"/>
                </a:lnTo>
                <a:lnTo>
                  <a:pt x="107912" y="137444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2643" y="481203"/>
            <a:ext cx="116586" cy="116586"/>
          </a:xfrm>
          <a:prstGeom prst="ellipse">
            <a:avLst/>
          </a:prstGeom>
          <a:solidFill>
            <a:srgbClr val="969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5274" y="424967"/>
            <a:ext cx="71323" cy="71323"/>
          </a:xfrm>
          <a:prstGeom prst="ellipse">
            <a:avLst/>
          </a:prstGeom>
          <a:solidFill>
            <a:srgbClr val="969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42062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07 · PROOF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F0EFE9"/>
                </a:solidFill>
                <a:latin typeface="Segoe UI"/>
              </a:rPr>
              <a:t>13% to 47%, on the same tests.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389888"/>
            <a:ext cx="8778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2C6BC"/>
                </a:solidFill>
                <a:latin typeface="Segoe UI"/>
              </a:rPr>
              <a:t>Same 15 coding problems for every setup. We ran each answer against its own tests. Right or wrong, nothing in between.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103120"/>
            <a:ext cx="11057839" cy="9525"/>
          </a:xfrm>
          <a:prstGeom prst="rect">
            <a:avLst/>
          </a:prstGeom>
          <a:solidFill>
            <a:srgbClr val="2A2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2377440"/>
            <a:ext cx="6038770" cy="3017520"/>
          </a:xfrm>
          <a:prstGeom prst="roundRect">
            <a:avLst>
              <a:gd name="adj" fmla="val 4000"/>
            </a:avLst>
          </a:prstGeom>
          <a:solidFill>
            <a:srgbClr val="141612"/>
          </a:solidFill>
          <a:ln w="9525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8408" y="4114800"/>
            <a:ext cx="1371600" cy="365760"/>
          </a:xfrm>
          <a:prstGeom prst="roundRect">
            <a:avLst>
              <a:gd name="adj" fmla="val 18000"/>
            </a:avLst>
          </a:prstGeom>
          <a:solidFill>
            <a:srgbClr val="2A2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378561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969C90"/>
                </a:solidFill>
                <a:latin typeface="Consolas"/>
              </a:rPr>
              <a:t>13%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457200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0.6B alone
2 of 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504748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C2C6BC"/>
                </a:solidFill>
                <a:latin typeface="Consolas"/>
              </a:rPr>
              <a:t>20.9 tok/s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98648" y="3154680"/>
            <a:ext cx="1371600" cy="1325880"/>
          </a:xfrm>
          <a:prstGeom prst="roundRect">
            <a:avLst>
              <a:gd name="adj" fmla="val 18000"/>
            </a:avLst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98648" y="282549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5FD68A"/>
                </a:solidFill>
                <a:latin typeface="Consolas"/>
              </a:rPr>
              <a:t>47%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98648" y="457200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1.7B alone
7 of 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98648" y="504748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C2C6BC"/>
                </a:solidFill>
                <a:latin typeface="Consolas"/>
              </a:rPr>
              <a:t>8.6 tok/s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18888" y="3154680"/>
            <a:ext cx="1371600" cy="1325880"/>
          </a:xfrm>
          <a:prstGeom prst="roundRect">
            <a:avLst>
              <a:gd name="adj" fmla="val 18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18888" y="282549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A78BFA"/>
                </a:solidFill>
                <a:latin typeface="Consolas"/>
              </a:rPr>
              <a:t>47%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18888" y="457200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1.7B split
7 of 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18888" y="504748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C2C6BC"/>
                </a:solidFill>
                <a:latin typeface="Consolas"/>
              </a:rPr>
              <a:t>7.4 tok/s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80018" y="2377440"/>
            <a:ext cx="4744748" cy="3017520"/>
          </a:xfrm>
          <a:prstGeom prst="roundRect">
            <a:avLst>
              <a:gd name="adj" fmla="val 4000"/>
            </a:avLst>
          </a:prstGeom>
          <a:solidFill>
            <a:srgbClr val="141612"/>
          </a:solidFill>
          <a:ln w="9525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54338" y="2615184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WHAT THIS SHOWS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54338" y="3108960"/>
            <a:ext cx="118872" cy="19050"/>
          </a:xfrm>
          <a:prstGeom prst="rect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92082" y="3017520"/>
            <a:ext cx="39583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F0EFE9"/>
                </a:solidFill>
                <a:latin typeface="Segoe UI"/>
              </a:rPr>
              <a:t>A bigger model is three times better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4338" y="3656293"/>
            <a:ext cx="118872" cy="19050"/>
          </a:xfrm>
          <a:prstGeom prst="rect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92082" y="3564853"/>
            <a:ext cx="39583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F0EFE9"/>
                </a:solidFill>
                <a:latin typeface="Segoe UI"/>
              </a:rPr>
              <a:t>Splitting costs a little speed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54338" y="4203626"/>
            <a:ext cx="118872" cy="19050"/>
          </a:xfrm>
          <a:prstGeom prst="rect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92082" y="4112186"/>
            <a:ext cx="39583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F0EFE9"/>
                </a:solidFill>
                <a:latin typeface="Segoe UI"/>
              </a:rPr>
              <a:t>Splitting does not change the answers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54338" y="4983480"/>
            <a:ext cx="41961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5FD68A"/>
                </a:solidFill>
                <a:latin typeface="Segoe UI"/>
              </a:rPr>
              <a:t>Speed drops a little. Accuracy jumps a lot.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29107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MeshAI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72607" y="6291072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one button in the app runs this · results/REPORT.md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17781" y="409941"/>
            <a:ext cx="113155" cy="102123"/>
          </a:xfrm>
          <a:custGeom>
            <a:avLst/>
            <a:gdLst/>
            <a:ahLst/>
            <a:cxnLst/>
            <a:rect l="l" t="t" r="r" b="b"/>
            <a:pathLst>
              <a:path w="113155" h="102123">
                <a:moveTo>
                  <a:pt x="113155" y="102123"/>
                </a:moveTo>
                <a:lnTo>
                  <a:pt x="45262" y="0"/>
                </a:lnTo>
                <a:lnTo>
                  <a:pt x="0" y="29938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65697" y="451479"/>
            <a:ext cx="165239" cy="60585"/>
          </a:xfrm>
          <a:custGeom>
            <a:avLst/>
            <a:gdLst/>
            <a:ahLst/>
            <a:cxnLst/>
            <a:rect l="l" t="t" r="r" b="b"/>
            <a:pathLst>
              <a:path w="165239" h="60585">
                <a:moveTo>
                  <a:pt x="165239" y="60585"/>
                </a:moveTo>
                <a:lnTo>
                  <a:pt x="66095" y="0"/>
                </a:lnTo>
                <a:lnTo>
                  <a:pt x="0" y="54861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67658" y="500496"/>
            <a:ext cx="163278" cy="84270"/>
          </a:xfrm>
          <a:custGeom>
            <a:avLst/>
            <a:gdLst/>
            <a:ahLst/>
            <a:cxnLst/>
            <a:rect l="l" t="t" r="r" b="b"/>
            <a:pathLst>
              <a:path w="163278" h="84270">
                <a:moveTo>
                  <a:pt x="163278" y="11568"/>
                </a:moveTo>
                <a:lnTo>
                  <a:pt x="65311" y="0"/>
                </a:lnTo>
                <a:lnTo>
                  <a:pt x="0" y="84270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23023" y="512064"/>
            <a:ext cx="107913" cy="137444"/>
          </a:xfrm>
          <a:custGeom>
            <a:avLst/>
            <a:gdLst/>
            <a:ahLst/>
            <a:cxnLst/>
            <a:rect l="l" t="t" r="r" b="b"/>
            <a:pathLst>
              <a:path w="107913" h="137444">
                <a:moveTo>
                  <a:pt x="107913" y="0"/>
                </a:moveTo>
                <a:lnTo>
                  <a:pt x="43165" y="28895"/>
                </a:lnTo>
                <a:lnTo>
                  <a:pt x="0" y="137444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30936" y="409941"/>
            <a:ext cx="113154" cy="102123"/>
          </a:xfrm>
          <a:custGeom>
            <a:avLst/>
            <a:gdLst/>
            <a:ahLst/>
            <a:cxnLst/>
            <a:rect l="l" t="t" r="r" b="b"/>
            <a:pathLst>
              <a:path w="113154" h="102123">
                <a:moveTo>
                  <a:pt x="0" y="102123"/>
                </a:moveTo>
                <a:lnTo>
                  <a:pt x="67892" y="0"/>
                </a:lnTo>
                <a:lnTo>
                  <a:pt x="113154" y="29938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630936" y="451479"/>
            <a:ext cx="165238" cy="60585"/>
          </a:xfrm>
          <a:custGeom>
            <a:avLst/>
            <a:gdLst/>
            <a:ahLst/>
            <a:cxnLst/>
            <a:rect l="l" t="t" r="r" b="b"/>
            <a:pathLst>
              <a:path w="165238" h="60585">
                <a:moveTo>
                  <a:pt x="0" y="60585"/>
                </a:moveTo>
                <a:lnTo>
                  <a:pt x="99143" y="0"/>
                </a:lnTo>
                <a:lnTo>
                  <a:pt x="165238" y="54861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630936" y="500496"/>
            <a:ext cx="163277" cy="84270"/>
          </a:xfrm>
          <a:custGeom>
            <a:avLst/>
            <a:gdLst/>
            <a:ahLst/>
            <a:cxnLst/>
            <a:rect l="l" t="t" r="r" b="b"/>
            <a:pathLst>
              <a:path w="163277" h="84270">
                <a:moveTo>
                  <a:pt x="0" y="11568"/>
                </a:moveTo>
                <a:lnTo>
                  <a:pt x="97966" y="0"/>
                </a:lnTo>
                <a:lnTo>
                  <a:pt x="163277" y="84270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630936" y="512064"/>
            <a:ext cx="107912" cy="137444"/>
          </a:xfrm>
          <a:custGeom>
            <a:avLst/>
            <a:gdLst/>
            <a:ahLst/>
            <a:cxnLst/>
            <a:rect l="l" t="t" r="r" b="b"/>
            <a:pathLst>
              <a:path w="107912" h="137444">
                <a:moveTo>
                  <a:pt x="0" y="0"/>
                </a:moveTo>
                <a:lnTo>
                  <a:pt x="64747" y="28895"/>
                </a:lnTo>
                <a:lnTo>
                  <a:pt x="107912" y="137444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2643" y="481203"/>
            <a:ext cx="116586" cy="116586"/>
          </a:xfrm>
          <a:prstGeom prst="ellipse">
            <a:avLst/>
          </a:prstGeom>
          <a:solidFill>
            <a:srgbClr val="969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5274" y="424967"/>
            <a:ext cx="71323" cy="71323"/>
          </a:xfrm>
          <a:prstGeom prst="ellipse">
            <a:avLst/>
          </a:prstGeom>
          <a:solidFill>
            <a:srgbClr val="969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42062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08 · LITERATURE SURVEY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F0EFE9"/>
                </a:solidFill>
                <a:latin typeface="Segoe UI"/>
              </a:rPr>
              <a:t>Nobody else pools phone memory.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1389888"/>
            <a:ext cx="11057839" cy="9525"/>
          </a:xfrm>
          <a:prstGeom prst="rect">
            <a:avLst/>
          </a:prstGeom>
          <a:solidFill>
            <a:srgbClr val="2A2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166420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69C90"/>
                </a:solidFill>
                <a:latin typeface="Consolas"/>
              </a:rPr>
              <a:t>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66420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69C90"/>
                </a:solidFill>
                <a:latin typeface="Consolas"/>
              </a:rPr>
              <a:t>WHAT IT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8" y="166420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69C90"/>
                </a:solidFill>
                <a:latin typeface="Consolas"/>
              </a:rPr>
              <a:t>WHY IT IS NOT THIS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02996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0EFE9"/>
                </a:solidFill>
                <a:latin typeface="Segoe UI"/>
              </a:rPr>
              <a:t>Petals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240280"/>
            <a:ext cx="2651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969C90"/>
                </a:solidFill>
                <a:latin typeface="Consolas"/>
              </a:rPr>
              <a:t>arXiv 2209.01188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1568" y="2029968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2C6BC"/>
                </a:solidFill>
                <a:latin typeface="Segoe UI"/>
              </a:rPr>
              <a:t>A public swarm of volunteer servers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82128" y="202996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2C6BC"/>
                </a:solidFill>
                <a:latin typeface="Segoe UI"/>
              </a:rPr>
              <a:t>0.83 words a second, across continents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48716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0EFE9"/>
                </a:solidFill>
                <a:latin typeface="Segoe UI"/>
              </a:rPr>
              <a:t>prima.cpp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2697480"/>
            <a:ext cx="2651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969C90"/>
                </a:solidFill>
                <a:latin typeface="Consolas"/>
              </a:rPr>
              <a:t>arXiv 2504.08791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1568" y="2487168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2C6BC"/>
                </a:solidFill>
                <a:latin typeface="Segoe UI"/>
              </a:rPr>
              <a:t>Splits a model across a home cluster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82128" y="248716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2C6BC"/>
                </a:solidFill>
                <a:latin typeface="Segoe UI"/>
              </a:rPr>
              <a:t>Leaves phones out on purpose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294436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0EFE9"/>
                </a:solidFill>
                <a:latin typeface="Segoe UI"/>
              </a:rPr>
              <a:t>EdgeShard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154680"/>
            <a:ext cx="2651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969C90"/>
                </a:solidFill>
                <a:latin typeface="Consolas"/>
              </a:rPr>
              <a:t>arXiv 2405.14371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01568" y="2944368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2C6BC"/>
                </a:solidFill>
                <a:latin typeface="Segoe UI"/>
              </a:rPr>
              <a:t>Splits across edge devices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2128" y="294436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2C6BC"/>
                </a:solidFill>
                <a:latin typeface="Segoe UI"/>
              </a:rPr>
              <a:t>Jetsons and servers, not phones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40156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0EFE9"/>
                </a:solidFill>
                <a:latin typeface="Segoe UI"/>
              </a:rPr>
              <a:t>exo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3611880"/>
            <a:ext cx="2651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969C90"/>
                </a:solidFill>
                <a:latin typeface="Consolas"/>
              </a:rPr>
              <a:t>github, 47k stars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01568" y="3401568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2C6BC"/>
                </a:solidFill>
                <a:latin typeface="Segoe UI"/>
              </a:rPr>
              <a:t>Splits across your Macs and Linux boxes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82128" y="340156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2C6BC"/>
                </a:solidFill>
                <a:latin typeface="Segoe UI"/>
              </a:rPr>
              <a:t>A phone is not a real device in 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385876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0EFE9"/>
                </a:solidFill>
                <a:latin typeface="Segoe UI"/>
              </a:rPr>
              <a:t>Darkbloom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4069080"/>
            <a:ext cx="2651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969C90"/>
                </a:solidFill>
                <a:latin typeface="Consolas"/>
              </a:rPr>
              <a:t>Eigen Labs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01568" y="3858768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2C6BC"/>
                </a:solidFill>
                <a:latin typeface="Segoe UI"/>
              </a:rPr>
              <a:t>Rents idle Macs and pays the owners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82128" y="385876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2C6BC"/>
                </a:solidFill>
                <a:latin typeface="Segoe UI"/>
              </a:rPr>
              <a:t>One whole model per Mac. Never a phone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431596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0EFE9"/>
                </a:solidFill>
                <a:latin typeface="Segoe UI"/>
              </a:rPr>
              <a:t>llama.cpp RPC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526280"/>
            <a:ext cx="2651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969C90"/>
                </a:solidFill>
                <a:latin typeface="Consolas"/>
              </a:rPr>
              <a:t>we build on 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01568" y="4315968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2C6BC"/>
                </a:solidFill>
                <a:latin typeface="Segoe UI"/>
              </a:rPr>
              <a:t>Runs layers on another machine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82128" y="431596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2C6BC"/>
                </a:solidFill>
                <a:latin typeface="Segoe UI"/>
              </a:rPr>
              <a:t>You type the split by hand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477316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0EFE9"/>
                </a:solidFill>
                <a:latin typeface="Segoe UI"/>
              </a:rPr>
              <a:t>Ollama, LM Studio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4983480"/>
            <a:ext cx="2651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969C90"/>
                </a:solidFill>
                <a:latin typeface="Consolas"/>
              </a:rPr>
              <a:t>and the rest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01568" y="4773168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2C6BC"/>
                </a:solidFill>
                <a:latin typeface="Segoe UI"/>
              </a:rPr>
              <a:t>Great on one machine, one model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82128" y="477316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2C6BC"/>
                </a:solidFill>
                <a:latin typeface="Segoe UI"/>
              </a:rPr>
              <a:t>If it does not fit, you cannot run it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8912" y="5340096"/>
            <a:ext cx="11313871" cy="566928"/>
          </a:xfrm>
          <a:prstGeom prst="roundRect">
            <a:avLst>
              <a:gd name="adj" fmla="val 4000"/>
            </a:avLst>
          </a:prstGeom>
          <a:solidFill>
            <a:srgbClr val="142E20"/>
          </a:solidFill>
          <a:ln w="9525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" y="54864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FD68A"/>
                </a:solidFill>
                <a:latin typeface="Segoe UI"/>
              </a:rPr>
              <a:t>MeshAI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01568" y="549554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0EFE9"/>
                </a:solidFill>
                <a:latin typeface="Segoe UI"/>
              </a:rPr>
              <a:t>Phones and laptops together. It decides who holds what, and says no when it should.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629107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MeshAI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72607" y="6291072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a search of arXiv for multi-phone inference returns nothing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9997189" y="5074920"/>
            <a:ext cx="2286000" cy="0"/>
          </a:xfrm>
          <a:custGeom>
            <a:avLst/>
            <a:gdLst/>
            <a:ahLst/>
            <a:cxnLst/>
            <a:rect l="l" t="t" r="r" b="b"/>
            <a:pathLst>
              <a:path w="2286000" h="0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9997189" y="5074920"/>
            <a:ext cx="1979734" cy="1143000"/>
          </a:xfrm>
          <a:custGeom>
            <a:avLst/>
            <a:gdLst/>
            <a:ahLst/>
            <a:cxnLst/>
            <a:rect l="l" t="t" r="r" b="b"/>
            <a:pathLst>
              <a:path w="1979734" h="1143000">
                <a:moveTo>
                  <a:pt x="0" y="0"/>
                </a:moveTo>
                <a:lnTo>
                  <a:pt x="1979734" y="114300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9997189" y="5074920"/>
            <a:ext cx="1143000" cy="1979734"/>
          </a:xfrm>
          <a:custGeom>
            <a:avLst/>
            <a:gdLst/>
            <a:ahLst/>
            <a:cxnLst/>
            <a:rect l="l" t="t" r="r" b="b"/>
            <a:pathLst>
              <a:path w="1143000" h="1979734">
                <a:moveTo>
                  <a:pt x="0" y="0"/>
                </a:moveTo>
                <a:lnTo>
                  <a:pt x="1143000" y="1979734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9997189" y="5074920"/>
            <a:ext cx="0" cy="2286000"/>
          </a:xfrm>
          <a:custGeom>
            <a:avLst/>
            <a:gdLst/>
            <a:ahLst/>
            <a:cxnLst/>
            <a:rect l="l" t="t" r="r" b="b"/>
            <a:pathLst>
              <a:path w="0" h="2286000">
                <a:moveTo>
                  <a:pt x="0" y="0"/>
                </a:moveTo>
                <a:lnTo>
                  <a:pt x="0" y="228600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8854189" y="5074920"/>
            <a:ext cx="1143000" cy="1979734"/>
          </a:xfrm>
          <a:custGeom>
            <a:avLst/>
            <a:gdLst/>
            <a:ahLst/>
            <a:cxnLst/>
            <a:rect l="l" t="t" r="r" b="b"/>
            <a:pathLst>
              <a:path w="1143000" h="1979734">
                <a:moveTo>
                  <a:pt x="1143000" y="0"/>
                </a:moveTo>
                <a:lnTo>
                  <a:pt x="0" y="1979734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8017454" y="5074920"/>
            <a:ext cx="1979735" cy="1143000"/>
          </a:xfrm>
          <a:custGeom>
            <a:avLst/>
            <a:gdLst/>
            <a:ahLst/>
            <a:cxnLst/>
            <a:rect l="l" t="t" r="r" b="b"/>
            <a:pathLst>
              <a:path w="1979735" h="1143000">
                <a:moveTo>
                  <a:pt x="1979735" y="0"/>
                </a:moveTo>
                <a:lnTo>
                  <a:pt x="0" y="114300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7711189" y="5074920"/>
            <a:ext cx="2286000" cy="0"/>
          </a:xfrm>
          <a:custGeom>
            <a:avLst/>
            <a:gdLst/>
            <a:ahLst/>
            <a:cxnLst/>
            <a:rect l="l" t="t" r="r" b="b"/>
            <a:pathLst>
              <a:path w="2286000" h="0">
                <a:moveTo>
                  <a:pt x="2286000" y="0"/>
                </a:moveTo>
                <a:lnTo>
                  <a:pt x="0" y="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8017454" y="3931920"/>
            <a:ext cx="1979735" cy="1143000"/>
          </a:xfrm>
          <a:custGeom>
            <a:avLst/>
            <a:gdLst/>
            <a:ahLst/>
            <a:cxnLst/>
            <a:rect l="l" t="t" r="r" b="b"/>
            <a:pathLst>
              <a:path w="1979735" h="1143000">
                <a:moveTo>
                  <a:pt x="1979735" y="1143000"/>
                </a:moveTo>
                <a:lnTo>
                  <a:pt x="0" y="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8854189" y="3095185"/>
            <a:ext cx="1143000" cy="1979735"/>
          </a:xfrm>
          <a:custGeom>
            <a:avLst/>
            <a:gdLst/>
            <a:ahLst/>
            <a:cxnLst/>
            <a:rect l="l" t="t" r="r" b="b"/>
            <a:pathLst>
              <a:path w="1143000" h="1979735">
                <a:moveTo>
                  <a:pt x="1143000" y="1979735"/>
                </a:moveTo>
                <a:lnTo>
                  <a:pt x="0" y="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997189" y="2788920"/>
            <a:ext cx="0" cy="2286000"/>
          </a:xfrm>
          <a:custGeom>
            <a:avLst/>
            <a:gdLst/>
            <a:ahLst/>
            <a:cxnLst/>
            <a:rect l="l" t="t" r="r" b="b"/>
            <a:pathLst>
              <a:path w="0" h="2286000">
                <a:moveTo>
                  <a:pt x="0" y="2286000"/>
                </a:moveTo>
                <a:lnTo>
                  <a:pt x="0" y="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997189" y="3095185"/>
            <a:ext cx="1143000" cy="1979735"/>
          </a:xfrm>
          <a:custGeom>
            <a:avLst/>
            <a:gdLst/>
            <a:ahLst/>
            <a:cxnLst/>
            <a:rect l="l" t="t" r="r" b="b"/>
            <a:pathLst>
              <a:path w="1143000" h="1979735">
                <a:moveTo>
                  <a:pt x="0" y="1979735"/>
                </a:moveTo>
                <a:lnTo>
                  <a:pt x="1143000" y="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997189" y="3931919"/>
            <a:ext cx="1979734" cy="1143001"/>
          </a:xfrm>
          <a:custGeom>
            <a:avLst/>
            <a:gdLst/>
            <a:ahLst/>
            <a:cxnLst/>
            <a:rect l="l" t="t" r="r" b="b"/>
            <a:pathLst>
              <a:path w="1979734" h="1143001">
                <a:moveTo>
                  <a:pt x="0" y="1143001"/>
                </a:moveTo>
                <a:lnTo>
                  <a:pt x="1979734" y="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9425689" y="4503420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1143000" y="571500"/>
                </a:moveTo>
                <a:lnTo>
                  <a:pt x="1066433" y="857250"/>
                </a:lnTo>
                <a:lnTo>
                  <a:pt x="857250" y="1066433"/>
                </a:lnTo>
                <a:lnTo>
                  <a:pt x="571500" y="1143000"/>
                </a:lnTo>
                <a:lnTo>
                  <a:pt x="285750" y="1066433"/>
                </a:lnTo>
                <a:lnTo>
                  <a:pt x="76566" y="857250"/>
                </a:lnTo>
                <a:lnTo>
                  <a:pt x="0" y="571500"/>
                </a:lnTo>
                <a:lnTo>
                  <a:pt x="76566" y="285750"/>
                </a:lnTo>
                <a:lnTo>
                  <a:pt x="285750" y="76566"/>
                </a:lnTo>
                <a:lnTo>
                  <a:pt x="571500" y="0"/>
                </a:lnTo>
                <a:lnTo>
                  <a:pt x="857250" y="76566"/>
                </a:lnTo>
                <a:lnTo>
                  <a:pt x="1066433" y="285750"/>
                </a:lnTo>
                <a:lnTo>
                  <a:pt x="1143000" y="571500"/>
                </a:lnTo>
                <a:close/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8854189" y="3931920"/>
            <a:ext cx="2286000" cy="2286000"/>
          </a:xfrm>
          <a:custGeom>
            <a:avLst/>
            <a:gdLst/>
            <a:ahLst/>
            <a:cxnLst/>
            <a:rect l="l" t="t" r="r" b="b"/>
            <a:pathLst>
              <a:path w="2286000" h="2286000">
                <a:moveTo>
                  <a:pt x="2286000" y="1143000"/>
                </a:moveTo>
                <a:lnTo>
                  <a:pt x="2132867" y="1714500"/>
                </a:lnTo>
                <a:lnTo>
                  <a:pt x="1714500" y="2132867"/>
                </a:lnTo>
                <a:lnTo>
                  <a:pt x="1143000" y="2286000"/>
                </a:lnTo>
                <a:lnTo>
                  <a:pt x="571500" y="2132867"/>
                </a:lnTo>
                <a:lnTo>
                  <a:pt x="153132" y="1714500"/>
                </a:lnTo>
                <a:lnTo>
                  <a:pt x="0" y="1143000"/>
                </a:lnTo>
                <a:lnTo>
                  <a:pt x="153132" y="571500"/>
                </a:lnTo>
                <a:lnTo>
                  <a:pt x="571500" y="153132"/>
                </a:lnTo>
                <a:lnTo>
                  <a:pt x="1143000" y="0"/>
                </a:lnTo>
                <a:lnTo>
                  <a:pt x="1714500" y="153132"/>
                </a:lnTo>
                <a:lnTo>
                  <a:pt x="2132867" y="571500"/>
                </a:lnTo>
                <a:lnTo>
                  <a:pt x="2286000" y="1143000"/>
                </a:lnTo>
                <a:close/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8282689" y="336042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3429000" h="3429000">
                <a:moveTo>
                  <a:pt x="3429000" y="1714500"/>
                </a:moveTo>
                <a:lnTo>
                  <a:pt x="3199300" y="2571750"/>
                </a:lnTo>
                <a:lnTo>
                  <a:pt x="2571750" y="3199300"/>
                </a:lnTo>
                <a:lnTo>
                  <a:pt x="1714500" y="3429000"/>
                </a:lnTo>
                <a:lnTo>
                  <a:pt x="857250" y="3199300"/>
                </a:lnTo>
                <a:lnTo>
                  <a:pt x="229699" y="2571750"/>
                </a:lnTo>
                <a:lnTo>
                  <a:pt x="0" y="1714500"/>
                </a:lnTo>
                <a:lnTo>
                  <a:pt x="229699" y="857250"/>
                </a:lnTo>
                <a:lnTo>
                  <a:pt x="857250" y="229699"/>
                </a:lnTo>
                <a:lnTo>
                  <a:pt x="1714500" y="0"/>
                </a:lnTo>
                <a:lnTo>
                  <a:pt x="2571750" y="229699"/>
                </a:lnTo>
                <a:lnTo>
                  <a:pt x="3199300" y="857249"/>
                </a:lnTo>
                <a:lnTo>
                  <a:pt x="3429000" y="1714500"/>
                </a:lnTo>
                <a:close/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7711189" y="2788920"/>
            <a:ext cx="4572000" cy="4572000"/>
          </a:xfrm>
          <a:custGeom>
            <a:avLst/>
            <a:gdLst/>
            <a:ahLst/>
            <a:cxnLst/>
            <a:rect l="l" t="t" r="r" b="b"/>
            <a:pathLst>
              <a:path w="4572000" h="4572000">
                <a:moveTo>
                  <a:pt x="4572000" y="2286000"/>
                </a:moveTo>
                <a:lnTo>
                  <a:pt x="4265734" y="3429000"/>
                </a:lnTo>
                <a:lnTo>
                  <a:pt x="3429000" y="4265734"/>
                </a:lnTo>
                <a:lnTo>
                  <a:pt x="2286000" y="4572000"/>
                </a:lnTo>
                <a:lnTo>
                  <a:pt x="1143000" y="4265734"/>
                </a:lnTo>
                <a:lnTo>
                  <a:pt x="306265" y="3429000"/>
                </a:lnTo>
                <a:lnTo>
                  <a:pt x="0" y="2286000"/>
                </a:lnTo>
                <a:lnTo>
                  <a:pt x="306265" y="1143000"/>
                </a:lnTo>
                <a:lnTo>
                  <a:pt x="1143000" y="306265"/>
                </a:lnTo>
                <a:lnTo>
                  <a:pt x="2286000" y="0"/>
                </a:lnTo>
                <a:lnTo>
                  <a:pt x="3429000" y="306265"/>
                </a:lnTo>
                <a:lnTo>
                  <a:pt x="4265734" y="1142999"/>
                </a:lnTo>
                <a:lnTo>
                  <a:pt x="4572000" y="2285999"/>
                </a:lnTo>
                <a:close/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9574746" y="4693662"/>
            <a:ext cx="422443" cy="381258"/>
          </a:xfrm>
          <a:custGeom>
            <a:avLst/>
            <a:gdLst/>
            <a:ahLst/>
            <a:cxnLst/>
            <a:rect l="l" t="t" r="r" b="b"/>
            <a:pathLst>
              <a:path w="422443" h="381258">
                <a:moveTo>
                  <a:pt x="422443" y="381258"/>
                </a:moveTo>
                <a:lnTo>
                  <a:pt x="168977" y="0"/>
                </a:lnTo>
                <a:lnTo>
                  <a:pt x="0" y="111768"/>
                </a:lnTo>
              </a:path>
            </a:pathLst>
          </a:custGeom>
          <a:noFill/>
          <a:ln w="19050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380298" y="4848737"/>
            <a:ext cx="616891" cy="226183"/>
          </a:xfrm>
          <a:custGeom>
            <a:avLst/>
            <a:gdLst/>
            <a:ahLst/>
            <a:cxnLst/>
            <a:rect l="l" t="t" r="r" b="b"/>
            <a:pathLst>
              <a:path w="616891" h="226183">
                <a:moveTo>
                  <a:pt x="616891" y="226183"/>
                </a:moveTo>
                <a:lnTo>
                  <a:pt x="246756" y="0"/>
                </a:lnTo>
                <a:lnTo>
                  <a:pt x="0" y="204813"/>
                </a:lnTo>
              </a:path>
            </a:pathLst>
          </a:custGeom>
          <a:noFill/>
          <a:ln w="19050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9387619" y="5031733"/>
            <a:ext cx="609570" cy="314610"/>
          </a:xfrm>
          <a:custGeom>
            <a:avLst/>
            <a:gdLst/>
            <a:ahLst/>
            <a:cxnLst/>
            <a:rect l="l" t="t" r="r" b="b"/>
            <a:pathLst>
              <a:path w="609570" h="314610">
                <a:moveTo>
                  <a:pt x="609570" y="43187"/>
                </a:moveTo>
                <a:lnTo>
                  <a:pt x="243828" y="0"/>
                </a:lnTo>
                <a:lnTo>
                  <a:pt x="0" y="314610"/>
                </a:lnTo>
              </a:path>
            </a:pathLst>
          </a:custGeom>
          <a:noFill/>
          <a:ln w="19050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9594314" y="5074920"/>
            <a:ext cx="402875" cy="513124"/>
          </a:xfrm>
          <a:custGeom>
            <a:avLst/>
            <a:gdLst/>
            <a:ahLst/>
            <a:cxnLst/>
            <a:rect l="l" t="t" r="r" b="b"/>
            <a:pathLst>
              <a:path w="402875" h="513124">
                <a:moveTo>
                  <a:pt x="402875" y="0"/>
                </a:moveTo>
                <a:lnTo>
                  <a:pt x="161150" y="107876"/>
                </a:lnTo>
                <a:lnTo>
                  <a:pt x="0" y="513124"/>
                </a:lnTo>
              </a:path>
            </a:pathLst>
          </a:custGeom>
          <a:noFill/>
          <a:ln w="19050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9997189" y="4693662"/>
            <a:ext cx="422442" cy="381258"/>
          </a:xfrm>
          <a:custGeom>
            <a:avLst/>
            <a:gdLst/>
            <a:ahLst/>
            <a:cxnLst/>
            <a:rect l="l" t="t" r="r" b="b"/>
            <a:pathLst>
              <a:path w="422442" h="381258">
                <a:moveTo>
                  <a:pt x="0" y="381258"/>
                </a:moveTo>
                <a:lnTo>
                  <a:pt x="253465" y="0"/>
                </a:lnTo>
                <a:lnTo>
                  <a:pt x="422442" y="111768"/>
                </a:lnTo>
              </a:path>
            </a:pathLst>
          </a:custGeom>
          <a:noFill/>
          <a:ln w="19050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9997189" y="4848737"/>
            <a:ext cx="616890" cy="226183"/>
          </a:xfrm>
          <a:custGeom>
            <a:avLst/>
            <a:gdLst/>
            <a:ahLst/>
            <a:cxnLst/>
            <a:rect l="l" t="t" r="r" b="b"/>
            <a:pathLst>
              <a:path w="616890" h="226183">
                <a:moveTo>
                  <a:pt x="0" y="226183"/>
                </a:moveTo>
                <a:lnTo>
                  <a:pt x="370134" y="0"/>
                </a:lnTo>
                <a:lnTo>
                  <a:pt x="616890" y="204813"/>
                </a:lnTo>
              </a:path>
            </a:pathLst>
          </a:custGeom>
          <a:noFill/>
          <a:ln w="19050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9997189" y="5031733"/>
            <a:ext cx="609569" cy="314610"/>
          </a:xfrm>
          <a:custGeom>
            <a:avLst/>
            <a:gdLst/>
            <a:ahLst/>
            <a:cxnLst/>
            <a:rect l="l" t="t" r="r" b="b"/>
            <a:pathLst>
              <a:path w="609569" h="314610">
                <a:moveTo>
                  <a:pt x="0" y="43187"/>
                </a:moveTo>
                <a:lnTo>
                  <a:pt x="365741" y="0"/>
                </a:lnTo>
                <a:lnTo>
                  <a:pt x="609569" y="314610"/>
                </a:lnTo>
              </a:path>
            </a:pathLst>
          </a:custGeom>
          <a:noFill/>
          <a:ln w="19050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97189" y="5074920"/>
            <a:ext cx="402874" cy="513124"/>
          </a:xfrm>
          <a:custGeom>
            <a:avLst/>
            <a:gdLst/>
            <a:ahLst/>
            <a:cxnLst/>
            <a:rect l="l" t="t" r="r" b="b"/>
            <a:pathLst>
              <a:path w="402874" h="513124">
                <a:moveTo>
                  <a:pt x="0" y="0"/>
                </a:moveTo>
                <a:lnTo>
                  <a:pt x="241724" y="107876"/>
                </a:lnTo>
                <a:lnTo>
                  <a:pt x="402874" y="513124"/>
                </a:lnTo>
              </a:path>
            </a:pathLst>
          </a:custGeom>
          <a:noFill/>
          <a:ln w="19050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779561" y="4959705"/>
            <a:ext cx="435254" cy="435254"/>
          </a:xfrm>
          <a:prstGeom prst="ellipse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864052" y="4749759"/>
            <a:ext cx="266273" cy="266273"/>
          </a:xfrm>
          <a:prstGeom prst="ellipse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2194560"/>
            <a:ext cx="87782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400" b="1">
                <a:solidFill>
                  <a:srgbClr val="F0EFE9"/>
                </a:solidFill>
                <a:latin typeface="Segoe UI"/>
              </a:rPr>
              <a:t>Who pays for this,
and what are they buying?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17781" y="409941"/>
            <a:ext cx="113155" cy="102123"/>
          </a:xfrm>
          <a:custGeom>
            <a:avLst/>
            <a:gdLst/>
            <a:ahLst/>
            <a:cxnLst/>
            <a:rect l="l" t="t" r="r" b="b"/>
            <a:pathLst>
              <a:path w="113155" h="102123">
                <a:moveTo>
                  <a:pt x="113155" y="102123"/>
                </a:moveTo>
                <a:lnTo>
                  <a:pt x="45262" y="0"/>
                </a:lnTo>
                <a:lnTo>
                  <a:pt x="0" y="29938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65697" y="451479"/>
            <a:ext cx="165239" cy="60585"/>
          </a:xfrm>
          <a:custGeom>
            <a:avLst/>
            <a:gdLst/>
            <a:ahLst/>
            <a:cxnLst/>
            <a:rect l="l" t="t" r="r" b="b"/>
            <a:pathLst>
              <a:path w="165239" h="60585">
                <a:moveTo>
                  <a:pt x="165239" y="60585"/>
                </a:moveTo>
                <a:lnTo>
                  <a:pt x="66095" y="0"/>
                </a:lnTo>
                <a:lnTo>
                  <a:pt x="0" y="54861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67658" y="500496"/>
            <a:ext cx="163278" cy="84270"/>
          </a:xfrm>
          <a:custGeom>
            <a:avLst/>
            <a:gdLst/>
            <a:ahLst/>
            <a:cxnLst/>
            <a:rect l="l" t="t" r="r" b="b"/>
            <a:pathLst>
              <a:path w="163278" h="84270">
                <a:moveTo>
                  <a:pt x="163278" y="11568"/>
                </a:moveTo>
                <a:lnTo>
                  <a:pt x="65311" y="0"/>
                </a:lnTo>
                <a:lnTo>
                  <a:pt x="0" y="84270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23023" y="512064"/>
            <a:ext cx="107913" cy="137444"/>
          </a:xfrm>
          <a:custGeom>
            <a:avLst/>
            <a:gdLst/>
            <a:ahLst/>
            <a:cxnLst/>
            <a:rect l="l" t="t" r="r" b="b"/>
            <a:pathLst>
              <a:path w="107913" h="137444">
                <a:moveTo>
                  <a:pt x="107913" y="0"/>
                </a:moveTo>
                <a:lnTo>
                  <a:pt x="43165" y="28895"/>
                </a:lnTo>
                <a:lnTo>
                  <a:pt x="0" y="137444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30936" y="409941"/>
            <a:ext cx="113154" cy="102123"/>
          </a:xfrm>
          <a:custGeom>
            <a:avLst/>
            <a:gdLst/>
            <a:ahLst/>
            <a:cxnLst/>
            <a:rect l="l" t="t" r="r" b="b"/>
            <a:pathLst>
              <a:path w="113154" h="102123">
                <a:moveTo>
                  <a:pt x="0" y="102123"/>
                </a:moveTo>
                <a:lnTo>
                  <a:pt x="67892" y="0"/>
                </a:lnTo>
                <a:lnTo>
                  <a:pt x="113154" y="29938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630936" y="451479"/>
            <a:ext cx="165238" cy="60585"/>
          </a:xfrm>
          <a:custGeom>
            <a:avLst/>
            <a:gdLst/>
            <a:ahLst/>
            <a:cxnLst/>
            <a:rect l="l" t="t" r="r" b="b"/>
            <a:pathLst>
              <a:path w="165238" h="60585">
                <a:moveTo>
                  <a:pt x="0" y="60585"/>
                </a:moveTo>
                <a:lnTo>
                  <a:pt x="99143" y="0"/>
                </a:lnTo>
                <a:lnTo>
                  <a:pt x="165238" y="54861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630936" y="500496"/>
            <a:ext cx="163277" cy="84270"/>
          </a:xfrm>
          <a:custGeom>
            <a:avLst/>
            <a:gdLst/>
            <a:ahLst/>
            <a:cxnLst/>
            <a:rect l="l" t="t" r="r" b="b"/>
            <a:pathLst>
              <a:path w="163277" h="84270">
                <a:moveTo>
                  <a:pt x="0" y="11568"/>
                </a:moveTo>
                <a:lnTo>
                  <a:pt x="97966" y="0"/>
                </a:lnTo>
                <a:lnTo>
                  <a:pt x="163277" y="84270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630936" y="512064"/>
            <a:ext cx="107912" cy="137444"/>
          </a:xfrm>
          <a:custGeom>
            <a:avLst/>
            <a:gdLst/>
            <a:ahLst/>
            <a:cxnLst/>
            <a:rect l="l" t="t" r="r" b="b"/>
            <a:pathLst>
              <a:path w="107912" h="137444">
                <a:moveTo>
                  <a:pt x="0" y="0"/>
                </a:moveTo>
                <a:lnTo>
                  <a:pt x="64747" y="28895"/>
                </a:lnTo>
                <a:lnTo>
                  <a:pt x="107912" y="137444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2643" y="481203"/>
            <a:ext cx="116586" cy="116586"/>
          </a:xfrm>
          <a:prstGeom prst="ellipse">
            <a:avLst/>
          </a:prstGeom>
          <a:solidFill>
            <a:srgbClr val="969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5274" y="424967"/>
            <a:ext cx="71323" cy="71323"/>
          </a:xfrm>
          <a:prstGeom prst="ellipse">
            <a:avLst/>
          </a:prstGeom>
          <a:solidFill>
            <a:srgbClr val="969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42062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09 · THE BUSINESS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F0EFE9"/>
                </a:solidFill>
                <a:latin typeface="Segoe UI"/>
              </a:rPr>
              <a:t>We rent memory.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389888"/>
            <a:ext cx="8778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2C6BC"/>
                </a:solidFill>
                <a:latin typeface="Segoe UI"/>
              </a:rPr>
              <a:t>The models are open and free. What people do not have is the memory to hold them. A phone in a drawer is cheap memory.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103120"/>
            <a:ext cx="11057839" cy="9525"/>
          </a:xfrm>
          <a:prstGeom prst="rect">
            <a:avLst/>
          </a:prstGeom>
          <a:solidFill>
            <a:srgbClr val="2A2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2377440"/>
            <a:ext cx="3503066" cy="3108960"/>
          </a:xfrm>
          <a:prstGeom prst="roundRect">
            <a:avLst>
              <a:gd name="adj" fmla="val 4000"/>
            </a:avLst>
          </a:prstGeom>
          <a:solidFill>
            <a:srgbClr val="142E20"/>
          </a:solidFill>
          <a:ln w="9525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615184"/>
            <a:ext cx="299100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D68A"/>
                </a:solidFill>
                <a:latin typeface="Consolas"/>
              </a:rPr>
              <a:t>THE FLEET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926080"/>
            <a:ext cx="299100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F0EFE9"/>
                </a:solidFill>
                <a:latin typeface="Segoe UI"/>
              </a:rPr>
              <a:t>People give us a phone they no longer use. We keep it, and pay them.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840480"/>
            <a:ext cx="118872" cy="19050"/>
          </a:xfrm>
          <a:prstGeom prst="rect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749040"/>
            <a:ext cx="275325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F0EFE9"/>
                </a:solidFill>
                <a:latin typeface="Segoe UI"/>
              </a:rPr>
              <a:t>Racked and plugged in, in our hands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459659"/>
            <a:ext cx="118872" cy="19050"/>
          </a:xfrm>
          <a:prstGeom prst="rect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" y="4368219"/>
            <a:ext cx="275325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F0EFE9"/>
                </a:solidFill>
                <a:latin typeface="Segoe UI"/>
              </a:rPr>
              <a:t>No battery to ruin, no pocket to leave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078838"/>
            <a:ext cx="118872" cy="19050"/>
          </a:xfrm>
          <a:prstGeom prst="rect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0704" y="4987398"/>
            <a:ext cx="275325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F0EFE9"/>
                </a:solidFill>
                <a:latin typeface="Segoe UI"/>
              </a:rPr>
              <a:t>We buy no hardware. They earn from a drawer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074920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5FD68A"/>
                </a:solidFill>
                <a:latin typeface="Segoe UI"/>
              </a:rPr>
              <a:t>100 old phones is about 800 GB of memory.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4314" y="2377440"/>
            <a:ext cx="3503066" cy="3108960"/>
          </a:xfrm>
          <a:prstGeom prst="roundRect">
            <a:avLst>
              <a:gd name="adj" fmla="val 4000"/>
            </a:avLst>
          </a:prstGeom>
          <a:solidFill>
            <a:srgbClr val="141612"/>
          </a:solidFill>
          <a:ln w="9525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00346" y="2615184"/>
            <a:ext cx="299100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WHAT A CUSTOMER BUYS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00346" y="2926080"/>
            <a:ext cx="299100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F0EFE9"/>
                </a:solidFill>
                <a:latin typeface="Segoe UI"/>
              </a:rPr>
              <a:t>Enough memory to hold the model they want to run.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00346" y="37490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0EFE9"/>
                </a:solidFill>
                <a:latin typeface="Segoe UI"/>
              </a:rPr>
              <a:t>A 8B 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8794" y="3749040"/>
            <a:ext cx="167426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5FD68A"/>
                </a:solidFill>
                <a:latin typeface="Consolas"/>
              </a:rPr>
              <a:t>about 6 GB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00346" y="413308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0EFE9"/>
                </a:solidFill>
                <a:latin typeface="Segoe UI"/>
              </a:rPr>
              <a:t>A 20B 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8794" y="4133088"/>
            <a:ext cx="167426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5FD68A"/>
                </a:solidFill>
                <a:latin typeface="Consolas"/>
              </a:rPr>
              <a:t>about 13 GB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00346" y="451713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0EFE9"/>
                </a:solidFill>
                <a:latin typeface="Segoe UI"/>
              </a:rPr>
              <a:t>A 30B 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98794" y="4517136"/>
            <a:ext cx="167426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5FD68A"/>
                </a:solidFill>
                <a:latin typeface="Consolas"/>
              </a:rPr>
              <a:t>about 20 GB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00346" y="4901184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0EFE9"/>
                </a:solidFill>
                <a:latin typeface="Segoe UI"/>
              </a:rPr>
              <a:t>A 70B model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8794" y="4901184"/>
            <a:ext cx="167426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5FD68A"/>
                </a:solidFill>
                <a:latin typeface="Consolas"/>
              </a:rPr>
              <a:t>about 45 GB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00346" y="5257800"/>
            <a:ext cx="299100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2C6BC"/>
                </a:solidFill>
                <a:latin typeface="Segoe UI"/>
              </a:rPr>
              <a:t>Bigger model, more memory, higher tier.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21700" y="2377440"/>
            <a:ext cx="3503066" cy="3108960"/>
          </a:xfrm>
          <a:prstGeom prst="roundRect">
            <a:avLst>
              <a:gd name="adj" fmla="val 4000"/>
            </a:avLst>
          </a:prstGeom>
          <a:solidFill>
            <a:srgbClr val="141612"/>
          </a:solidFill>
          <a:ln w="9525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77732" y="2615184"/>
            <a:ext cx="299100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AND TWO MORE WAYS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77732" y="3017520"/>
            <a:ext cx="299100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0EFE9"/>
                </a:solidFill>
                <a:latin typeface="Segoe UI"/>
              </a:rPr>
              <a:t>Their own devices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77732" y="3310128"/>
            <a:ext cx="299100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C2C6BC"/>
                </a:solidFill>
                <a:latin typeface="Segoe UI"/>
              </a:rPr>
              <a:t>a lab or a campus turns its idle phones into a private cloud. Sold per site.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77732" y="4069079"/>
            <a:ext cx="299100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0EFE9"/>
                </a:solidFill>
                <a:latin typeface="Segoe UI"/>
              </a:rPr>
              <a:t>Licensed to a phone maker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77732" y="4361687"/>
            <a:ext cx="299100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C2C6BC"/>
                </a:solidFill>
                <a:latin typeface="Segoe UI"/>
              </a:rPr>
              <a:t>two phones are worth more together than apart, which is a reason to own the second.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77732" y="5166360"/>
            <a:ext cx="299100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5FD68A"/>
                </a:solidFill>
                <a:latin typeface="Segoe UI"/>
              </a:rPr>
              <a:t>That last buyer is in this room.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29107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MeshAI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72607" y="6291072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open models · the memory is the scarce part, and that is what we sell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17781" y="409941"/>
            <a:ext cx="113155" cy="102123"/>
          </a:xfrm>
          <a:custGeom>
            <a:avLst/>
            <a:gdLst/>
            <a:ahLst/>
            <a:cxnLst/>
            <a:rect l="l" t="t" r="r" b="b"/>
            <a:pathLst>
              <a:path w="113155" h="102123">
                <a:moveTo>
                  <a:pt x="113155" y="102123"/>
                </a:moveTo>
                <a:lnTo>
                  <a:pt x="45262" y="0"/>
                </a:lnTo>
                <a:lnTo>
                  <a:pt x="0" y="29938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65697" y="451479"/>
            <a:ext cx="165239" cy="60585"/>
          </a:xfrm>
          <a:custGeom>
            <a:avLst/>
            <a:gdLst/>
            <a:ahLst/>
            <a:cxnLst/>
            <a:rect l="l" t="t" r="r" b="b"/>
            <a:pathLst>
              <a:path w="165239" h="60585">
                <a:moveTo>
                  <a:pt x="165239" y="60585"/>
                </a:moveTo>
                <a:lnTo>
                  <a:pt x="66095" y="0"/>
                </a:lnTo>
                <a:lnTo>
                  <a:pt x="0" y="54861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67658" y="500496"/>
            <a:ext cx="163278" cy="84270"/>
          </a:xfrm>
          <a:custGeom>
            <a:avLst/>
            <a:gdLst/>
            <a:ahLst/>
            <a:cxnLst/>
            <a:rect l="l" t="t" r="r" b="b"/>
            <a:pathLst>
              <a:path w="163278" h="84270">
                <a:moveTo>
                  <a:pt x="163278" y="11568"/>
                </a:moveTo>
                <a:lnTo>
                  <a:pt x="65311" y="0"/>
                </a:lnTo>
                <a:lnTo>
                  <a:pt x="0" y="84270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23023" y="512064"/>
            <a:ext cx="107913" cy="137444"/>
          </a:xfrm>
          <a:custGeom>
            <a:avLst/>
            <a:gdLst/>
            <a:ahLst/>
            <a:cxnLst/>
            <a:rect l="l" t="t" r="r" b="b"/>
            <a:pathLst>
              <a:path w="107913" h="137444">
                <a:moveTo>
                  <a:pt x="107913" y="0"/>
                </a:moveTo>
                <a:lnTo>
                  <a:pt x="43165" y="28895"/>
                </a:lnTo>
                <a:lnTo>
                  <a:pt x="0" y="137444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30936" y="409941"/>
            <a:ext cx="113154" cy="102123"/>
          </a:xfrm>
          <a:custGeom>
            <a:avLst/>
            <a:gdLst/>
            <a:ahLst/>
            <a:cxnLst/>
            <a:rect l="l" t="t" r="r" b="b"/>
            <a:pathLst>
              <a:path w="113154" h="102123">
                <a:moveTo>
                  <a:pt x="0" y="102123"/>
                </a:moveTo>
                <a:lnTo>
                  <a:pt x="67892" y="0"/>
                </a:lnTo>
                <a:lnTo>
                  <a:pt x="113154" y="29938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630936" y="451479"/>
            <a:ext cx="165238" cy="60585"/>
          </a:xfrm>
          <a:custGeom>
            <a:avLst/>
            <a:gdLst/>
            <a:ahLst/>
            <a:cxnLst/>
            <a:rect l="l" t="t" r="r" b="b"/>
            <a:pathLst>
              <a:path w="165238" h="60585">
                <a:moveTo>
                  <a:pt x="0" y="60585"/>
                </a:moveTo>
                <a:lnTo>
                  <a:pt x="99143" y="0"/>
                </a:lnTo>
                <a:lnTo>
                  <a:pt x="165238" y="54861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630936" y="500496"/>
            <a:ext cx="163277" cy="84270"/>
          </a:xfrm>
          <a:custGeom>
            <a:avLst/>
            <a:gdLst/>
            <a:ahLst/>
            <a:cxnLst/>
            <a:rect l="l" t="t" r="r" b="b"/>
            <a:pathLst>
              <a:path w="163277" h="84270">
                <a:moveTo>
                  <a:pt x="0" y="11568"/>
                </a:moveTo>
                <a:lnTo>
                  <a:pt x="97966" y="0"/>
                </a:lnTo>
                <a:lnTo>
                  <a:pt x="163277" y="84270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630936" y="512064"/>
            <a:ext cx="107912" cy="137444"/>
          </a:xfrm>
          <a:custGeom>
            <a:avLst/>
            <a:gdLst/>
            <a:ahLst/>
            <a:cxnLst/>
            <a:rect l="l" t="t" r="r" b="b"/>
            <a:pathLst>
              <a:path w="107912" h="137444">
                <a:moveTo>
                  <a:pt x="0" y="0"/>
                </a:moveTo>
                <a:lnTo>
                  <a:pt x="64747" y="28895"/>
                </a:lnTo>
                <a:lnTo>
                  <a:pt x="107912" y="137444"/>
                </a:lnTo>
              </a:path>
            </a:pathLst>
          </a:custGeom>
          <a:noFill/>
          <a:ln w="19050">
            <a:solidFill>
              <a:srgbClr val="96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2643" y="481203"/>
            <a:ext cx="116586" cy="116586"/>
          </a:xfrm>
          <a:prstGeom prst="ellipse">
            <a:avLst/>
          </a:prstGeom>
          <a:solidFill>
            <a:srgbClr val="969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5274" y="424967"/>
            <a:ext cx="71323" cy="71323"/>
          </a:xfrm>
          <a:prstGeom prst="ellipse">
            <a:avLst/>
          </a:prstGeom>
          <a:solidFill>
            <a:srgbClr val="969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42062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10 · FEASIBILITY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F0EFE9"/>
                </a:solidFill>
                <a:latin typeface="Segoe UI"/>
              </a:rPr>
              <a:t>It ran this weekend.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1389888"/>
            <a:ext cx="11057839" cy="9525"/>
          </a:xfrm>
          <a:prstGeom prst="rect">
            <a:avLst/>
          </a:prstGeom>
          <a:solidFill>
            <a:srgbClr val="2A2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1664208"/>
            <a:ext cx="3503066" cy="3200400"/>
          </a:xfrm>
          <a:prstGeom prst="roundRect">
            <a:avLst>
              <a:gd name="adj" fmla="val 4000"/>
            </a:avLst>
          </a:prstGeom>
          <a:solidFill>
            <a:srgbClr val="142E20"/>
          </a:solidFill>
          <a:ln w="9525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1901952"/>
            <a:ext cx="299100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D68A"/>
                </a:solidFill>
                <a:latin typeface="Consolas"/>
              </a:rPr>
              <a:t>WHAT RAN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212848"/>
            <a:ext cx="299100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F0EFE9"/>
                </a:solidFill>
                <a:latin typeface="Segoe UI"/>
              </a:rPr>
              <a:t>Qwen3-Coder 30B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2761488"/>
            <a:ext cx="118872" cy="19050"/>
          </a:xfrm>
          <a:prstGeom prst="rect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2670048"/>
            <a:ext cx="275325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F0EFE9"/>
                </a:solidFill>
                <a:latin typeface="Segoe UI"/>
              </a:rPr>
              <a:t>18.6 GB across a laptop and two phones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3380667"/>
            <a:ext cx="118872" cy="19050"/>
          </a:xfrm>
          <a:prstGeom prst="rect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0704" y="3289227"/>
            <a:ext cx="275325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F0EFE9"/>
                </a:solidFill>
                <a:latin typeface="Segoe UI"/>
              </a:rPr>
              <a:t>The phones held 9.6 GB of 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999846"/>
            <a:ext cx="118872" cy="19050"/>
          </a:xfrm>
          <a:prstGeom prst="rect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3908406"/>
            <a:ext cx="27532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F0EFE9"/>
                </a:solidFill>
                <a:latin typeface="Segoe UI"/>
              </a:rPr>
              <a:t>Ready in 70 seconds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364299"/>
            <a:ext cx="118872" cy="19050"/>
          </a:xfrm>
          <a:prstGeom prst="rect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0704" y="4272859"/>
            <a:ext cx="27532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F0EFE9"/>
                </a:solidFill>
                <a:latin typeface="Segoe UI"/>
              </a:rPr>
              <a:t>6.6 words a second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4728752"/>
            <a:ext cx="118872" cy="19050"/>
          </a:xfrm>
          <a:prstGeom prst="rect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0704" y="4637312"/>
            <a:ext cx="275325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F0EFE9"/>
                </a:solidFill>
                <a:latin typeface="Segoe UI"/>
              </a:rPr>
              <a:t>Three coding questions, all correct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5347931"/>
            <a:ext cx="118872" cy="19050"/>
          </a:xfrm>
          <a:prstGeom prst="rect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0704" y="5256491"/>
            <a:ext cx="275325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F0EFE9"/>
                </a:solidFill>
                <a:latin typeface="Segoe UI"/>
              </a:rPr>
              <a:t>Internet off the whole 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498848"/>
            <a:ext cx="299100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 b="0">
                <a:solidFill>
                  <a:srgbClr val="969C90"/>
                </a:solidFill>
                <a:latin typeface="Consolas"/>
              </a:rPr>
              <a:t>Cable at 2–3 ms · context 4096 · laptop capped at 8 GB · 27 September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4314" y="1664208"/>
            <a:ext cx="3503066" cy="3200400"/>
          </a:xfrm>
          <a:prstGeom prst="roundRect">
            <a:avLst>
              <a:gd name="adj" fmla="val 4000"/>
            </a:avLst>
          </a:prstGeom>
          <a:solidFill>
            <a:srgbClr val="141612"/>
          </a:solidFill>
          <a:ln w="9525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00346" y="1901952"/>
            <a:ext cx="299100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BUILT IN THE WINDOW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00346" y="2359152"/>
            <a:ext cx="118872" cy="19050"/>
          </a:xfrm>
          <a:prstGeom prst="rect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38090" y="2267712"/>
            <a:ext cx="275325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F0EFE9"/>
                </a:solidFill>
                <a:latin typeface="Segoe UI"/>
              </a:rPr>
              <a:t>llama.cpp built for phones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00346" y="2978331"/>
            <a:ext cx="118872" cy="19050"/>
          </a:xfrm>
          <a:prstGeom prst="rect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38090" y="2886891"/>
            <a:ext cx="27532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F0EFE9"/>
                </a:solidFill>
                <a:latin typeface="Segoe UI"/>
              </a:rPr>
              <a:t>The app: host and helper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00346" y="3342784"/>
            <a:ext cx="118872" cy="19050"/>
          </a:xfrm>
          <a:prstGeom prst="rect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38090" y="3251344"/>
            <a:ext cx="275325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F0EFE9"/>
                </a:solidFill>
                <a:latin typeface="Segoe UI"/>
              </a:rPr>
              <a:t>The laptop agent and its panel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00346" y="3961963"/>
            <a:ext cx="118872" cy="19050"/>
          </a:xfrm>
          <a:prstGeom prst="rect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38090" y="3870523"/>
            <a:ext cx="275325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F0EFE9"/>
                </a:solidFill>
                <a:latin typeface="Segoe UI"/>
              </a:rPr>
              <a:t>Our own model reader and planner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00346" y="4581142"/>
            <a:ext cx="118872" cy="19050"/>
          </a:xfrm>
          <a:prstGeom prst="rect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38090" y="4489702"/>
            <a:ext cx="27532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F0EFE9"/>
                </a:solidFill>
                <a:latin typeface="Segoe UI"/>
              </a:rPr>
              <a:t>The layer store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00346" y="4945595"/>
            <a:ext cx="118872" cy="19050"/>
          </a:xfrm>
          <a:prstGeom prst="rect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38090" y="4854155"/>
            <a:ext cx="27532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F0EFE9"/>
                </a:solidFill>
                <a:latin typeface="Segoe UI"/>
              </a:rPr>
              <a:t>The test harness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00346" y="5310048"/>
            <a:ext cx="118872" cy="19050"/>
          </a:xfrm>
          <a:prstGeom prst="rect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38090" y="5218608"/>
            <a:ext cx="27532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F0EFE9"/>
                </a:solidFill>
                <a:latin typeface="Segoe UI"/>
              </a:rPr>
              <a:t>The CLI and the git hook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00346" y="4544568"/>
            <a:ext cx="299100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69C90"/>
                </a:solidFill>
                <a:latin typeface="Segoe UI"/>
              </a:rPr>
              <a:t>Every commit timestamped. Nothing pre-built.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21700" y="1664208"/>
            <a:ext cx="3503066" cy="3200400"/>
          </a:xfrm>
          <a:prstGeom prst="roundRect">
            <a:avLst>
              <a:gd name="adj" fmla="val 4000"/>
            </a:avLst>
          </a:prstGeom>
          <a:solidFill>
            <a:srgbClr val="141612"/>
          </a:solidFill>
          <a:ln w="9525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77732" y="1901952"/>
            <a:ext cx="299100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IF SOMETHING GOES WRONG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77732" y="228600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0EFE9"/>
                </a:solidFill>
                <a:latin typeface="Segoe UI"/>
              </a:rPr>
              <a:t>Slow link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33380" y="2286000"/>
            <a:ext cx="121706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69C90"/>
                </a:solidFill>
                <a:latin typeface="Segoe UI"/>
              </a:rPr>
              <a:t>refused above 60 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77732" y="269748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0EFE9"/>
                </a:solidFill>
                <a:latin typeface="Segoe UI"/>
              </a:rPr>
              <a:t>Phone short of memory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33380" y="2697480"/>
            <a:ext cx="121706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69C90"/>
                </a:solidFill>
                <a:latin typeface="Segoe UI"/>
              </a:rPr>
              <a:t>we reserve, and you can cap it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77732" y="310896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0EFE9"/>
                </a:solidFill>
                <a:latin typeface="Segoe UI"/>
              </a:rPr>
              <a:t>A device drops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33380" y="3108960"/>
            <a:ext cx="121706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69C90"/>
                </a:solidFill>
                <a:latin typeface="Segoe UI"/>
              </a:rPr>
              <a:t>it comes back by itself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77732" y="352044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0EFE9"/>
                </a:solidFill>
                <a:latin typeface="Segoe UI"/>
              </a:rPr>
              <a:t>Engine missing a flag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33380" y="3520440"/>
            <a:ext cx="121706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69C90"/>
                </a:solidFill>
                <a:latin typeface="Segoe UI"/>
              </a:rPr>
              <a:t>we ask it what it has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77732" y="393192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0EFE9"/>
                </a:solidFill>
                <a:latin typeface="Segoe UI"/>
              </a:rPr>
              <a:t>Bad model file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33380" y="3931920"/>
            <a:ext cx="121706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69C90"/>
                </a:solidFill>
                <a:latin typeface="Segoe UI"/>
              </a:rPr>
              <a:t>every read is checked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77732" y="434340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0EFE9"/>
                </a:solidFill>
                <a:latin typeface="Segoe UI"/>
              </a:rPr>
              <a:t>A strange machine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33380" y="4343400"/>
            <a:ext cx="121706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69C90"/>
                </a:solidFill>
                <a:latin typeface="Segoe UI"/>
              </a:rPr>
              <a:t>one button checks everything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77732" y="4544568"/>
            <a:ext cx="299100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5FD68A"/>
                </a:solidFill>
                <a:latin typeface="Segoe UI"/>
              </a:rPr>
              <a:t>It says no before it disappoints you.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6928" y="629107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MeshAI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72607" y="6291072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two 16 GB phones and one budget laptop · nothing else was bought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9753356" y="3291840"/>
            <a:ext cx="2468880" cy="0"/>
          </a:xfrm>
          <a:custGeom>
            <a:avLst/>
            <a:gdLst/>
            <a:ahLst/>
            <a:cxnLst/>
            <a:rect l="l" t="t" r="r" b="b"/>
            <a:pathLst>
              <a:path w="2468880" h="0">
                <a:moveTo>
                  <a:pt x="0" y="0"/>
                </a:moveTo>
                <a:lnTo>
                  <a:pt x="2468880" y="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9753356" y="3291840"/>
            <a:ext cx="2138112" cy="1234440"/>
          </a:xfrm>
          <a:custGeom>
            <a:avLst/>
            <a:gdLst/>
            <a:ahLst/>
            <a:cxnLst/>
            <a:rect l="l" t="t" r="r" b="b"/>
            <a:pathLst>
              <a:path w="2138112" h="1234440">
                <a:moveTo>
                  <a:pt x="0" y="0"/>
                </a:moveTo>
                <a:lnTo>
                  <a:pt x="2138112" y="123444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9753356" y="3291840"/>
            <a:ext cx="1234440" cy="2138112"/>
          </a:xfrm>
          <a:custGeom>
            <a:avLst/>
            <a:gdLst/>
            <a:ahLst/>
            <a:cxnLst/>
            <a:rect l="l" t="t" r="r" b="b"/>
            <a:pathLst>
              <a:path w="1234440" h="2138112">
                <a:moveTo>
                  <a:pt x="0" y="0"/>
                </a:moveTo>
                <a:lnTo>
                  <a:pt x="1234440" y="2138112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9753356" y="3291840"/>
            <a:ext cx="0" cy="2468880"/>
          </a:xfrm>
          <a:custGeom>
            <a:avLst/>
            <a:gdLst/>
            <a:ahLst/>
            <a:cxnLst/>
            <a:rect l="l" t="t" r="r" b="b"/>
            <a:pathLst>
              <a:path w="0" h="2468880">
                <a:moveTo>
                  <a:pt x="0" y="0"/>
                </a:moveTo>
                <a:lnTo>
                  <a:pt x="0" y="246888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8518916" y="3291840"/>
            <a:ext cx="1234440" cy="2138112"/>
          </a:xfrm>
          <a:custGeom>
            <a:avLst/>
            <a:gdLst/>
            <a:ahLst/>
            <a:cxnLst/>
            <a:rect l="l" t="t" r="r" b="b"/>
            <a:pathLst>
              <a:path w="1234440" h="2138112">
                <a:moveTo>
                  <a:pt x="1234440" y="0"/>
                </a:moveTo>
                <a:lnTo>
                  <a:pt x="0" y="2138112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7615243" y="3291840"/>
            <a:ext cx="2138113" cy="1234440"/>
          </a:xfrm>
          <a:custGeom>
            <a:avLst/>
            <a:gdLst/>
            <a:ahLst/>
            <a:cxnLst/>
            <a:rect l="l" t="t" r="r" b="b"/>
            <a:pathLst>
              <a:path w="2138113" h="1234440">
                <a:moveTo>
                  <a:pt x="2138113" y="0"/>
                </a:moveTo>
                <a:lnTo>
                  <a:pt x="0" y="123444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7284476" y="3291840"/>
            <a:ext cx="2468880" cy="0"/>
          </a:xfrm>
          <a:custGeom>
            <a:avLst/>
            <a:gdLst/>
            <a:ahLst/>
            <a:cxnLst/>
            <a:rect l="l" t="t" r="r" b="b"/>
            <a:pathLst>
              <a:path w="2468880" h="0">
                <a:moveTo>
                  <a:pt x="2468880" y="0"/>
                </a:moveTo>
                <a:lnTo>
                  <a:pt x="0" y="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7615243" y="2057400"/>
            <a:ext cx="2138113" cy="1234440"/>
          </a:xfrm>
          <a:custGeom>
            <a:avLst/>
            <a:gdLst/>
            <a:ahLst/>
            <a:cxnLst/>
            <a:rect l="l" t="t" r="r" b="b"/>
            <a:pathLst>
              <a:path w="2138113" h="1234440">
                <a:moveTo>
                  <a:pt x="2138113" y="1234440"/>
                </a:moveTo>
                <a:lnTo>
                  <a:pt x="0" y="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8518915" y="1153727"/>
            <a:ext cx="1234441" cy="2138113"/>
          </a:xfrm>
          <a:custGeom>
            <a:avLst/>
            <a:gdLst/>
            <a:ahLst/>
            <a:cxnLst/>
            <a:rect l="l" t="t" r="r" b="b"/>
            <a:pathLst>
              <a:path w="1234441" h="2138113">
                <a:moveTo>
                  <a:pt x="1234441" y="2138113"/>
                </a:moveTo>
                <a:lnTo>
                  <a:pt x="0" y="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753356" y="822960"/>
            <a:ext cx="0" cy="2468880"/>
          </a:xfrm>
          <a:custGeom>
            <a:avLst/>
            <a:gdLst/>
            <a:ahLst/>
            <a:cxnLst/>
            <a:rect l="l" t="t" r="r" b="b"/>
            <a:pathLst>
              <a:path w="0" h="2468880">
                <a:moveTo>
                  <a:pt x="0" y="2468880"/>
                </a:moveTo>
                <a:lnTo>
                  <a:pt x="0" y="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753356" y="1153727"/>
            <a:ext cx="1234440" cy="2138113"/>
          </a:xfrm>
          <a:custGeom>
            <a:avLst/>
            <a:gdLst/>
            <a:ahLst/>
            <a:cxnLst/>
            <a:rect l="l" t="t" r="r" b="b"/>
            <a:pathLst>
              <a:path w="1234440" h="2138113">
                <a:moveTo>
                  <a:pt x="0" y="2138113"/>
                </a:moveTo>
                <a:lnTo>
                  <a:pt x="1234440" y="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753356" y="2057399"/>
            <a:ext cx="2138112" cy="1234441"/>
          </a:xfrm>
          <a:custGeom>
            <a:avLst/>
            <a:gdLst/>
            <a:ahLst/>
            <a:cxnLst/>
            <a:rect l="l" t="t" r="r" b="b"/>
            <a:pathLst>
              <a:path w="2138112" h="1234441">
                <a:moveTo>
                  <a:pt x="0" y="1234441"/>
                </a:moveTo>
                <a:lnTo>
                  <a:pt x="2138112" y="0"/>
                </a:lnTo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9136136" y="2674620"/>
            <a:ext cx="1234440" cy="1234440"/>
          </a:xfrm>
          <a:custGeom>
            <a:avLst/>
            <a:gdLst/>
            <a:ahLst/>
            <a:cxnLst/>
            <a:rect l="l" t="t" r="r" b="b"/>
            <a:pathLst>
              <a:path w="1234440" h="1234440">
                <a:moveTo>
                  <a:pt x="1234440" y="617220"/>
                </a:moveTo>
                <a:lnTo>
                  <a:pt x="1151748" y="925830"/>
                </a:lnTo>
                <a:lnTo>
                  <a:pt x="925830" y="1151748"/>
                </a:lnTo>
                <a:lnTo>
                  <a:pt x="617220" y="1234440"/>
                </a:lnTo>
                <a:lnTo>
                  <a:pt x="308610" y="1151748"/>
                </a:lnTo>
                <a:lnTo>
                  <a:pt x="82691" y="925830"/>
                </a:lnTo>
                <a:lnTo>
                  <a:pt x="0" y="617220"/>
                </a:lnTo>
                <a:lnTo>
                  <a:pt x="82691" y="308610"/>
                </a:lnTo>
                <a:lnTo>
                  <a:pt x="308610" y="82691"/>
                </a:lnTo>
                <a:lnTo>
                  <a:pt x="617220" y="0"/>
                </a:lnTo>
                <a:lnTo>
                  <a:pt x="925830" y="82691"/>
                </a:lnTo>
                <a:lnTo>
                  <a:pt x="1151748" y="308609"/>
                </a:lnTo>
                <a:lnTo>
                  <a:pt x="1234440" y="617220"/>
                </a:lnTo>
                <a:close/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8518916" y="2057400"/>
            <a:ext cx="2468880" cy="2468880"/>
          </a:xfrm>
          <a:custGeom>
            <a:avLst/>
            <a:gdLst/>
            <a:ahLst/>
            <a:cxnLst/>
            <a:rect l="l" t="t" r="r" b="b"/>
            <a:pathLst>
              <a:path w="2468880" h="2468880">
                <a:moveTo>
                  <a:pt x="2468880" y="1234440"/>
                </a:moveTo>
                <a:lnTo>
                  <a:pt x="2303496" y="1851660"/>
                </a:lnTo>
                <a:lnTo>
                  <a:pt x="1851660" y="2303496"/>
                </a:lnTo>
                <a:lnTo>
                  <a:pt x="1234440" y="2468880"/>
                </a:lnTo>
                <a:lnTo>
                  <a:pt x="617220" y="2303496"/>
                </a:lnTo>
                <a:lnTo>
                  <a:pt x="165383" y="1851660"/>
                </a:lnTo>
                <a:lnTo>
                  <a:pt x="0" y="1234440"/>
                </a:lnTo>
                <a:lnTo>
                  <a:pt x="165383" y="617220"/>
                </a:lnTo>
                <a:lnTo>
                  <a:pt x="617220" y="165383"/>
                </a:lnTo>
                <a:lnTo>
                  <a:pt x="1234440" y="0"/>
                </a:lnTo>
                <a:lnTo>
                  <a:pt x="1851660" y="165383"/>
                </a:lnTo>
                <a:lnTo>
                  <a:pt x="2303496" y="617219"/>
                </a:lnTo>
                <a:lnTo>
                  <a:pt x="2468880" y="1234439"/>
                </a:lnTo>
                <a:close/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7901696" y="1440180"/>
            <a:ext cx="3703320" cy="3703320"/>
          </a:xfrm>
          <a:custGeom>
            <a:avLst/>
            <a:gdLst/>
            <a:ahLst/>
            <a:cxnLst/>
            <a:rect l="l" t="t" r="r" b="b"/>
            <a:pathLst>
              <a:path w="3703320" h="3703320">
                <a:moveTo>
                  <a:pt x="3703320" y="1851660"/>
                </a:moveTo>
                <a:lnTo>
                  <a:pt x="3455244" y="2777490"/>
                </a:lnTo>
                <a:lnTo>
                  <a:pt x="2777490" y="3455244"/>
                </a:lnTo>
                <a:lnTo>
                  <a:pt x="1851660" y="3703320"/>
                </a:lnTo>
                <a:lnTo>
                  <a:pt x="925830" y="3455244"/>
                </a:lnTo>
                <a:lnTo>
                  <a:pt x="248075" y="2777490"/>
                </a:lnTo>
                <a:lnTo>
                  <a:pt x="0" y="1851660"/>
                </a:lnTo>
                <a:lnTo>
                  <a:pt x="248075" y="925830"/>
                </a:lnTo>
                <a:lnTo>
                  <a:pt x="925830" y="248075"/>
                </a:lnTo>
                <a:lnTo>
                  <a:pt x="1851660" y="0"/>
                </a:lnTo>
                <a:lnTo>
                  <a:pt x="2777490" y="248075"/>
                </a:lnTo>
                <a:lnTo>
                  <a:pt x="3455244" y="925829"/>
                </a:lnTo>
                <a:lnTo>
                  <a:pt x="3703320" y="1851659"/>
                </a:lnTo>
                <a:close/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7284476" y="822960"/>
            <a:ext cx="4937760" cy="4937760"/>
          </a:xfrm>
          <a:custGeom>
            <a:avLst/>
            <a:gdLst/>
            <a:ahLst/>
            <a:cxnLst/>
            <a:rect l="l" t="t" r="r" b="b"/>
            <a:pathLst>
              <a:path w="4937760" h="4937760">
                <a:moveTo>
                  <a:pt x="4937760" y="2468880"/>
                </a:moveTo>
                <a:lnTo>
                  <a:pt x="4606992" y="3703320"/>
                </a:lnTo>
                <a:lnTo>
                  <a:pt x="3703320" y="4606992"/>
                </a:lnTo>
                <a:lnTo>
                  <a:pt x="2468880" y="4937760"/>
                </a:lnTo>
                <a:lnTo>
                  <a:pt x="1234440" y="4606992"/>
                </a:lnTo>
                <a:lnTo>
                  <a:pt x="330767" y="3703320"/>
                </a:lnTo>
                <a:lnTo>
                  <a:pt x="0" y="2468880"/>
                </a:lnTo>
                <a:lnTo>
                  <a:pt x="330767" y="1234440"/>
                </a:lnTo>
                <a:lnTo>
                  <a:pt x="1234439" y="330767"/>
                </a:lnTo>
                <a:lnTo>
                  <a:pt x="2468880" y="0"/>
                </a:lnTo>
                <a:lnTo>
                  <a:pt x="3703320" y="330767"/>
                </a:lnTo>
                <a:lnTo>
                  <a:pt x="4606992" y="1234439"/>
                </a:lnTo>
                <a:lnTo>
                  <a:pt x="4937760" y="2468879"/>
                </a:lnTo>
                <a:close/>
              </a:path>
            </a:pathLst>
          </a:custGeom>
          <a:noFill/>
          <a:ln w="7620">
            <a:solidFill>
              <a:srgbClr val="2A2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9210216" y="2801651"/>
            <a:ext cx="543140" cy="490189"/>
          </a:xfrm>
          <a:custGeom>
            <a:avLst/>
            <a:gdLst/>
            <a:ahLst/>
            <a:cxnLst/>
            <a:rect l="l" t="t" r="r" b="b"/>
            <a:pathLst>
              <a:path w="543140" h="490189">
                <a:moveTo>
                  <a:pt x="543140" y="490189"/>
                </a:moveTo>
                <a:lnTo>
                  <a:pt x="217256" y="0"/>
                </a:lnTo>
                <a:lnTo>
                  <a:pt x="0" y="143702"/>
                </a:lnTo>
              </a:path>
            </a:pathLst>
          </a:custGeom>
          <a:noFill/>
          <a:ln w="19050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8960211" y="3001034"/>
            <a:ext cx="793145" cy="290806"/>
          </a:xfrm>
          <a:custGeom>
            <a:avLst/>
            <a:gdLst/>
            <a:ahLst/>
            <a:cxnLst/>
            <a:rect l="l" t="t" r="r" b="b"/>
            <a:pathLst>
              <a:path w="793145" h="290806">
                <a:moveTo>
                  <a:pt x="793145" y="290806"/>
                </a:moveTo>
                <a:lnTo>
                  <a:pt x="317258" y="0"/>
                </a:lnTo>
                <a:lnTo>
                  <a:pt x="0" y="263331"/>
                </a:lnTo>
              </a:path>
            </a:pathLst>
          </a:custGeom>
          <a:noFill/>
          <a:ln w="19050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8969623" y="3236314"/>
            <a:ext cx="783733" cy="404499"/>
          </a:xfrm>
          <a:custGeom>
            <a:avLst/>
            <a:gdLst/>
            <a:ahLst/>
            <a:cxnLst/>
            <a:rect l="l" t="t" r="r" b="b"/>
            <a:pathLst>
              <a:path w="783733" h="404499">
                <a:moveTo>
                  <a:pt x="783733" y="55526"/>
                </a:moveTo>
                <a:lnTo>
                  <a:pt x="313493" y="0"/>
                </a:lnTo>
                <a:lnTo>
                  <a:pt x="0" y="404499"/>
                </a:lnTo>
              </a:path>
            </a:pathLst>
          </a:custGeom>
          <a:noFill/>
          <a:ln w="19050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9235375" y="3291840"/>
            <a:ext cx="517981" cy="659731"/>
          </a:xfrm>
          <a:custGeom>
            <a:avLst/>
            <a:gdLst/>
            <a:ahLst/>
            <a:cxnLst/>
            <a:rect l="l" t="t" r="r" b="b"/>
            <a:pathLst>
              <a:path w="517981" h="659731">
                <a:moveTo>
                  <a:pt x="517981" y="0"/>
                </a:moveTo>
                <a:lnTo>
                  <a:pt x="207192" y="138698"/>
                </a:lnTo>
                <a:lnTo>
                  <a:pt x="0" y="659731"/>
                </a:lnTo>
              </a:path>
            </a:pathLst>
          </a:custGeom>
          <a:noFill/>
          <a:ln w="19050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9753356" y="2801651"/>
            <a:ext cx="543139" cy="490189"/>
          </a:xfrm>
          <a:custGeom>
            <a:avLst/>
            <a:gdLst/>
            <a:ahLst/>
            <a:cxnLst/>
            <a:rect l="l" t="t" r="r" b="b"/>
            <a:pathLst>
              <a:path w="543139" h="490189">
                <a:moveTo>
                  <a:pt x="0" y="490189"/>
                </a:moveTo>
                <a:lnTo>
                  <a:pt x="325883" y="0"/>
                </a:lnTo>
                <a:lnTo>
                  <a:pt x="543139" y="143702"/>
                </a:lnTo>
              </a:path>
            </a:pathLst>
          </a:custGeom>
          <a:noFill/>
          <a:ln w="19050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9753356" y="3001034"/>
            <a:ext cx="793144" cy="290806"/>
          </a:xfrm>
          <a:custGeom>
            <a:avLst/>
            <a:gdLst/>
            <a:ahLst/>
            <a:cxnLst/>
            <a:rect l="l" t="t" r="r" b="b"/>
            <a:pathLst>
              <a:path w="793144" h="290806">
                <a:moveTo>
                  <a:pt x="0" y="290806"/>
                </a:moveTo>
                <a:lnTo>
                  <a:pt x="475886" y="0"/>
                </a:lnTo>
                <a:lnTo>
                  <a:pt x="793144" y="263331"/>
                </a:lnTo>
              </a:path>
            </a:pathLst>
          </a:custGeom>
          <a:noFill/>
          <a:ln w="19050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9753356" y="3236314"/>
            <a:ext cx="783732" cy="404499"/>
          </a:xfrm>
          <a:custGeom>
            <a:avLst/>
            <a:gdLst/>
            <a:ahLst/>
            <a:cxnLst/>
            <a:rect l="l" t="t" r="r" b="b"/>
            <a:pathLst>
              <a:path w="783732" h="404499">
                <a:moveTo>
                  <a:pt x="0" y="55526"/>
                </a:moveTo>
                <a:lnTo>
                  <a:pt x="470239" y="0"/>
                </a:lnTo>
                <a:lnTo>
                  <a:pt x="783732" y="404499"/>
                </a:lnTo>
              </a:path>
            </a:pathLst>
          </a:custGeom>
          <a:noFill/>
          <a:ln w="19050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753356" y="3291840"/>
            <a:ext cx="517980" cy="659731"/>
          </a:xfrm>
          <a:custGeom>
            <a:avLst/>
            <a:gdLst/>
            <a:ahLst/>
            <a:cxnLst/>
            <a:rect l="l" t="t" r="r" b="b"/>
            <a:pathLst>
              <a:path w="517980" h="659731">
                <a:moveTo>
                  <a:pt x="0" y="0"/>
                </a:moveTo>
                <a:lnTo>
                  <a:pt x="310788" y="138698"/>
                </a:lnTo>
                <a:lnTo>
                  <a:pt x="517980" y="659731"/>
                </a:lnTo>
              </a:path>
            </a:pathLst>
          </a:custGeom>
          <a:noFill/>
          <a:ln w="19050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73549" y="3143707"/>
            <a:ext cx="559612" cy="559612"/>
          </a:xfrm>
          <a:prstGeom prst="ellipse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82180" y="2873776"/>
            <a:ext cx="342351" cy="342351"/>
          </a:xfrm>
          <a:prstGeom prst="ellipse">
            <a:avLst/>
          </a:prstGeom>
          <a:solidFill>
            <a:srgbClr val="5F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2148840"/>
            <a:ext cx="7863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800" b="1">
                <a:solidFill>
                  <a:srgbClr val="F0EFE9"/>
                </a:solidFill>
                <a:latin typeface="Segoe UI"/>
              </a:rPr>
              <a:t>Thank you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337560"/>
            <a:ext cx="74980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400" b="0">
                <a:solidFill>
                  <a:srgbClr val="C2C6BC"/>
                </a:solidFill>
                <a:latin typeface="Segoe UI"/>
              </a:rPr>
              <a:t>A big model, on the devices you already own,
with the internet switched off.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4800600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0EFE9"/>
                </a:solidFill>
                <a:latin typeface="Segoe UI"/>
              </a:rPr>
              <a:t>Prajwal Gunnala   ·   Yuva Raj Ambati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5257800"/>
            <a:ext cx="7863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FD68A"/>
                </a:solidFill>
                <a:latin typeface="Consolas"/>
              </a:rPr>
              <a:t>github.com/prajwal-gunnala/maynards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29107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Team Maynards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72607" y="6291072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969C90"/>
                </a:solidFill>
                <a:latin typeface="Consolas"/>
              </a:rPr>
              <a:t>iQOO Hackathon 2026 · Developer Tools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