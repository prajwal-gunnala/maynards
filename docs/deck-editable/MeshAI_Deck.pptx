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8E1A25F-04E1-43FB-BB59-F8C8F339B3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74BC75F-DDE1-4F70-8281-E123ABEBB1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DD8FEFA-D91D-4F8B-8922-C071A5E46F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D12A154-6A63-481A-8304-F866933FF0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87D8AF8-725A-4B9D-BBBE-1119CDA2EE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520BF28-6905-4809-BBD4-9EB4BF2B53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827F5DA-BC75-4663-893F-CD51F9F4BB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2D4AE2D-72E3-4753-B2F8-87171F61FC4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D64D04A-7DC7-4E52-8503-B066E5DD50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B615DA6-1FB1-4AB3-9981-05EDEB75F3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EA22AE0-E8A9-4511-AF79-D078DA19E4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F7D6A9-46BF-440A-BA09-D6CE4A73326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933B4F-A1E8-4468-BE06-065650E0AF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255DA4-2512-4201-8F61-B8BB645B937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1E2DD1-73A7-40D7-8CAF-CE3A4132622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E56FD3-00AA-4B5F-81FF-DA368B4702E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70F098-9B48-49F8-BD7A-9E028E5BE7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020B8C-B894-48B9-A658-23777E68A9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85E6D6-5DAE-4E4F-8DEB-E9D07C8DD9C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913A65-7096-48F0-9E67-6AE8DC5E81E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EBE50C-BA4A-44FC-8004-247C10191F3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8C881A-5512-49DB-B6A4-2779DFEA17D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Freeform 2"/>
          <p:cNvSpPr/>
          <p:nvPr/>
        </p:nvSpPr>
        <p:spPr>
          <a:xfrm>
            <a:off x="9265680" y="3429000"/>
            <a:ext cx="2834280" cy="360"/>
          </a:xfrm>
          <a:custGeom>
            <a:avLst/>
            <a:gdLst>
              <a:gd name="textAreaLeft" fmla="*/ 0 w 2834280"/>
              <a:gd name="textAreaRight" fmla="*/ 2834640 w 283428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Freeform 3"/>
          <p:cNvSpPr/>
          <p:nvPr/>
        </p:nvSpPr>
        <p:spPr>
          <a:xfrm>
            <a:off x="9265680" y="3429000"/>
            <a:ext cx="2454480" cy="1416960"/>
          </a:xfrm>
          <a:custGeom>
            <a:avLst/>
            <a:gdLst>
              <a:gd name="textAreaLeft" fmla="*/ 0 w 2454480"/>
              <a:gd name="textAreaRight" fmla="*/ 2454840 w 2454480"/>
              <a:gd name="textAreaTop" fmla="*/ 0 h 1416960"/>
              <a:gd name="textAreaBottom" fmla="*/ 1417320 h 1416960"/>
            </a:gdLst>
            <a:ahLst/>
            <a:rect l="textAreaLeft" t="textAreaTop" r="textAreaRight" b="textAreaBottom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Freeform 4"/>
          <p:cNvSpPr/>
          <p:nvPr/>
        </p:nvSpPr>
        <p:spPr>
          <a:xfrm>
            <a:off x="9265680" y="3429000"/>
            <a:ext cx="1416960" cy="2454480"/>
          </a:xfrm>
          <a:custGeom>
            <a:avLst/>
            <a:gdLst>
              <a:gd name="textAreaLeft" fmla="*/ 0 w 1416960"/>
              <a:gd name="textAreaRight" fmla="*/ 1417320 w 1416960"/>
              <a:gd name="textAreaTop" fmla="*/ 0 h 2454480"/>
              <a:gd name="textAreaBottom" fmla="*/ 2454840 h 2454480"/>
            </a:gdLst>
            <a:ahLst/>
            <a:rect l="textAreaLeft" t="textAreaTop" r="textAreaRight" b="textAreaBottom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Freeform 5"/>
          <p:cNvSpPr/>
          <p:nvPr/>
        </p:nvSpPr>
        <p:spPr>
          <a:xfrm>
            <a:off x="9265680" y="3429000"/>
            <a:ext cx="360" cy="2834280"/>
          </a:xfrm>
          <a:custGeom>
            <a:avLst/>
            <a:gdLst>
              <a:gd name="textAreaLeft" fmla="*/ 0 w 360"/>
              <a:gd name="textAreaRight" fmla="*/ 720 w 360"/>
              <a:gd name="textAreaTop" fmla="*/ 0 h 2834280"/>
              <a:gd name="textAreaBottom" fmla="*/ 2834640 h 2834280"/>
            </a:gdLst>
            <a:ahLst/>
            <a:rect l="textAreaLeft" t="textAreaTop" r="textAreaRight" b="textAreaBottom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Freeform 6"/>
          <p:cNvSpPr/>
          <p:nvPr/>
        </p:nvSpPr>
        <p:spPr>
          <a:xfrm>
            <a:off x="7848360" y="3429000"/>
            <a:ext cx="1416960" cy="2454480"/>
          </a:xfrm>
          <a:custGeom>
            <a:avLst/>
            <a:gdLst>
              <a:gd name="textAreaLeft" fmla="*/ 0 w 1416960"/>
              <a:gd name="textAreaRight" fmla="*/ 1417320 w 1416960"/>
              <a:gd name="textAreaTop" fmla="*/ 0 h 2454480"/>
              <a:gd name="textAreaBottom" fmla="*/ 2454840 h 2454480"/>
            </a:gdLst>
            <a:ahLst/>
            <a:rect l="textAreaLeft" t="textAreaTop" r="textAreaRight" b="textAreaBottom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Freeform 7"/>
          <p:cNvSpPr/>
          <p:nvPr/>
        </p:nvSpPr>
        <p:spPr>
          <a:xfrm>
            <a:off x="6810840" y="3429000"/>
            <a:ext cx="2454480" cy="1416960"/>
          </a:xfrm>
          <a:custGeom>
            <a:avLst/>
            <a:gdLst>
              <a:gd name="textAreaLeft" fmla="*/ 0 w 2454480"/>
              <a:gd name="textAreaRight" fmla="*/ 2454840 w 2454480"/>
              <a:gd name="textAreaTop" fmla="*/ 0 h 1416960"/>
              <a:gd name="textAreaBottom" fmla="*/ 1417320 h 1416960"/>
            </a:gdLst>
            <a:ahLst/>
            <a:rect l="textAreaLeft" t="textAreaTop" r="textAreaRight" b="textAreaBottom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Freeform 8"/>
          <p:cNvSpPr/>
          <p:nvPr/>
        </p:nvSpPr>
        <p:spPr>
          <a:xfrm>
            <a:off x="6431040" y="3429000"/>
            <a:ext cx="2834280" cy="360"/>
          </a:xfrm>
          <a:custGeom>
            <a:avLst/>
            <a:gdLst>
              <a:gd name="textAreaLeft" fmla="*/ 0 w 2834280"/>
              <a:gd name="textAreaRight" fmla="*/ 2834640 w 283428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Freeform 9"/>
          <p:cNvSpPr/>
          <p:nvPr/>
        </p:nvSpPr>
        <p:spPr>
          <a:xfrm>
            <a:off x="6810840" y="2011680"/>
            <a:ext cx="2454480" cy="1416960"/>
          </a:xfrm>
          <a:custGeom>
            <a:avLst/>
            <a:gdLst>
              <a:gd name="textAreaLeft" fmla="*/ 0 w 2454480"/>
              <a:gd name="textAreaRight" fmla="*/ 2454840 w 2454480"/>
              <a:gd name="textAreaTop" fmla="*/ 0 h 1416960"/>
              <a:gd name="textAreaBottom" fmla="*/ 1417320 h 1416960"/>
            </a:gdLst>
            <a:ahLst/>
            <a:rect l="textAreaLeft" t="textAreaTop" r="textAreaRight" b="textAreaBottom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Freeform 10"/>
          <p:cNvSpPr/>
          <p:nvPr/>
        </p:nvSpPr>
        <p:spPr>
          <a:xfrm>
            <a:off x="7848360" y="974160"/>
            <a:ext cx="1416960" cy="2454480"/>
          </a:xfrm>
          <a:custGeom>
            <a:avLst/>
            <a:gdLst>
              <a:gd name="textAreaLeft" fmla="*/ 0 w 1416960"/>
              <a:gd name="textAreaRight" fmla="*/ 1417320 w 1416960"/>
              <a:gd name="textAreaTop" fmla="*/ 0 h 2454480"/>
              <a:gd name="textAreaBottom" fmla="*/ 2454840 h 2454480"/>
            </a:gdLst>
            <a:ahLst/>
            <a:rect l="textAreaLeft" t="textAreaTop" r="textAreaRight" b="textAreaBottom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Freeform 11"/>
          <p:cNvSpPr/>
          <p:nvPr/>
        </p:nvSpPr>
        <p:spPr>
          <a:xfrm>
            <a:off x="9265680" y="594360"/>
            <a:ext cx="360" cy="2834280"/>
          </a:xfrm>
          <a:custGeom>
            <a:avLst/>
            <a:gdLst>
              <a:gd name="textAreaLeft" fmla="*/ 0 w 360"/>
              <a:gd name="textAreaRight" fmla="*/ 720 w 360"/>
              <a:gd name="textAreaTop" fmla="*/ 0 h 2834280"/>
              <a:gd name="textAreaBottom" fmla="*/ 2834640 h 2834280"/>
            </a:gdLst>
            <a:ahLst/>
            <a:rect l="textAreaLeft" t="textAreaTop" r="textAreaRight" b="textAreaBottom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Freeform 12"/>
          <p:cNvSpPr/>
          <p:nvPr/>
        </p:nvSpPr>
        <p:spPr>
          <a:xfrm>
            <a:off x="9265680" y="974160"/>
            <a:ext cx="1416960" cy="2454480"/>
          </a:xfrm>
          <a:custGeom>
            <a:avLst/>
            <a:gdLst>
              <a:gd name="textAreaLeft" fmla="*/ 0 w 1416960"/>
              <a:gd name="textAreaRight" fmla="*/ 1417320 w 1416960"/>
              <a:gd name="textAreaTop" fmla="*/ 0 h 2454480"/>
              <a:gd name="textAreaBottom" fmla="*/ 2454840 h 2454480"/>
            </a:gdLst>
            <a:ahLst/>
            <a:rect l="textAreaLeft" t="textAreaTop" r="textAreaRight" b="textAreaBottom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Freeform 13"/>
          <p:cNvSpPr/>
          <p:nvPr/>
        </p:nvSpPr>
        <p:spPr>
          <a:xfrm>
            <a:off x="9265680" y="2011680"/>
            <a:ext cx="2454480" cy="1416960"/>
          </a:xfrm>
          <a:custGeom>
            <a:avLst/>
            <a:gdLst>
              <a:gd name="textAreaLeft" fmla="*/ 0 w 2454480"/>
              <a:gd name="textAreaRight" fmla="*/ 2454840 w 2454480"/>
              <a:gd name="textAreaTop" fmla="*/ 0 h 1416960"/>
              <a:gd name="textAreaBottom" fmla="*/ 1417320 h 1416960"/>
            </a:gdLst>
            <a:ahLst/>
            <a:rect l="textAreaLeft" t="textAreaTop" r="textAreaRight" b="textAreaBottom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Freeform 14"/>
          <p:cNvSpPr/>
          <p:nvPr/>
        </p:nvSpPr>
        <p:spPr>
          <a:xfrm>
            <a:off x="8557200" y="2720520"/>
            <a:ext cx="1416960" cy="1416960"/>
          </a:xfrm>
          <a:custGeom>
            <a:avLst/>
            <a:gdLst>
              <a:gd name="textAreaLeft" fmla="*/ 0 w 1416960"/>
              <a:gd name="textAreaRight" fmla="*/ 1417320 w 1416960"/>
              <a:gd name="textAreaTop" fmla="*/ 0 h 1416960"/>
              <a:gd name="textAreaBottom" fmla="*/ 1417320 h 1416960"/>
            </a:gdLst>
            <a:ahLst/>
            <a:rect l="textAreaLeft" t="textAreaTop" r="textAreaRight" b="textAreaBottom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Freeform 15"/>
          <p:cNvSpPr/>
          <p:nvPr/>
        </p:nvSpPr>
        <p:spPr>
          <a:xfrm>
            <a:off x="7848360" y="2011680"/>
            <a:ext cx="2834280" cy="2834280"/>
          </a:xfrm>
          <a:custGeom>
            <a:avLst/>
            <a:gdLst>
              <a:gd name="textAreaLeft" fmla="*/ 0 w 2834280"/>
              <a:gd name="textAreaRight" fmla="*/ 2834640 w 2834280"/>
              <a:gd name="textAreaTop" fmla="*/ 0 h 2834280"/>
              <a:gd name="textAreaBottom" fmla="*/ 2834640 h 2834280"/>
            </a:gdLst>
            <a:ahLst/>
            <a:rect l="textAreaLeft" t="textAreaTop" r="textAreaRight" b="textAreaBottom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Freeform 16"/>
          <p:cNvSpPr/>
          <p:nvPr/>
        </p:nvSpPr>
        <p:spPr>
          <a:xfrm>
            <a:off x="7139880" y="1303200"/>
            <a:ext cx="4251600" cy="4251600"/>
          </a:xfrm>
          <a:custGeom>
            <a:avLst/>
            <a:gdLst>
              <a:gd name="textAreaLeft" fmla="*/ 0 w 4251600"/>
              <a:gd name="textAreaRight" fmla="*/ 4251960 w 4251600"/>
              <a:gd name="textAreaTop" fmla="*/ 0 h 4251600"/>
              <a:gd name="textAreaBottom" fmla="*/ 4251960 h 4251600"/>
            </a:gdLst>
            <a:ahLst/>
            <a:rect l="textAreaLeft" t="textAreaTop" r="textAreaRight" b="textAreaBottom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Freeform 17"/>
          <p:cNvSpPr/>
          <p:nvPr/>
        </p:nvSpPr>
        <p:spPr>
          <a:xfrm>
            <a:off x="6431040" y="594360"/>
            <a:ext cx="5668920" cy="5668920"/>
          </a:xfrm>
          <a:custGeom>
            <a:avLst/>
            <a:gdLst>
              <a:gd name="textAreaLeft" fmla="*/ 0 w 5668920"/>
              <a:gd name="textAreaRight" fmla="*/ 5669280 w 5668920"/>
              <a:gd name="textAreaTop" fmla="*/ 0 h 5668920"/>
              <a:gd name="textAreaBottom" fmla="*/ 5669280 h 5668920"/>
            </a:gdLst>
            <a:ahLst/>
            <a:rect l="textAreaLeft" t="textAreaTop" r="textAreaRight" b="textAreaBottom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Freeform 18"/>
          <p:cNvSpPr/>
          <p:nvPr/>
        </p:nvSpPr>
        <p:spPr>
          <a:xfrm>
            <a:off x="8813160" y="3020400"/>
            <a:ext cx="452160" cy="408240"/>
          </a:xfrm>
          <a:custGeom>
            <a:avLst/>
            <a:gdLst>
              <a:gd name="textAreaLeft" fmla="*/ 0 w 452160"/>
              <a:gd name="textAreaRight" fmla="*/ 452520 w 452160"/>
              <a:gd name="textAreaTop" fmla="*/ 0 h 408240"/>
              <a:gd name="textAreaBottom" fmla="*/ 408600 h 408240"/>
            </a:gdLst>
            <a:ahLst/>
            <a:rect l="textAreaLeft" t="textAreaTop" r="textAreaRight" b="textAreaBottom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Freeform 19"/>
          <p:cNvSpPr/>
          <p:nvPr/>
        </p:nvSpPr>
        <p:spPr>
          <a:xfrm>
            <a:off x="8604720" y="3186720"/>
            <a:ext cx="660600" cy="241920"/>
          </a:xfrm>
          <a:custGeom>
            <a:avLst/>
            <a:gdLst>
              <a:gd name="textAreaLeft" fmla="*/ 0 w 660600"/>
              <a:gd name="textAreaRight" fmla="*/ 660960 w 660600"/>
              <a:gd name="textAreaTop" fmla="*/ 0 h 241920"/>
              <a:gd name="textAreaBottom" fmla="*/ 242280 h 241920"/>
            </a:gdLst>
            <a:ahLst/>
            <a:rect l="textAreaLeft" t="textAreaTop" r="textAreaRight" b="textAreaBottom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Freeform 20"/>
          <p:cNvSpPr/>
          <p:nvPr/>
        </p:nvSpPr>
        <p:spPr>
          <a:xfrm>
            <a:off x="8612640" y="3382560"/>
            <a:ext cx="652680" cy="336600"/>
          </a:xfrm>
          <a:custGeom>
            <a:avLst/>
            <a:gdLst>
              <a:gd name="textAreaLeft" fmla="*/ 0 w 652680"/>
              <a:gd name="textAreaRight" fmla="*/ 653040 w 652680"/>
              <a:gd name="textAreaTop" fmla="*/ 0 h 336600"/>
              <a:gd name="textAreaBottom" fmla="*/ 336960 h 336600"/>
            </a:gdLst>
            <a:ahLst/>
            <a:rect l="textAreaLeft" t="textAreaTop" r="textAreaRight" b="textAreaBottom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Freeform 21"/>
          <p:cNvSpPr/>
          <p:nvPr/>
        </p:nvSpPr>
        <p:spPr>
          <a:xfrm>
            <a:off x="8834040" y="3429000"/>
            <a:ext cx="431280" cy="549360"/>
          </a:xfrm>
          <a:custGeom>
            <a:avLst/>
            <a:gdLst>
              <a:gd name="textAreaLeft" fmla="*/ 0 w 431280"/>
              <a:gd name="textAreaRight" fmla="*/ 431640 w 431280"/>
              <a:gd name="textAreaTop" fmla="*/ 0 h 549360"/>
              <a:gd name="textAreaBottom" fmla="*/ 549720 h 549360"/>
            </a:gdLst>
            <a:ahLst/>
            <a:rect l="textAreaLeft" t="textAreaTop" r="textAreaRight" b="textAreaBottom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Freeform 22"/>
          <p:cNvSpPr/>
          <p:nvPr/>
        </p:nvSpPr>
        <p:spPr>
          <a:xfrm>
            <a:off x="9265680" y="3020400"/>
            <a:ext cx="452160" cy="408240"/>
          </a:xfrm>
          <a:custGeom>
            <a:avLst/>
            <a:gdLst>
              <a:gd name="textAreaLeft" fmla="*/ 0 w 452160"/>
              <a:gd name="textAreaRight" fmla="*/ 452520 w 452160"/>
              <a:gd name="textAreaTop" fmla="*/ 0 h 408240"/>
              <a:gd name="textAreaBottom" fmla="*/ 408600 h 408240"/>
            </a:gdLst>
            <a:ahLst/>
            <a:rect l="textAreaLeft" t="textAreaTop" r="textAreaRight" b="textAreaBottom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Freeform 23"/>
          <p:cNvSpPr/>
          <p:nvPr/>
        </p:nvSpPr>
        <p:spPr>
          <a:xfrm>
            <a:off x="9265680" y="3186720"/>
            <a:ext cx="660600" cy="241920"/>
          </a:xfrm>
          <a:custGeom>
            <a:avLst/>
            <a:gdLst>
              <a:gd name="textAreaLeft" fmla="*/ 0 w 660600"/>
              <a:gd name="textAreaRight" fmla="*/ 660960 w 660600"/>
              <a:gd name="textAreaTop" fmla="*/ 0 h 241920"/>
              <a:gd name="textAreaBottom" fmla="*/ 242280 h 241920"/>
            </a:gdLst>
            <a:ahLst/>
            <a:rect l="textAreaLeft" t="textAreaTop" r="textAreaRight" b="textAreaBottom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Freeform 24"/>
          <p:cNvSpPr/>
          <p:nvPr/>
        </p:nvSpPr>
        <p:spPr>
          <a:xfrm>
            <a:off x="9265680" y="3382560"/>
            <a:ext cx="652680" cy="336600"/>
          </a:xfrm>
          <a:custGeom>
            <a:avLst/>
            <a:gdLst>
              <a:gd name="textAreaLeft" fmla="*/ 0 w 652680"/>
              <a:gd name="textAreaRight" fmla="*/ 653040 w 652680"/>
              <a:gd name="textAreaTop" fmla="*/ 0 h 336600"/>
              <a:gd name="textAreaBottom" fmla="*/ 336960 h 336600"/>
            </a:gdLst>
            <a:ahLst/>
            <a:rect l="textAreaLeft" t="textAreaTop" r="textAreaRight" b="textAreaBottom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Freeform 25"/>
          <p:cNvSpPr/>
          <p:nvPr/>
        </p:nvSpPr>
        <p:spPr>
          <a:xfrm>
            <a:off x="9265680" y="3429000"/>
            <a:ext cx="431280" cy="549360"/>
          </a:xfrm>
          <a:custGeom>
            <a:avLst/>
            <a:gdLst>
              <a:gd name="textAreaLeft" fmla="*/ 0 w 431280"/>
              <a:gd name="textAreaRight" fmla="*/ 431640 w 431280"/>
              <a:gd name="textAreaTop" fmla="*/ 0 h 549360"/>
              <a:gd name="textAreaBottom" fmla="*/ 549720 h 549360"/>
            </a:gdLst>
            <a:ahLst/>
            <a:rect l="textAreaLeft" t="textAreaTop" r="textAreaRight" b="textAreaBottom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Oval 26"/>
          <p:cNvSpPr/>
          <p:nvPr/>
        </p:nvSpPr>
        <p:spPr>
          <a:xfrm>
            <a:off x="9032400" y="3305520"/>
            <a:ext cx="465840" cy="46584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Oval 27"/>
          <p:cNvSpPr/>
          <p:nvPr/>
        </p:nvSpPr>
        <p:spPr>
          <a:xfrm>
            <a:off x="9123120" y="3080520"/>
            <a:ext cx="284760" cy="28476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56700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9"/>
          <p:cNvSpPr/>
          <p:nvPr/>
        </p:nvSpPr>
        <p:spPr>
          <a:xfrm>
            <a:off x="567000" y="2286000"/>
            <a:ext cx="82292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6600" spc="-1" strike="noStrike">
                <a:solidFill>
                  <a:srgbClr val="f0efe9"/>
                </a:solidFill>
                <a:latin typeface="Segoe UI"/>
              </a:rPr>
              <a:t>MeshAI</a:t>
            </a:r>
            <a:endParaRPr b="0" lang="en-US" sz="6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30"/>
          <p:cNvSpPr/>
          <p:nvPr/>
        </p:nvSpPr>
        <p:spPr>
          <a:xfrm>
            <a:off x="567000" y="3429000"/>
            <a:ext cx="786348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2400" spc="-1" strike="noStrike">
                <a:solidFill>
                  <a:srgbClr val="f0efe9"/>
                </a:solidFill>
                <a:latin typeface="Segoe UI"/>
              </a:rPr>
              <a:t>Run big models on the devices you already own.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31"/>
          <p:cNvSpPr/>
          <p:nvPr/>
        </p:nvSpPr>
        <p:spPr>
          <a:xfrm>
            <a:off x="567000" y="4343400"/>
            <a:ext cx="91436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32"/>
          <p:cNvSpPr/>
          <p:nvPr/>
        </p:nvSpPr>
        <p:spPr>
          <a:xfrm>
            <a:off x="567000" y="4983480"/>
            <a:ext cx="2614680" cy="4568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3"/>
          <p:cNvSpPr/>
          <p:nvPr/>
        </p:nvSpPr>
        <p:spPr>
          <a:xfrm>
            <a:off x="567000" y="5102280"/>
            <a:ext cx="2614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5fd68a"/>
                </a:solidFill>
                <a:latin typeface="Consolas"/>
              </a:rPr>
              <a:t>ready in 70 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ounded Rectangle 34"/>
          <p:cNvSpPr/>
          <p:nvPr/>
        </p:nvSpPr>
        <p:spPr>
          <a:xfrm>
            <a:off x="3364920" y="4983480"/>
            <a:ext cx="2614680" cy="4568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3364920" y="5102280"/>
            <a:ext cx="2614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6.6 tokens per second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36"/>
          <p:cNvSpPr/>
          <p:nvPr/>
        </p:nvSpPr>
        <p:spPr>
          <a:xfrm>
            <a:off x="6163200" y="4983480"/>
            <a:ext cx="2614680" cy="4568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37"/>
          <p:cNvSpPr/>
          <p:nvPr/>
        </p:nvSpPr>
        <p:spPr>
          <a:xfrm>
            <a:off x="6163200" y="5102280"/>
            <a:ext cx="2614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4 KB per word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ounded Rectangle 38"/>
          <p:cNvSpPr/>
          <p:nvPr/>
        </p:nvSpPr>
        <p:spPr>
          <a:xfrm>
            <a:off x="8961120" y="4983480"/>
            <a:ext cx="2614680" cy="4568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39"/>
          <p:cNvSpPr/>
          <p:nvPr/>
        </p:nvSpPr>
        <p:spPr>
          <a:xfrm>
            <a:off x="8961120" y="5102280"/>
            <a:ext cx="26146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internet off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40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Prajwal Gunnala · Yuva Raj Ambati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41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27 September 2026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01 · THE PROBLEM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A 30B model needs 18.6 GB of memory.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4"/>
          <p:cNvSpPr/>
          <p:nvPr/>
        </p:nvSpPr>
        <p:spPr>
          <a:xfrm>
            <a:off x="567000" y="1389960"/>
            <a:ext cx="87778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ounded Rectangle 16"/>
          <p:cNvSpPr/>
          <p:nvPr/>
        </p:nvSpPr>
        <p:spPr>
          <a:xfrm>
            <a:off x="567000" y="2377440"/>
            <a:ext cx="5391360" cy="35658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17"/>
          <p:cNvSpPr/>
          <p:nvPr/>
        </p:nvSpPr>
        <p:spPr>
          <a:xfrm>
            <a:off x="841320" y="261504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WHAT A MODEL NEEDS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18"/>
          <p:cNvSpPr/>
          <p:nvPr/>
        </p:nvSpPr>
        <p:spPr>
          <a:xfrm>
            <a:off x="841320" y="2980800"/>
            <a:ext cx="3745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Qwen3 0.6B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19"/>
          <p:cNvSpPr/>
          <p:nvPr/>
        </p:nvSpPr>
        <p:spPr>
          <a:xfrm>
            <a:off x="4404240" y="2980800"/>
            <a:ext cx="12798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c2c6bc"/>
                </a:solidFill>
                <a:latin typeface="Consolas"/>
              </a:rPr>
              <a:t>0.64 GB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20"/>
          <p:cNvSpPr/>
          <p:nvPr/>
        </p:nvSpPr>
        <p:spPr>
          <a:xfrm>
            <a:off x="841320" y="3364920"/>
            <a:ext cx="3745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Qwen3 8B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21"/>
          <p:cNvSpPr/>
          <p:nvPr/>
        </p:nvSpPr>
        <p:spPr>
          <a:xfrm>
            <a:off x="4404240" y="3364920"/>
            <a:ext cx="12798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c2c6bc"/>
                </a:solidFill>
                <a:latin typeface="Consolas"/>
              </a:rPr>
              <a:t>4.7 GB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22"/>
          <p:cNvSpPr/>
          <p:nvPr/>
        </p:nvSpPr>
        <p:spPr>
          <a:xfrm>
            <a:off x="841320" y="3749040"/>
            <a:ext cx="3745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gpt-oss 20B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3"/>
          <p:cNvSpPr/>
          <p:nvPr/>
        </p:nvSpPr>
        <p:spPr>
          <a:xfrm>
            <a:off x="4404240" y="3749040"/>
            <a:ext cx="12798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c2c6bc"/>
                </a:solidFill>
                <a:latin typeface="Consolas"/>
              </a:rPr>
              <a:t>12.1 GB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4"/>
          <p:cNvSpPr/>
          <p:nvPr/>
        </p:nvSpPr>
        <p:spPr>
          <a:xfrm>
            <a:off x="841320" y="4133160"/>
            <a:ext cx="37454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5fd68a"/>
                </a:solidFill>
                <a:latin typeface="Segoe UI"/>
              </a:rPr>
              <a:t>Qwen3-Coder 30B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25"/>
          <p:cNvSpPr/>
          <p:nvPr/>
        </p:nvSpPr>
        <p:spPr>
          <a:xfrm>
            <a:off x="4404240" y="4133160"/>
            <a:ext cx="12798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5fd68a"/>
                </a:solidFill>
                <a:latin typeface="Consolas"/>
              </a:rPr>
              <a:t>18.6 GB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26"/>
          <p:cNvSpPr/>
          <p:nvPr/>
        </p:nvSpPr>
        <p:spPr>
          <a:xfrm>
            <a:off x="841320" y="466344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WHAT A DEVICE HAS FREE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27"/>
          <p:cNvSpPr/>
          <p:nvPr/>
        </p:nvSpPr>
        <p:spPr>
          <a:xfrm>
            <a:off x="841320" y="5029200"/>
            <a:ext cx="3745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f0efe9"/>
                </a:solidFill>
                <a:latin typeface="Segoe UI"/>
              </a:rPr>
              <a:t>A budget laptop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28"/>
          <p:cNvSpPr/>
          <p:nvPr/>
        </p:nvSpPr>
        <p:spPr>
          <a:xfrm>
            <a:off x="3855600" y="5029200"/>
            <a:ext cx="1828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Consolas"/>
              </a:rPr>
              <a:t>about 4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29"/>
          <p:cNvSpPr/>
          <p:nvPr/>
        </p:nvSpPr>
        <p:spPr>
          <a:xfrm>
            <a:off x="841320" y="5358240"/>
            <a:ext cx="3745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f0efe9"/>
                </a:solidFill>
                <a:latin typeface="Segoe UI"/>
              </a:rPr>
              <a:t>One 16 GB phone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30"/>
          <p:cNvSpPr/>
          <p:nvPr/>
        </p:nvSpPr>
        <p:spPr>
          <a:xfrm>
            <a:off x="3855600" y="5358240"/>
            <a:ext cx="1828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Consolas"/>
              </a:rPr>
              <a:t>about 8.7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31"/>
          <p:cNvSpPr/>
          <p:nvPr/>
        </p:nvSpPr>
        <p:spPr>
          <a:xfrm>
            <a:off x="841320" y="5687640"/>
            <a:ext cx="3745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5fd68a"/>
                </a:solidFill>
                <a:latin typeface="Segoe UI"/>
              </a:rPr>
              <a:t>The three together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32"/>
          <p:cNvSpPr/>
          <p:nvPr/>
        </p:nvSpPr>
        <p:spPr>
          <a:xfrm>
            <a:off x="3855600" y="5687640"/>
            <a:ext cx="1828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5fd68a"/>
                </a:solidFill>
                <a:latin typeface="Consolas"/>
              </a:rPr>
              <a:t>about 20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ounded Rectangle 33"/>
          <p:cNvSpPr/>
          <p:nvPr/>
        </p:nvSpPr>
        <p:spPr>
          <a:xfrm>
            <a:off x="6233040" y="2377440"/>
            <a:ext cx="5391360" cy="35658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34"/>
          <p:cNvSpPr/>
          <p:nvPr/>
        </p:nvSpPr>
        <p:spPr>
          <a:xfrm>
            <a:off x="6507360" y="261504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SMALL MODELS GET IT WRONG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35"/>
          <p:cNvSpPr/>
          <p:nvPr/>
        </p:nvSpPr>
        <p:spPr>
          <a:xfrm>
            <a:off x="6507360" y="2926080"/>
            <a:ext cx="4842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ounded Rectangle 36"/>
          <p:cNvSpPr/>
          <p:nvPr/>
        </p:nvSpPr>
        <p:spPr>
          <a:xfrm>
            <a:off x="6690240" y="4937760"/>
            <a:ext cx="1051200" cy="27396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37"/>
          <p:cNvSpPr/>
          <p:nvPr/>
        </p:nvSpPr>
        <p:spPr>
          <a:xfrm>
            <a:off x="6690240" y="4626720"/>
            <a:ext cx="105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969c90"/>
                </a:solidFill>
                <a:latin typeface="Consolas"/>
              </a:rPr>
              <a:t>13%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38"/>
          <p:cNvSpPr/>
          <p:nvPr/>
        </p:nvSpPr>
        <p:spPr>
          <a:xfrm>
            <a:off x="6415920" y="53035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0.6B  2 of 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ounded Rectangle 39"/>
          <p:cNvSpPr/>
          <p:nvPr/>
        </p:nvSpPr>
        <p:spPr>
          <a:xfrm>
            <a:off x="8107560" y="4251960"/>
            <a:ext cx="1051200" cy="959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40"/>
          <p:cNvSpPr/>
          <p:nvPr/>
        </p:nvSpPr>
        <p:spPr>
          <a:xfrm>
            <a:off x="8107560" y="3940920"/>
            <a:ext cx="105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5fd68a"/>
                </a:solidFill>
                <a:latin typeface="Consolas"/>
              </a:rPr>
              <a:t>47%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41"/>
          <p:cNvSpPr/>
          <p:nvPr/>
        </p:nvSpPr>
        <p:spPr>
          <a:xfrm>
            <a:off x="7833240" y="53035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1.7B  7 of 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ounded Rectangle 42"/>
          <p:cNvSpPr/>
          <p:nvPr/>
        </p:nvSpPr>
        <p:spPr>
          <a:xfrm>
            <a:off x="9524880" y="3931920"/>
            <a:ext cx="1051200" cy="127980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43"/>
          <p:cNvSpPr/>
          <p:nvPr/>
        </p:nvSpPr>
        <p:spPr>
          <a:xfrm>
            <a:off x="9524880" y="3620880"/>
            <a:ext cx="10512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969c90"/>
                </a:solidFill>
                <a:latin typeface="Consolas"/>
              </a:rPr>
              <a:t>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44"/>
          <p:cNvSpPr/>
          <p:nvPr/>
        </p:nvSpPr>
        <p:spPr>
          <a:xfrm>
            <a:off x="9250560" y="5303520"/>
            <a:ext cx="1599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30B  18.6 GB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45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46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measured 27 September · results/REPORT.md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" name="Freeform 2"/>
          <p:cNvSpPr/>
          <p:nvPr/>
        </p:nvSpPr>
        <p:spPr>
          <a:xfrm>
            <a:off x="9997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Freeform 3"/>
          <p:cNvSpPr/>
          <p:nvPr/>
        </p:nvSpPr>
        <p:spPr>
          <a:xfrm>
            <a:off x="999720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Freeform 4"/>
          <p:cNvSpPr/>
          <p:nvPr/>
        </p:nvSpPr>
        <p:spPr>
          <a:xfrm>
            <a:off x="9997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Freeform 5"/>
          <p:cNvSpPr/>
          <p:nvPr/>
        </p:nvSpPr>
        <p:spPr>
          <a:xfrm>
            <a:off x="9997200" y="5074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Freeform 6"/>
          <p:cNvSpPr/>
          <p:nvPr/>
        </p:nvSpPr>
        <p:spPr>
          <a:xfrm>
            <a:off x="8854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Freeform 7"/>
          <p:cNvSpPr/>
          <p:nvPr/>
        </p:nvSpPr>
        <p:spPr>
          <a:xfrm>
            <a:off x="801756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Freeform 8"/>
          <p:cNvSpPr/>
          <p:nvPr/>
        </p:nvSpPr>
        <p:spPr>
          <a:xfrm>
            <a:off x="7711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Freeform 9"/>
          <p:cNvSpPr/>
          <p:nvPr/>
        </p:nvSpPr>
        <p:spPr>
          <a:xfrm>
            <a:off x="801756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Freeform 10"/>
          <p:cNvSpPr/>
          <p:nvPr/>
        </p:nvSpPr>
        <p:spPr>
          <a:xfrm>
            <a:off x="8854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Freeform 11"/>
          <p:cNvSpPr/>
          <p:nvPr/>
        </p:nvSpPr>
        <p:spPr>
          <a:xfrm>
            <a:off x="9997200" y="2788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Freeform 12"/>
          <p:cNvSpPr/>
          <p:nvPr/>
        </p:nvSpPr>
        <p:spPr>
          <a:xfrm>
            <a:off x="9997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Freeform 13"/>
          <p:cNvSpPr/>
          <p:nvPr/>
        </p:nvSpPr>
        <p:spPr>
          <a:xfrm>
            <a:off x="999720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Freeform 14"/>
          <p:cNvSpPr/>
          <p:nvPr/>
        </p:nvSpPr>
        <p:spPr>
          <a:xfrm>
            <a:off x="9425520" y="450360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Freeform 15"/>
          <p:cNvSpPr/>
          <p:nvPr/>
        </p:nvSpPr>
        <p:spPr>
          <a:xfrm>
            <a:off x="8854200" y="3931920"/>
            <a:ext cx="2285640" cy="228564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Freeform 16"/>
          <p:cNvSpPr/>
          <p:nvPr/>
        </p:nvSpPr>
        <p:spPr>
          <a:xfrm>
            <a:off x="8282520" y="3360600"/>
            <a:ext cx="3428640" cy="3428640"/>
          </a:xfrm>
          <a:custGeom>
            <a:avLst/>
            <a:gdLst>
              <a:gd name="textAreaLeft" fmla="*/ 0 w 3428640"/>
              <a:gd name="textAreaRight" fmla="*/ 3429000 w 3428640"/>
              <a:gd name="textAreaTop" fmla="*/ 0 h 3428640"/>
              <a:gd name="textAreaBottom" fmla="*/ 3429000 h 3428640"/>
            </a:gdLst>
            <a:ahLst/>
            <a:rect l="textAreaLeft" t="textAreaTop" r="textAreaRight" b="textAreaBottom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Freeform 17"/>
          <p:cNvSpPr/>
          <p:nvPr/>
        </p:nvSpPr>
        <p:spPr>
          <a:xfrm>
            <a:off x="7711200" y="2788920"/>
            <a:ext cx="4571640" cy="4571640"/>
          </a:xfrm>
          <a:custGeom>
            <a:avLst/>
            <a:gdLst>
              <a:gd name="textAreaLeft" fmla="*/ 0 w 4571640"/>
              <a:gd name="textAreaRight" fmla="*/ 4572000 w 4571640"/>
              <a:gd name="textAreaTop" fmla="*/ 0 h 4571640"/>
              <a:gd name="textAreaBottom" fmla="*/ 4572000 h 4571640"/>
            </a:gdLst>
            <a:ahLst/>
            <a:rect l="textAreaLeft" t="textAreaTop" r="textAreaRight" b="textAreaBottom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Freeform 18"/>
          <p:cNvSpPr/>
          <p:nvPr/>
        </p:nvSpPr>
        <p:spPr>
          <a:xfrm>
            <a:off x="957492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Freeform 19"/>
          <p:cNvSpPr/>
          <p:nvPr/>
        </p:nvSpPr>
        <p:spPr>
          <a:xfrm>
            <a:off x="938016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Freeform 20"/>
          <p:cNvSpPr/>
          <p:nvPr/>
        </p:nvSpPr>
        <p:spPr>
          <a:xfrm>
            <a:off x="938772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Freeform 21"/>
          <p:cNvSpPr/>
          <p:nvPr/>
        </p:nvSpPr>
        <p:spPr>
          <a:xfrm>
            <a:off x="959436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Freeform 22"/>
          <p:cNvSpPr/>
          <p:nvPr/>
        </p:nvSpPr>
        <p:spPr>
          <a:xfrm>
            <a:off x="999720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Freeform 23"/>
          <p:cNvSpPr/>
          <p:nvPr/>
        </p:nvSpPr>
        <p:spPr>
          <a:xfrm>
            <a:off x="999720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Freeform 24"/>
          <p:cNvSpPr/>
          <p:nvPr/>
        </p:nvSpPr>
        <p:spPr>
          <a:xfrm>
            <a:off x="999720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Freeform 25"/>
          <p:cNvSpPr/>
          <p:nvPr/>
        </p:nvSpPr>
        <p:spPr>
          <a:xfrm>
            <a:off x="999720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Oval 26"/>
          <p:cNvSpPr/>
          <p:nvPr/>
        </p:nvSpPr>
        <p:spPr>
          <a:xfrm>
            <a:off x="9779400" y="4959720"/>
            <a:ext cx="434880" cy="43488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Oval 27"/>
          <p:cNvSpPr/>
          <p:nvPr/>
        </p:nvSpPr>
        <p:spPr>
          <a:xfrm>
            <a:off x="9864000" y="4749840"/>
            <a:ext cx="266040" cy="26604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28"/>
          <p:cNvSpPr/>
          <p:nvPr/>
        </p:nvSpPr>
        <p:spPr>
          <a:xfrm>
            <a:off x="567000" y="2194560"/>
            <a:ext cx="8777880" cy="14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So how do you run a model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that does not fit?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02 · WHAT WE BUILT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Phones and a laptop, as one machine.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4"/>
          <p:cNvSpPr/>
          <p:nvPr/>
        </p:nvSpPr>
        <p:spPr>
          <a:xfrm>
            <a:off x="567000" y="1389960"/>
            <a:ext cx="8777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Rectangle 16"/>
          <p:cNvSpPr/>
          <p:nvPr/>
        </p:nvSpPr>
        <p:spPr>
          <a:xfrm>
            <a:off x="567000" y="25603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17"/>
          <p:cNvSpPr/>
          <p:nvPr/>
        </p:nvSpPr>
        <p:spPr>
          <a:xfrm>
            <a:off x="804600" y="2468880"/>
            <a:ext cx="63457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Phones and laptops in one cluster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ectangle 18"/>
          <p:cNvSpPr/>
          <p:nvPr/>
        </p:nvSpPr>
        <p:spPr>
          <a:xfrm>
            <a:off x="567000" y="29797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TextBox 19"/>
          <p:cNvSpPr/>
          <p:nvPr/>
        </p:nvSpPr>
        <p:spPr>
          <a:xfrm>
            <a:off x="804600" y="2888280"/>
            <a:ext cx="63457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One device decides who holds what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ectangle 20"/>
          <p:cNvSpPr/>
          <p:nvPr/>
        </p:nvSpPr>
        <p:spPr>
          <a:xfrm>
            <a:off x="567000" y="33991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21"/>
          <p:cNvSpPr/>
          <p:nvPr/>
        </p:nvSpPr>
        <p:spPr>
          <a:xfrm>
            <a:off x="804600" y="3307680"/>
            <a:ext cx="63457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Only about 4 KB crosses the cable per word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22"/>
          <p:cNvSpPr/>
          <p:nvPr/>
        </p:nvSpPr>
        <p:spPr>
          <a:xfrm>
            <a:off x="567000" y="38181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23"/>
          <p:cNvSpPr/>
          <p:nvPr/>
        </p:nvSpPr>
        <p:spPr>
          <a:xfrm>
            <a:off x="804600" y="3726720"/>
            <a:ext cx="63457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It says no when a device would slow you down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4"/>
          <p:cNvSpPr/>
          <p:nvPr/>
        </p:nvSpPr>
        <p:spPr>
          <a:xfrm>
            <a:off x="7516440" y="2468880"/>
            <a:ext cx="4107960" cy="29257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5"/>
          <p:cNvSpPr/>
          <p:nvPr/>
        </p:nvSpPr>
        <p:spPr>
          <a:xfrm>
            <a:off x="7809120" y="274320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5fd68a"/>
                </a:solidFill>
                <a:latin typeface="Consolas"/>
              </a:rPr>
              <a:t>THE PHONE IS NOT AN ACCESSORY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6"/>
          <p:cNvSpPr/>
          <p:nvPr/>
        </p:nvSpPr>
        <p:spPr>
          <a:xfrm>
            <a:off x="7809120" y="3090600"/>
            <a:ext cx="3522960" cy="13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A phone can be the host: it plans the split, runs the model and answers.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Every other system treats a phone as a client that asks a server.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7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28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one app · host role or helper role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03 · HOW IT WORKS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Layers split across the devices.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14"/>
          <p:cNvSpPr/>
          <p:nvPr/>
        </p:nvSpPr>
        <p:spPr>
          <a:xfrm>
            <a:off x="567000" y="138996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Rounded Rectangle 15"/>
          <p:cNvSpPr/>
          <p:nvPr/>
        </p:nvSpPr>
        <p:spPr>
          <a:xfrm>
            <a:off x="567000" y="1801440"/>
            <a:ext cx="4114440" cy="2651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16"/>
          <p:cNvSpPr/>
          <p:nvPr/>
        </p:nvSpPr>
        <p:spPr>
          <a:xfrm>
            <a:off x="804600" y="1993320"/>
            <a:ext cx="3657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5fd68a"/>
                </a:solidFill>
                <a:latin typeface="Consolas"/>
              </a:rPr>
              <a:t>THIS LAPTOP · THE HOST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17"/>
          <p:cNvSpPr/>
          <p:nvPr/>
        </p:nvSpPr>
        <p:spPr>
          <a:xfrm>
            <a:off x="804600" y="2322720"/>
            <a:ext cx="3657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Embeddings and output head stay here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ounded Rectangle 18"/>
          <p:cNvSpPr/>
          <p:nvPr/>
        </p:nvSpPr>
        <p:spPr>
          <a:xfrm>
            <a:off x="804600" y="2578680"/>
            <a:ext cx="3638880" cy="18252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19"/>
          <p:cNvSpPr/>
          <p:nvPr/>
        </p:nvSpPr>
        <p:spPr>
          <a:xfrm>
            <a:off x="804600" y="2898720"/>
            <a:ext cx="3657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Layers 0–22 · 9.19 GB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ounded Rectangle 20"/>
          <p:cNvSpPr/>
          <p:nvPr/>
        </p:nvSpPr>
        <p:spPr>
          <a:xfrm>
            <a:off x="8046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Rounded Rectangle 21"/>
          <p:cNvSpPr/>
          <p:nvPr/>
        </p:nvSpPr>
        <p:spPr>
          <a:xfrm>
            <a:off x="96192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ounded Rectangle 22"/>
          <p:cNvSpPr/>
          <p:nvPr/>
        </p:nvSpPr>
        <p:spPr>
          <a:xfrm>
            <a:off x="111924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Rounded Rectangle 23"/>
          <p:cNvSpPr/>
          <p:nvPr/>
        </p:nvSpPr>
        <p:spPr>
          <a:xfrm>
            <a:off x="127656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Rounded Rectangle 24"/>
          <p:cNvSpPr/>
          <p:nvPr/>
        </p:nvSpPr>
        <p:spPr>
          <a:xfrm>
            <a:off x="143388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Rounded Rectangle 25"/>
          <p:cNvSpPr/>
          <p:nvPr/>
        </p:nvSpPr>
        <p:spPr>
          <a:xfrm>
            <a:off x="15912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Rounded Rectangle 26"/>
          <p:cNvSpPr/>
          <p:nvPr/>
        </p:nvSpPr>
        <p:spPr>
          <a:xfrm>
            <a:off x="174816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Rounded Rectangle 27"/>
          <p:cNvSpPr/>
          <p:nvPr/>
        </p:nvSpPr>
        <p:spPr>
          <a:xfrm>
            <a:off x="190548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ounded Rectangle 28"/>
          <p:cNvSpPr/>
          <p:nvPr/>
        </p:nvSpPr>
        <p:spPr>
          <a:xfrm>
            <a:off x="20628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Rounded Rectangle 29"/>
          <p:cNvSpPr/>
          <p:nvPr/>
        </p:nvSpPr>
        <p:spPr>
          <a:xfrm>
            <a:off x="222012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Rounded Rectangle 30"/>
          <p:cNvSpPr/>
          <p:nvPr/>
        </p:nvSpPr>
        <p:spPr>
          <a:xfrm>
            <a:off x="237744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Rounded Rectangle 31"/>
          <p:cNvSpPr/>
          <p:nvPr/>
        </p:nvSpPr>
        <p:spPr>
          <a:xfrm>
            <a:off x="253476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Rounded Rectangle 32"/>
          <p:cNvSpPr/>
          <p:nvPr/>
        </p:nvSpPr>
        <p:spPr>
          <a:xfrm>
            <a:off x="269208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Rounded Rectangle 33"/>
          <p:cNvSpPr/>
          <p:nvPr/>
        </p:nvSpPr>
        <p:spPr>
          <a:xfrm>
            <a:off x="28494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ounded Rectangle 34"/>
          <p:cNvSpPr/>
          <p:nvPr/>
        </p:nvSpPr>
        <p:spPr>
          <a:xfrm>
            <a:off x="300636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Rounded Rectangle 35"/>
          <p:cNvSpPr/>
          <p:nvPr/>
        </p:nvSpPr>
        <p:spPr>
          <a:xfrm>
            <a:off x="316368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Rounded Rectangle 36"/>
          <p:cNvSpPr/>
          <p:nvPr/>
        </p:nvSpPr>
        <p:spPr>
          <a:xfrm>
            <a:off x="33210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Rounded Rectangle 37"/>
          <p:cNvSpPr/>
          <p:nvPr/>
        </p:nvSpPr>
        <p:spPr>
          <a:xfrm>
            <a:off x="347832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ounded Rectangle 38"/>
          <p:cNvSpPr/>
          <p:nvPr/>
        </p:nvSpPr>
        <p:spPr>
          <a:xfrm>
            <a:off x="363564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Rounded Rectangle 39"/>
          <p:cNvSpPr/>
          <p:nvPr/>
        </p:nvSpPr>
        <p:spPr>
          <a:xfrm>
            <a:off x="379296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Rounded Rectangle 40"/>
          <p:cNvSpPr/>
          <p:nvPr/>
        </p:nvSpPr>
        <p:spPr>
          <a:xfrm>
            <a:off x="395028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" name="Rounded Rectangle 41"/>
          <p:cNvSpPr/>
          <p:nvPr/>
        </p:nvSpPr>
        <p:spPr>
          <a:xfrm>
            <a:off x="410760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Rounded Rectangle 42"/>
          <p:cNvSpPr/>
          <p:nvPr/>
        </p:nvSpPr>
        <p:spPr>
          <a:xfrm>
            <a:off x="4264920" y="3154680"/>
            <a:ext cx="127800" cy="3837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43"/>
          <p:cNvSpPr/>
          <p:nvPr/>
        </p:nvSpPr>
        <p:spPr>
          <a:xfrm>
            <a:off x="804600" y="3721680"/>
            <a:ext cx="365724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ounded Rectangle 44"/>
          <p:cNvSpPr/>
          <p:nvPr/>
        </p:nvSpPr>
        <p:spPr>
          <a:xfrm>
            <a:off x="5093280" y="1801440"/>
            <a:ext cx="1737000" cy="2651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45"/>
          <p:cNvSpPr/>
          <p:nvPr/>
        </p:nvSpPr>
        <p:spPr>
          <a:xfrm>
            <a:off x="5276160" y="1993320"/>
            <a:ext cx="1371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a78bfa"/>
                </a:solidFill>
                <a:latin typeface="Consolas"/>
              </a:rPr>
              <a:t>A PHONE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46"/>
          <p:cNvSpPr/>
          <p:nvPr/>
        </p:nvSpPr>
        <p:spPr>
          <a:xfrm>
            <a:off x="5276160" y="232272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Layers 23–42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47"/>
          <p:cNvSpPr/>
          <p:nvPr/>
        </p:nvSpPr>
        <p:spPr>
          <a:xfrm>
            <a:off x="5276160" y="256032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7.53 GB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48"/>
          <p:cNvSpPr/>
          <p:nvPr/>
        </p:nvSpPr>
        <p:spPr>
          <a:xfrm>
            <a:off x="5276160" y="28530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Rounded Rectangle 49"/>
          <p:cNvSpPr/>
          <p:nvPr/>
        </p:nvSpPr>
        <p:spPr>
          <a:xfrm>
            <a:off x="5276160" y="29095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Rounded Rectangle 50"/>
          <p:cNvSpPr/>
          <p:nvPr/>
        </p:nvSpPr>
        <p:spPr>
          <a:xfrm>
            <a:off x="5276160" y="29664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Rounded Rectangle 51"/>
          <p:cNvSpPr/>
          <p:nvPr/>
        </p:nvSpPr>
        <p:spPr>
          <a:xfrm>
            <a:off x="5276160" y="30229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Rounded Rectangle 52"/>
          <p:cNvSpPr/>
          <p:nvPr/>
        </p:nvSpPr>
        <p:spPr>
          <a:xfrm>
            <a:off x="5276160" y="30798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Rounded Rectangle 53"/>
          <p:cNvSpPr/>
          <p:nvPr/>
        </p:nvSpPr>
        <p:spPr>
          <a:xfrm>
            <a:off x="5276160" y="31363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ounded Rectangle 54"/>
          <p:cNvSpPr/>
          <p:nvPr/>
        </p:nvSpPr>
        <p:spPr>
          <a:xfrm>
            <a:off x="5276160" y="31932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Rounded Rectangle 55"/>
          <p:cNvSpPr/>
          <p:nvPr/>
        </p:nvSpPr>
        <p:spPr>
          <a:xfrm>
            <a:off x="5276160" y="32497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Rounded Rectangle 56"/>
          <p:cNvSpPr/>
          <p:nvPr/>
        </p:nvSpPr>
        <p:spPr>
          <a:xfrm>
            <a:off x="5276160" y="33066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Rounded Rectangle 57"/>
          <p:cNvSpPr/>
          <p:nvPr/>
        </p:nvSpPr>
        <p:spPr>
          <a:xfrm>
            <a:off x="5276160" y="33631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Rounded Rectangle 58"/>
          <p:cNvSpPr/>
          <p:nvPr/>
        </p:nvSpPr>
        <p:spPr>
          <a:xfrm>
            <a:off x="5276160" y="34200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Rounded Rectangle 59"/>
          <p:cNvSpPr/>
          <p:nvPr/>
        </p:nvSpPr>
        <p:spPr>
          <a:xfrm>
            <a:off x="5276160" y="34765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ounded Rectangle 60"/>
          <p:cNvSpPr/>
          <p:nvPr/>
        </p:nvSpPr>
        <p:spPr>
          <a:xfrm>
            <a:off x="5276160" y="35334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Rounded Rectangle 61"/>
          <p:cNvSpPr/>
          <p:nvPr/>
        </p:nvSpPr>
        <p:spPr>
          <a:xfrm>
            <a:off x="5276160" y="35899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ounded Rectangle 62"/>
          <p:cNvSpPr/>
          <p:nvPr/>
        </p:nvSpPr>
        <p:spPr>
          <a:xfrm>
            <a:off x="5276160" y="364644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Rounded Rectangle 63"/>
          <p:cNvSpPr/>
          <p:nvPr/>
        </p:nvSpPr>
        <p:spPr>
          <a:xfrm>
            <a:off x="5276160" y="37033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Rounded Rectangle 64"/>
          <p:cNvSpPr/>
          <p:nvPr/>
        </p:nvSpPr>
        <p:spPr>
          <a:xfrm>
            <a:off x="5276160" y="375984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ounded Rectangle 65"/>
          <p:cNvSpPr/>
          <p:nvPr/>
        </p:nvSpPr>
        <p:spPr>
          <a:xfrm>
            <a:off x="5276160" y="38167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Rounded Rectangle 66"/>
          <p:cNvSpPr/>
          <p:nvPr/>
        </p:nvSpPr>
        <p:spPr>
          <a:xfrm>
            <a:off x="5276160" y="387324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Rounded Rectangle 67"/>
          <p:cNvSpPr/>
          <p:nvPr/>
        </p:nvSpPr>
        <p:spPr>
          <a:xfrm>
            <a:off x="5276160" y="39301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TextBox 68"/>
          <p:cNvSpPr/>
          <p:nvPr/>
        </p:nvSpPr>
        <p:spPr>
          <a:xfrm>
            <a:off x="5276160" y="4060080"/>
            <a:ext cx="13712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keeps its layers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69"/>
          <p:cNvSpPr/>
          <p:nvPr/>
        </p:nvSpPr>
        <p:spPr>
          <a:xfrm>
            <a:off x="7196400" y="1801440"/>
            <a:ext cx="1737000" cy="2651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TextBox 70"/>
          <p:cNvSpPr/>
          <p:nvPr/>
        </p:nvSpPr>
        <p:spPr>
          <a:xfrm>
            <a:off x="7379280" y="1993320"/>
            <a:ext cx="1371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a78bfa"/>
                </a:solidFill>
                <a:latin typeface="Consolas"/>
              </a:rPr>
              <a:t>A PHONE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71"/>
          <p:cNvSpPr/>
          <p:nvPr/>
        </p:nvSpPr>
        <p:spPr>
          <a:xfrm>
            <a:off x="7379280" y="232272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Layers 43–47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72"/>
          <p:cNvSpPr/>
          <p:nvPr/>
        </p:nvSpPr>
        <p:spPr>
          <a:xfrm>
            <a:off x="7379280" y="256032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2.04 GB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ounded Rectangle 73"/>
          <p:cNvSpPr/>
          <p:nvPr/>
        </p:nvSpPr>
        <p:spPr>
          <a:xfrm>
            <a:off x="7379280" y="28530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Rounded Rectangle 74"/>
          <p:cNvSpPr/>
          <p:nvPr/>
        </p:nvSpPr>
        <p:spPr>
          <a:xfrm>
            <a:off x="7379280" y="29095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Rounded Rectangle 75"/>
          <p:cNvSpPr/>
          <p:nvPr/>
        </p:nvSpPr>
        <p:spPr>
          <a:xfrm>
            <a:off x="7379280" y="29664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Rounded Rectangle 76"/>
          <p:cNvSpPr/>
          <p:nvPr/>
        </p:nvSpPr>
        <p:spPr>
          <a:xfrm>
            <a:off x="7379280" y="302292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ounded Rectangle 77"/>
          <p:cNvSpPr/>
          <p:nvPr/>
        </p:nvSpPr>
        <p:spPr>
          <a:xfrm>
            <a:off x="7379280" y="3079800"/>
            <a:ext cx="1371240" cy="5256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520" bIns="2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78"/>
          <p:cNvSpPr/>
          <p:nvPr/>
        </p:nvSpPr>
        <p:spPr>
          <a:xfrm>
            <a:off x="7379280" y="4060080"/>
            <a:ext cx="13712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ready in 70 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79"/>
          <p:cNvSpPr/>
          <p:nvPr/>
        </p:nvSpPr>
        <p:spPr>
          <a:xfrm>
            <a:off x="9253800" y="1801440"/>
            <a:ext cx="2370600" cy="2651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80"/>
          <p:cNvSpPr/>
          <p:nvPr/>
        </p:nvSpPr>
        <p:spPr>
          <a:xfrm>
            <a:off x="9509760" y="2030040"/>
            <a:ext cx="2377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900" spc="-1" strike="noStrike">
                <a:solidFill>
                  <a:srgbClr val="f0efe9"/>
                </a:solidFill>
                <a:latin typeface="Consolas"/>
              </a:rPr>
              <a:t>48 layers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81"/>
          <p:cNvSpPr/>
          <p:nvPr/>
        </p:nvSpPr>
        <p:spPr>
          <a:xfrm>
            <a:off x="9509760" y="2304360"/>
            <a:ext cx="2377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one pass, in order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82"/>
          <p:cNvSpPr/>
          <p:nvPr/>
        </p:nvSpPr>
        <p:spPr>
          <a:xfrm>
            <a:off x="9509760" y="2606040"/>
            <a:ext cx="2377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900" spc="-1" strike="noStrike">
                <a:solidFill>
                  <a:srgbClr val="5fd68a"/>
                </a:solidFill>
                <a:latin typeface="Consolas"/>
              </a:rPr>
              <a:t>4 KB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83"/>
          <p:cNvSpPr/>
          <p:nvPr/>
        </p:nvSpPr>
        <p:spPr>
          <a:xfrm>
            <a:off x="9509760" y="2880360"/>
            <a:ext cx="2377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crosses each cable, per word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84"/>
          <p:cNvSpPr/>
          <p:nvPr/>
        </p:nvSpPr>
        <p:spPr>
          <a:xfrm>
            <a:off x="9509760" y="3182040"/>
            <a:ext cx="2377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900" spc="-1" strike="noStrike">
                <a:solidFill>
                  <a:srgbClr val="f0efe9"/>
                </a:solidFill>
                <a:latin typeface="Consolas"/>
              </a:rPr>
              <a:t>18.6 GB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85"/>
          <p:cNvSpPr/>
          <p:nvPr/>
        </p:nvSpPr>
        <p:spPr>
          <a:xfrm>
            <a:off x="9509760" y="3456360"/>
            <a:ext cx="2377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of weights never move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86"/>
          <p:cNvSpPr/>
          <p:nvPr/>
        </p:nvSpPr>
        <p:spPr>
          <a:xfrm>
            <a:off x="9509760" y="3758040"/>
            <a:ext cx="2377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900" spc="-1" strike="noStrike">
                <a:solidFill>
                  <a:srgbClr val="f0efe9"/>
                </a:solidFill>
                <a:latin typeface="Consolas"/>
              </a:rPr>
              <a:t>2–3 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87"/>
          <p:cNvSpPr/>
          <p:nvPr/>
        </p:nvSpPr>
        <p:spPr>
          <a:xfrm>
            <a:off x="9509760" y="4032360"/>
            <a:ext cx="2377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Segoe UI"/>
              </a:rPr>
              <a:t>over the USB cable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Rounded Rectangle 88"/>
          <p:cNvSpPr/>
          <p:nvPr/>
        </p:nvSpPr>
        <p:spPr>
          <a:xfrm>
            <a:off x="567000" y="4636080"/>
            <a:ext cx="3502800" cy="868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" name="TextBox 89"/>
          <p:cNvSpPr/>
          <p:nvPr/>
        </p:nvSpPr>
        <p:spPr>
          <a:xfrm>
            <a:off x="786240" y="4800600"/>
            <a:ext cx="30639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The host decides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90"/>
          <p:cNvSpPr/>
          <p:nvPr/>
        </p:nvSpPr>
        <p:spPr>
          <a:xfrm>
            <a:off x="786240" y="5093280"/>
            <a:ext cx="30639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from live memory, heat, battery and link speed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91"/>
          <p:cNvSpPr/>
          <p:nvPr/>
        </p:nvSpPr>
        <p:spPr>
          <a:xfrm>
            <a:off x="4344480" y="4636080"/>
            <a:ext cx="3502800" cy="868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92"/>
          <p:cNvSpPr/>
          <p:nvPr/>
        </p:nvSpPr>
        <p:spPr>
          <a:xfrm>
            <a:off x="4563720" y="4800600"/>
            <a:ext cx="3063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The phone never sees your prompt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93"/>
          <p:cNvSpPr/>
          <p:nvPr/>
        </p:nvSpPr>
        <p:spPr>
          <a:xfrm>
            <a:off x="4563720" y="5093280"/>
            <a:ext cx="30639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it gets numbers, computes, sends numbers back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94"/>
          <p:cNvSpPr/>
          <p:nvPr/>
        </p:nvSpPr>
        <p:spPr>
          <a:xfrm>
            <a:off x="8121600" y="4636080"/>
            <a:ext cx="3502800" cy="868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95"/>
          <p:cNvSpPr/>
          <p:nvPr/>
        </p:nvSpPr>
        <p:spPr>
          <a:xfrm>
            <a:off x="8341200" y="4800600"/>
            <a:ext cx="306396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The head stays home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96"/>
          <p:cNvSpPr/>
          <p:nvPr/>
        </p:nvSpPr>
        <p:spPr>
          <a:xfrm>
            <a:off x="8341200" y="5093280"/>
            <a:ext cx="306396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which is why only kilobytes cross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97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98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the configuration we measured on 27 September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04 · WHAT WE FIXED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Loading went from 517 s to 70 s.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Rectangle 14"/>
          <p:cNvSpPr/>
          <p:nvPr/>
        </p:nvSpPr>
        <p:spPr>
          <a:xfrm>
            <a:off x="567000" y="138996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Rounded Rectangle 15"/>
          <p:cNvSpPr/>
          <p:nvPr/>
        </p:nvSpPr>
        <p:spPr>
          <a:xfrm>
            <a:off x="567000" y="1755720"/>
            <a:ext cx="3502800" cy="2285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16"/>
          <p:cNvSpPr/>
          <p:nvPr/>
        </p:nvSpPr>
        <p:spPr>
          <a:xfrm>
            <a:off x="822960" y="1956960"/>
            <a:ext cx="2990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Loading the 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17"/>
          <p:cNvSpPr/>
          <p:nvPr/>
        </p:nvSpPr>
        <p:spPr>
          <a:xfrm>
            <a:off x="822960" y="2286000"/>
            <a:ext cx="29905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300" spc="-1" strike="noStrike">
                <a:solidFill>
                  <a:srgbClr val="5fd68a"/>
                </a:solidFill>
                <a:latin typeface="Consolas"/>
              </a:rPr>
              <a:t>517 s  →  70 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18"/>
          <p:cNvSpPr/>
          <p:nvPr/>
        </p:nvSpPr>
        <p:spPr>
          <a:xfrm>
            <a:off x="822960" y="2898720"/>
            <a:ext cx="2990520" cy="8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19"/>
          <p:cNvSpPr/>
          <p:nvPr/>
        </p:nvSpPr>
        <p:spPr>
          <a:xfrm>
            <a:off x="4344480" y="1755720"/>
            <a:ext cx="3502800" cy="2285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TextBox 20"/>
          <p:cNvSpPr/>
          <p:nvPr/>
        </p:nvSpPr>
        <p:spPr>
          <a:xfrm>
            <a:off x="4600440" y="1956960"/>
            <a:ext cx="2990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A split it has not used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21"/>
          <p:cNvSpPr/>
          <p:nvPr/>
        </p:nvSpPr>
        <p:spPr>
          <a:xfrm>
            <a:off x="4600440" y="2286000"/>
            <a:ext cx="29905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300" spc="-1" strike="noStrike">
                <a:solidFill>
                  <a:srgbClr val="5fd68a"/>
                </a:solidFill>
                <a:latin typeface="Consolas"/>
              </a:rPr>
              <a:t>437 s  →  70 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22"/>
          <p:cNvSpPr/>
          <p:nvPr/>
        </p:nvSpPr>
        <p:spPr>
          <a:xfrm>
            <a:off x="4600440" y="2898720"/>
            <a:ext cx="2990520" cy="8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ounded Rectangle 23"/>
          <p:cNvSpPr/>
          <p:nvPr/>
        </p:nvSpPr>
        <p:spPr>
          <a:xfrm>
            <a:off x="8121600" y="1755720"/>
            <a:ext cx="3502800" cy="2285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1" name="TextBox 24"/>
          <p:cNvSpPr/>
          <p:nvPr/>
        </p:nvSpPr>
        <p:spPr>
          <a:xfrm>
            <a:off x="8377560" y="1956960"/>
            <a:ext cx="2990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First word in a long chat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25"/>
          <p:cNvSpPr/>
          <p:nvPr/>
        </p:nvSpPr>
        <p:spPr>
          <a:xfrm>
            <a:off x="8377560" y="2286000"/>
            <a:ext cx="29905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300" spc="-1" strike="noStrike">
                <a:solidFill>
                  <a:srgbClr val="5fd68a"/>
                </a:solidFill>
                <a:latin typeface="Consolas"/>
              </a:rPr>
              <a:t>slow  →  fast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6"/>
          <p:cNvSpPr/>
          <p:nvPr/>
        </p:nvSpPr>
        <p:spPr>
          <a:xfrm>
            <a:off x="8377560" y="2898720"/>
            <a:ext cx="2990520" cy="8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ounded Rectangle 27"/>
          <p:cNvSpPr/>
          <p:nvPr/>
        </p:nvSpPr>
        <p:spPr>
          <a:xfrm>
            <a:off x="567000" y="4270320"/>
            <a:ext cx="11057400" cy="16912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" name="TextBox 28"/>
          <p:cNvSpPr/>
          <p:nvPr/>
        </p:nvSpPr>
        <p:spPr>
          <a:xfrm>
            <a:off x="841320" y="4489560"/>
            <a:ext cx="54860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AND THE REST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9"/>
          <p:cNvSpPr/>
          <p:nvPr/>
        </p:nvSpPr>
        <p:spPr>
          <a:xfrm>
            <a:off x="841320" y="49287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30"/>
          <p:cNvSpPr/>
          <p:nvPr/>
        </p:nvSpPr>
        <p:spPr>
          <a:xfrm>
            <a:off x="1078920" y="4837320"/>
            <a:ext cx="48826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The head stays on the host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Rectangle 31"/>
          <p:cNvSpPr/>
          <p:nvPr/>
        </p:nvSpPr>
        <p:spPr>
          <a:xfrm>
            <a:off x="841320" y="540144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" name="TextBox 32"/>
          <p:cNvSpPr/>
          <p:nvPr/>
        </p:nvSpPr>
        <p:spPr>
          <a:xfrm>
            <a:off x="1078920" y="5310000"/>
            <a:ext cx="48826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We take the middle ping, not the average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33"/>
          <p:cNvSpPr/>
          <p:nvPr/>
        </p:nvSpPr>
        <p:spPr>
          <a:xfrm>
            <a:off x="6419160" y="49287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34"/>
          <p:cNvSpPr/>
          <p:nvPr/>
        </p:nvSpPr>
        <p:spPr>
          <a:xfrm>
            <a:off x="6656760" y="4837320"/>
            <a:ext cx="48826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We tested it hot, not cold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ectangle 35"/>
          <p:cNvSpPr/>
          <p:nvPr/>
        </p:nvSpPr>
        <p:spPr>
          <a:xfrm>
            <a:off x="6419160" y="540144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36"/>
          <p:cNvSpPr/>
          <p:nvPr/>
        </p:nvSpPr>
        <p:spPr>
          <a:xfrm>
            <a:off x="6656760" y="5310000"/>
            <a:ext cx="48826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Photos and text on two phones at once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05 · WHEN TO USE IT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Use it when the model does not fit.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14"/>
          <p:cNvSpPr/>
          <p:nvPr/>
        </p:nvSpPr>
        <p:spPr>
          <a:xfrm>
            <a:off x="567000" y="1389960"/>
            <a:ext cx="87778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" name="Rounded Rectangle 16"/>
          <p:cNvSpPr/>
          <p:nvPr/>
        </p:nvSpPr>
        <p:spPr>
          <a:xfrm>
            <a:off x="567000" y="2377440"/>
            <a:ext cx="5391360" cy="32457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17"/>
          <p:cNvSpPr/>
          <p:nvPr/>
        </p:nvSpPr>
        <p:spPr>
          <a:xfrm>
            <a:off x="841320" y="2615040"/>
            <a:ext cx="48427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5fd68a"/>
                </a:solidFill>
                <a:latin typeface="Consolas"/>
              </a:rPr>
              <a:t>USE IT WHEN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ectangle 18"/>
          <p:cNvSpPr/>
          <p:nvPr/>
        </p:nvSpPr>
        <p:spPr>
          <a:xfrm>
            <a:off x="841320" y="31273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4" name="TextBox 19"/>
          <p:cNvSpPr/>
          <p:nvPr/>
        </p:nvSpPr>
        <p:spPr>
          <a:xfrm>
            <a:off x="1078920" y="30358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The model will not fit on one device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Rectangle 20"/>
          <p:cNvSpPr/>
          <p:nvPr/>
        </p:nvSpPr>
        <p:spPr>
          <a:xfrm>
            <a:off x="841320" y="36367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21"/>
          <p:cNvSpPr/>
          <p:nvPr/>
        </p:nvSpPr>
        <p:spPr>
          <a:xfrm>
            <a:off x="1078920" y="35452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The work cannot leave your devices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ectangle 22"/>
          <p:cNvSpPr/>
          <p:nvPr/>
        </p:nvSpPr>
        <p:spPr>
          <a:xfrm>
            <a:off x="841320" y="41461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8" name="TextBox 23"/>
          <p:cNvSpPr/>
          <p:nvPr/>
        </p:nvSpPr>
        <p:spPr>
          <a:xfrm>
            <a:off x="1078920" y="40546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You have devices sitting idle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ectangle 24"/>
          <p:cNvSpPr/>
          <p:nvPr/>
        </p:nvSpPr>
        <p:spPr>
          <a:xfrm>
            <a:off x="841320" y="46555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25"/>
          <p:cNvSpPr/>
          <p:nvPr/>
        </p:nvSpPr>
        <p:spPr>
          <a:xfrm>
            <a:off x="1078920" y="45640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You run it often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Rounded Rectangle 26"/>
          <p:cNvSpPr/>
          <p:nvPr/>
        </p:nvSpPr>
        <p:spPr>
          <a:xfrm>
            <a:off x="6233040" y="2377440"/>
            <a:ext cx="5391360" cy="3245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27"/>
          <p:cNvSpPr/>
          <p:nvPr/>
        </p:nvSpPr>
        <p:spPr>
          <a:xfrm>
            <a:off x="6507360" y="261504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DO NOT USE IT WHEN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ectangle 28"/>
          <p:cNvSpPr/>
          <p:nvPr/>
        </p:nvSpPr>
        <p:spPr>
          <a:xfrm>
            <a:off x="6507360" y="3127320"/>
            <a:ext cx="118440" cy="18720"/>
          </a:xfrm>
          <a:prstGeom prst="rect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TextBox 29"/>
          <p:cNvSpPr/>
          <p:nvPr/>
        </p:nvSpPr>
        <p:spPr>
          <a:xfrm>
            <a:off x="6744960" y="3035880"/>
            <a:ext cx="4568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model already fits one device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30"/>
          <p:cNvSpPr/>
          <p:nvPr/>
        </p:nvSpPr>
        <p:spPr>
          <a:xfrm>
            <a:off x="6744960" y="3246120"/>
            <a:ext cx="4568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ectangle 31"/>
          <p:cNvSpPr/>
          <p:nvPr/>
        </p:nvSpPr>
        <p:spPr>
          <a:xfrm>
            <a:off x="6507360" y="3675960"/>
            <a:ext cx="118440" cy="18720"/>
          </a:xfrm>
          <a:prstGeom prst="rect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32"/>
          <p:cNvSpPr/>
          <p:nvPr/>
        </p:nvSpPr>
        <p:spPr>
          <a:xfrm>
            <a:off x="6744960" y="3584520"/>
            <a:ext cx="4568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You want the fastest possible answer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33"/>
          <p:cNvSpPr/>
          <p:nvPr/>
        </p:nvSpPr>
        <p:spPr>
          <a:xfrm>
            <a:off x="6744960" y="3794760"/>
            <a:ext cx="4568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ectangle 34"/>
          <p:cNvSpPr/>
          <p:nvPr/>
        </p:nvSpPr>
        <p:spPr>
          <a:xfrm>
            <a:off x="6507360" y="4224600"/>
            <a:ext cx="118440" cy="18720"/>
          </a:xfrm>
          <a:prstGeom prst="rect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TextBox 35"/>
          <p:cNvSpPr/>
          <p:nvPr/>
        </p:nvSpPr>
        <p:spPr>
          <a:xfrm>
            <a:off x="6744960" y="4133160"/>
            <a:ext cx="4568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Your data is free to leave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36"/>
          <p:cNvSpPr/>
          <p:nvPr/>
        </p:nvSpPr>
        <p:spPr>
          <a:xfrm>
            <a:off x="6744960" y="4343400"/>
            <a:ext cx="45684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ectangle 37"/>
          <p:cNvSpPr/>
          <p:nvPr/>
        </p:nvSpPr>
        <p:spPr>
          <a:xfrm>
            <a:off x="6507360" y="4773240"/>
            <a:ext cx="118440" cy="18720"/>
          </a:xfrm>
          <a:prstGeom prst="rect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6744960" y="4681800"/>
            <a:ext cx="4568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You need a stranger's phone to be private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39"/>
          <p:cNvSpPr/>
          <p:nvPr/>
        </p:nvSpPr>
        <p:spPr>
          <a:xfrm>
            <a:off x="6744960" y="4892040"/>
            <a:ext cx="4568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40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41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0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1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06 · WHAT YOU DO WITH IT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Review your code before you commit.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4"/>
          <p:cNvSpPr/>
          <p:nvPr/>
        </p:nvSpPr>
        <p:spPr>
          <a:xfrm>
            <a:off x="567000" y="1389960"/>
            <a:ext cx="8777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Rounded Rectangle 16"/>
          <p:cNvSpPr/>
          <p:nvPr/>
        </p:nvSpPr>
        <p:spPr>
          <a:xfrm>
            <a:off x="567000" y="2468880"/>
            <a:ext cx="2558520" cy="1142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3" name="TextBox 17"/>
          <p:cNvSpPr/>
          <p:nvPr/>
        </p:nvSpPr>
        <p:spPr>
          <a:xfrm>
            <a:off x="786240" y="2651760"/>
            <a:ext cx="2119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f0efe9"/>
                </a:solidFill>
                <a:latin typeface="Segoe UI"/>
              </a:rPr>
              <a:t>Your laptop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18"/>
          <p:cNvSpPr/>
          <p:nvPr/>
        </p:nvSpPr>
        <p:spPr>
          <a:xfrm>
            <a:off x="786240" y="2980800"/>
            <a:ext cx="211932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You change a file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19"/>
          <p:cNvSpPr/>
          <p:nvPr/>
        </p:nvSpPr>
        <p:spPr>
          <a:xfrm>
            <a:off x="3143880" y="2880360"/>
            <a:ext cx="2372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5fd68a"/>
                </a:solidFill>
                <a:latin typeface="Segoe U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20"/>
          <p:cNvSpPr/>
          <p:nvPr/>
        </p:nvSpPr>
        <p:spPr>
          <a:xfrm>
            <a:off x="3399840" y="2468880"/>
            <a:ext cx="2558520" cy="1142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TextBox 21"/>
          <p:cNvSpPr/>
          <p:nvPr/>
        </p:nvSpPr>
        <p:spPr>
          <a:xfrm>
            <a:off x="3619440" y="2651760"/>
            <a:ext cx="2119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f0efe9"/>
                </a:solidFill>
                <a:latin typeface="Segoe UI"/>
              </a:rPr>
              <a:t>Your phone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2"/>
          <p:cNvSpPr/>
          <p:nvPr/>
        </p:nvSpPr>
        <p:spPr>
          <a:xfrm>
            <a:off x="3619440" y="2980800"/>
            <a:ext cx="211932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Tap: review my changes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23"/>
          <p:cNvSpPr/>
          <p:nvPr/>
        </p:nvSpPr>
        <p:spPr>
          <a:xfrm>
            <a:off x="5977080" y="2880360"/>
            <a:ext cx="2372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5fd68a"/>
                </a:solidFill>
                <a:latin typeface="Segoe U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24"/>
          <p:cNvSpPr/>
          <p:nvPr/>
        </p:nvSpPr>
        <p:spPr>
          <a:xfrm>
            <a:off x="6233040" y="2468880"/>
            <a:ext cx="2558520" cy="1142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TextBox 25"/>
          <p:cNvSpPr/>
          <p:nvPr/>
        </p:nvSpPr>
        <p:spPr>
          <a:xfrm>
            <a:off x="6452640" y="2651760"/>
            <a:ext cx="2119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f0efe9"/>
                </a:solidFill>
                <a:latin typeface="Segoe UI"/>
              </a:rPr>
              <a:t>The mesh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26"/>
          <p:cNvSpPr/>
          <p:nvPr/>
        </p:nvSpPr>
        <p:spPr>
          <a:xfrm>
            <a:off x="6452640" y="2980800"/>
            <a:ext cx="211932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30B across three devices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27"/>
          <p:cNvSpPr/>
          <p:nvPr/>
        </p:nvSpPr>
        <p:spPr>
          <a:xfrm>
            <a:off x="8809920" y="2880360"/>
            <a:ext cx="2372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5fd68a"/>
                </a:solidFill>
                <a:latin typeface="Segoe U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28"/>
          <p:cNvSpPr/>
          <p:nvPr/>
        </p:nvSpPr>
        <p:spPr>
          <a:xfrm>
            <a:off x="9065880" y="2468880"/>
            <a:ext cx="2558520" cy="114264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TextBox 29"/>
          <p:cNvSpPr/>
          <p:nvPr/>
        </p:nvSpPr>
        <p:spPr>
          <a:xfrm>
            <a:off x="9285480" y="2651760"/>
            <a:ext cx="2119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5fd68a"/>
                </a:solidFill>
                <a:latin typeface="Segoe UI"/>
              </a:rPr>
              <a:t>The review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0"/>
          <p:cNvSpPr/>
          <p:nvPr/>
        </p:nvSpPr>
        <p:spPr>
          <a:xfrm>
            <a:off x="9285480" y="2980800"/>
            <a:ext cx="211932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On your phone, in seconds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Rounded Rectangle 31"/>
          <p:cNvSpPr/>
          <p:nvPr/>
        </p:nvSpPr>
        <p:spPr>
          <a:xfrm>
            <a:off x="567000" y="3931920"/>
            <a:ext cx="5391360" cy="2011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TextBox 32"/>
          <p:cNvSpPr/>
          <p:nvPr/>
        </p:nvSpPr>
        <p:spPr>
          <a:xfrm>
            <a:off x="841320" y="416952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WHY PEOPLE KEEP IT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ectangle 33"/>
          <p:cNvSpPr/>
          <p:nvPr/>
        </p:nvSpPr>
        <p:spPr>
          <a:xfrm>
            <a:off x="841320" y="46267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34"/>
          <p:cNvSpPr/>
          <p:nvPr/>
        </p:nvSpPr>
        <p:spPr>
          <a:xfrm>
            <a:off x="1078920" y="4535280"/>
            <a:ext cx="460512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It installs as a git hook, in one command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ectangle 35"/>
          <p:cNvSpPr/>
          <p:nvPr/>
        </p:nvSpPr>
        <p:spPr>
          <a:xfrm>
            <a:off x="841320" y="52801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36"/>
          <p:cNvSpPr/>
          <p:nvPr/>
        </p:nvSpPr>
        <p:spPr>
          <a:xfrm>
            <a:off x="1078920" y="51886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Every commit gets read before it lands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Rectangle 37"/>
          <p:cNvSpPr/>
          <p:nvPr/>
        </p:nvSpPr>
        <p:spPr>
          <a:xfrm>
            <a:off x="841320" y="56613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38"/>
          <p:cNvSpPr/>
          <p:nvPr/>
        </p:nvSpPr>
        <p:spPr>
          <a:xfrm>
            <a:off x="1078920" y="556992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No bill, however many times you run it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9"/>
          <p:cNvSpPr/>
          <p:nvPr/>
        </p:nvSpPr>
        <p:spPr>
          <a:xfrm>
            <a:off x="6233040" y="3931920"/>
            <a:ext cx="5391360" cy="2011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40"/>
          <p:cNvSpPr/>
          <p:nvPr/>
        </p:nvSpPr>
        <p:spPr>
          <a:xfrm>
            <a:off x="6507360" y="4169520"/>
            <a:ext cx="48427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AND IT NEVER LEAVES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ectangle 41"/>
          <p:cNvSpPr/>
          <p:nvPr/>
        </p:nvSpPr>
        <p:spPr>
          <a:xfrm>
            <a:off x="6507360" y="46267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42"/>
          <p:cNvSpPr/>
          <p:nvPr/>
        </p:nvSpPr>
        <p:spPr>
          <a:xfrm>
            <a:off x="6744960" y="453528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Internet off. No account. No upload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Rectangle 43"/>
          <p:cNvSpPr/>
          <p:nvPr/>
        </p:nvSpPr>
        <p:spPr>
          <a:xfrm>
            <a:off x="6507360" y="50083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44"/>
          <p:cNvSpPr/>
          <p:nvPr/>
        </p:nvSpPr>
        <p:spPr>
          <a:xfrm>
            <a:off x="6744960" y="4916880"/>
            <a:ext cx="460512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The code stays on the desk it was written 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Rectangle 45"/>
          <p:cNvSpPr/>
          <p:nvPr/>
        </p:nvSpPr>
        <p:spPr>
          <a:xfrm>
            <a:off x="6507360" y="56613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2" name="TextBox 46"/>
          <p:cNvSpPr/>
          <p:nvPr/>
        </p:nvSpPr>
        <p:spPr>
          <a:xfrm>
            <a:off x="6744960" y="5569920"/>
            <a:ext cx="46051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f0efe9"/>
                </a:solidFill>
                <a:latin typeface="Segoe UI"/>
              </a:rPr>
              <a:t>Also: review a file, or write its tests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47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48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Freeform 2"/>
          <p:cNvSpPr/>
          <p:nvPr/>
        </p:nvSpPr>
        <p:spPr>
          <a:xfrm>
            <a:off x="9997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Freeform 3"/>
          <p:cNvSpPr/>
          <p:nvPr/>
        </p:nvSpPr>
        <p:spPr>
          <a:xfrm>
            <a:off x="999720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Freeform 4"/>
          <p:cNvSpPr/>
          <p:nvPr/>
        </p:nvSpPr>
        <p:spPr>
          <a:xfrm>
            <a:off x="9997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9" name="Freeform 5"/>
          <p:cNvSpPr/>
          <p:nvPr/>
        </p:nvSpPr>
        <p:spPr>
          <a:xfrm>
            <a:off x="9997200" y="5074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Freeform 6"/>
          <p:cNvSpPr/>
          <p:nvPr/>
        </p:nvSpPr>
        <p:spPr>
          <a:xfrm>
            <a:off x="8854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Freeform 7"/>
          <p:cNvSpPr/>
          <p:nvPr/>
        </p:nvSpPr>
        <p:spPr>
          <a:xfrm>
            <a:off x="801756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2" name="Freeform 8"/>
          <p:cNvSpPr/>
          <p:nvPr/>
        </p:nvSpPr>
        <p:spPr>
          <a:xfrm>
            <a:off x="7711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3" name="Freeform 9"/>
          <p:cNvSpPr/>
          <p:nvPr/>
        </p:nvSpPr>
        <p:spPr>
          <a:xfrm>
            <a:off x="801756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Freeform 10"/>
          <p:cNvSpPr/>
          <p:nvPr/>
        </p:nvSpPr>
        <p:spPr>
          <a:xfrm>
            <a:off x="8854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Freeform 11"/>
          <p:cNvSpPr/>
          <p:nvPr/>
        </p:nvSpPr>
        <p:spPr>
          <a:xfrm>
            <a:off x="9997200" y="2788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6" name="Freeform 12"/>
          <p:cNvSpPr/>
          <p:nvPr/>
        </p:nvSpPr>
        <p:spPr>
          <a:xfrm>
            <a:off x="9997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Freeform 13"/>
          <p:cNvSpPr/>
          <p:nvPr/>
        </p:nvSpPr>
        <p:spPr>
          <a:xfrm>
            <a:off x="999720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Freeform 14"/>
          <p:cNvSpPr/>
          <p:nvPr/>
        </p:nvSpPr>
        <p:spPr>
          <a:xfrm>
            <a:off x="9425520" y="450360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Freeform 15"/>
          <p:cNvSpPr/>
          <p:nvPr/>
        </p:nvSpPr>
        <p:spPr>
          <a:xfrm>
            <a:off x="8854200" y="3931920"/>
            <a:ext cx="2285640" cy="228564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0" name="Freeform 16"/>
          <p:cNvSpPr/>
          <p:nvPr/>
        </p:nvSpPr>
        <p:spPr>
          <a:xfrm>
            <a:off x="8282520" y="3360600"/>
            <a:ext cx="3428640" cy="3428640"/>
          </a:xfrm>
          <a:custGeom>
            <a:avLst/>
            <a:gdLst>
              <a:gd name="textAreaLeft" fmla="*/ 0 w 3428640"/>
              <a:gd name="textAreaRight" fmla="*/ 3429000 w 3428640"/>
              <a:gd name="textAreaTop" fmla="*/ 0 h 3428640"/>
              <a:gd name="textAreaBottom" fmla="*/ 3429000 h 3428640"/>
            </a:gdLst>
            <a:ahLst/>
            <a:rect l="textAreaLeft" t="textAreaTop" r="textAreaRight" b="textAreaBottom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1" name="Freeform 17"/>
          <p:cNvSpPr/>
          <p:nvPr/>
        </p:nvSpPr>
        <p:spPr>
          <a:xfrm>
            <a:off x="7711200" y="2788920"/>
            <a:ext cx="4571640" cy="4571640"/>
          </a:xfrm>
          <a:custGeom>
            <a:avLst/>
            <a:gdLst>
              <a:gd name="textAreaLeft" fmla="*/ 0 w 4571640"/>
              <a:gd name="textAreaRight" fmla="*/ 4572000 w 4571640"/>
              <a:gd name="textAreaTop" fmla="*/ 0 h 4571640"/>
              <a:gd name="textAreaBottom" fmla="*/ 4572000 h 4571640"/>
            </a:gdLst>
            <a:ahLst/>
            <a:rect l="textAreaLeft" t="textAreaTop" r="textAreaRight" b="textAreaBottom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Freeform 18"/>
          <p:cNvSpPr/>
          <p:nvPr/>
        </p:nvSpPr>
        <p:spPr>
          <a:xfrm>
            <a:off x="957492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3" name="Freeform 19"/>
          <p:cNvSpPr/>
          <p:nvPr/>
        </p:nvSpPr>
        <p:spPr>
          <a:xfrm>
            <a:off x="938016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Freeform 20"/>
          <p:cNvSpPr/>
          <p:nvPr/>
        </p:nvSpPr>
        <p:spPr>
          <a:xfrm>
            <a:off x="938772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Freeform 21"/>
          <p:cNvSpPr/>
          <p:nvPr/>
        </p:nvSpPr>
        <p:spPr>
          <a:xfrm>
            <a:off x="959436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Freeform 22"/>
          <p:cNvSpPr/>
          <p:nvPr/>
        </p:nvSpPr>
        <p:spPr>
          <a:xfrm>
            <a:off x="999720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7" name="Freeform 23"/>
          <p:cNvSpPr/>
          <p:nvPr/>
        </p:nvSpPr>
        <p:spPr>
          <a:xfrm>
            <a:off x="999720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Freeform 24"/>
          <p:cNvSpPr/>
          <p:nvPr/>
        </p:nvSpPr>
        <p:spPr>
          <a:xfrm>
            <a:off x="999720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Freeform 25"/>
          <p:cNvSpPr/>
          <p:nvPr/>
        </p:nvSpPr>
        <p:spPr>
          <a:xfrm>
            <a:off x="999720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Oval 26"/>
          <p:cNvSpPr/>
          <p:nvPr/>
        </p:nvSpPr>
        <p:spPr>
          <a:xfrm>
            <a:off x="9779400" y="4959720"/>
            <a:ext cx="434880" cy="43488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1" name="Oval 27"/>
          <p:cNvSpPr/>
          <p:nvPr/>
        </p:nvSpPr>
        <p:spPr>
          <a:xfrm>
            <a:off x="9864000" y="4749840"/>
            <a:ext cx="266040" cy="26604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TextBox 28"/>
          <p:cNvSpPr/>
          <p:nvPr/>
        </p:nvSpPr>
        <p:spPr>
          <a:xfrm>
            <a:off x="567000" y="2194560"/>
            <a:ext cx="8777880" cy="14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Does splitting it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make the answers worse?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07 · PROOF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13% to 47%, on the same tests.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4"/>
          <p:cNvSpPr/>
          <p:nvPr/>
        </p:nvSpPr>
        <p:spPr>
          <a:xfrm>
            <a:off x="567000" y="1389960"/>
            <a:ext cx="87778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Rounded Rectangle 16"/>
          <p:cNvSpPr/>
          <p:nvPr/>
        </p:nvSpPr>
        <p:spPr>
          <a:xfrm>
            <a:off x="567000" y="2377440"/>
            <a:ext cx="6038280" cy="3017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9" name="Rounded Rectangle 17"/>
          <p:cNvSpPr/>
          <p:nvPr/>
        </p:nvSpPr>
        <p:spPr>
          <a:xfrm>
            <a:off x="978480" y="4114800"/>
            <a:ext cx="1371240" cy="36540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TextBox 18"/>
          <p:cNvSpPr/>
          <p:nvPr/>
        </p:nvSpPr>
        <p:spPr>
          <a:xfrm>
            <a:off x="978480" y="3785760"/>
            <a:ext cx="1371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969c90"/>
                </a:solidFill>
                <a:latin typeface="Consolas"/>
              </a:rPr>
              <a:t>13%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Box 19"/>
          <p:cNvSpPr/>
          <p:nvPr/>
        </p:nvSpPr>
        <p:spPr>
          <a:xfrm>
            <a:off x="978480" y="4572000"/>
            <a:ext cx="1371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0.6B alone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2 of 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Box 20"/>
          <p:cNvSpPr/>
          <p:nvPr/>
        </p:nvSpPr>
        <p:spPr>
          <a:xfrm>
            <a:off x="978480" y="504756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20.9 tok/s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Rounded Rectangle 21"/>
          <p:cNvSpPr/>
          <p:nvPr/>
        </p:nvSpPr>
        <p:spPr>
          <a:xfrm>
            <a:off x="2898720" y="3154680"/>
            <a:ext cx="1371240" cy="13255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TextBox 22"/>
          <p:cNvSpPr/>
          <p:nvPr/>
        </p:nvSpPr>
        <p:spPr>
          <a:xfrm>
            <a:off x="2898720" y="2825640"/>
            <a:ext cx="1371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5fd68a"/>
                </a:solidFill>
                <a:latin typeface="Consolas"/>
              </a:rPr>
              <a:t>47%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23"/>
          <p:cNvSpPr/>
          <p:nvPr/>
        </p:nvSpPr>
        <p:spPr>
          <a:xfrm>
            <a:off x="2898720" y="4572000"/>
            <a:ext cx="1371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1.7B alone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7 of 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898720" y="504756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8.6 tok/s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ounded Rectangle 25"/>
          <p:cNvSpPr/>
          <p:nvPr/>
        </p:nvSpPr>
        <p:spPr>
          <a:xfrm>
            <a:off x="4818960" y="3154680"/>
            <a:ext cx="1371240" cy="132552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26"/>
          <p:cNvSpPr/>
          <p:nvPr/>
        </p:nvSpPr>
        <p:spPr>
          <a:xfrm>
            <a:off x="4818960" y="2825640"/>
            <a:ext cx="1371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a78bfa"/>
                </a:solidFill>
                <a:latin typeface="Consolas"/>
              </a:rPr>
              <a:t>47%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27"/>
          <p:cNvSpPr/>
          <p:nvPr/>
        </p:nvSpPr>
        <p:spPr>
          <a:xfrm>
            <a:off x="4818960" y="4572000"/>
            <a:ext cx="1371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1.7B split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7 of 15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28"/>
          <p:cNvSpPr/>
          <p:nvPr/>
        </p:nvSpPr>
        <p:spPr>
          <a:xfrm>
            <a:off x="4818960" y="5047560"/>
            <a:ext cx="13712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Consolas"/>
              </a:rPr>
              <a:t>7.4 tok/s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29"/>
          <p:cNvSpPr/>
          <p:nvPr/>
        </p:nvSpPr>
        <p:spPr>
          <a:xfrm>
            <a:off x="6879960" y="2377440"/>
            <a:ext cx="4744440" cy="3017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30"/>
          <p:cNvSpPr/>
          <p:nvPr/>
        </p:nvSpPr>
        <p:spPr>
          <a:xfrm>
            <a:off x="7154280" y="2615040"/>
            <a:ext cx="41144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WHAT THIS SHOWS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Rectangle 31"/>
          <p:cNvSpPr/>
          <p:nvPr/>
        </p:nvSpPr>
        <p:spPr>
          <a:xfrm>
            <a:off x="7154280" y="31089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32"/>
          <p:cNvSpPr/>
          <p:nvPr/>
        </p:nvSpPr>
        <p:spPr>
          <a:xfrm>
            <a:off x="7392240" y="3017520"/>
            <a:ext cx="39578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A bigger model is three times better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33"/>
          <p:cNvSpPr/>
          <p:nvPr/>
        </p:nvSpPr>
        <p:spPr>
          <a:xfrm>
            <a:off x="7154280" y="36561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34"/>
          <p:cNvSpPr/>
          <p:nvPr/>
        </p:nvSpPr>
        <p:spPr>
          <a:xfrm>
            <a:off x="7392240" y="3564720"/>
            <a:ext cx="39578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Splitting costs a little speed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ectangle 35"/>
          <p:cNvSpPr/>
          <p:nvPr/>
        </p:nvSpPr>
        <p:spPr>
          <a:xfrm>
            <a:off x="7154280" y="420372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TextBox 36"/>
          <p:cNvSpPr/>
          <p:nvPr/>
        </p:nvSpPr>
        <p:spPr>
          <a:xfrm>
            <a:off x="7392240" y="4112280"/>
            <a:ext cx="395784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Splitting does not change the answers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37"/>
          <p:cNvSpPr/>
          <p:nvPr/>
        </p:nvSpPr>
        <p:spPr>
          <a:xfrm>
            <a:off x="7154280" y="4983480"/>
            <a:ext cx="419580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5fd68a"/>
                </a:solidFill>
                <a:latin typeface="Segoe UI"/>
              </a:rPr>
              <a:t>Speed drops a little. Accuracy jumps a lot.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38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39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3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2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08 · LITERATURE SURVEY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Nobody else pools phone memory.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Rectangle 14"/>
          <p:cNvSpPr/>
          <p:nvPr/>
        </p:nvSpPr>
        <p:spPr>
          <a:xfrm>
            <a:off x="567000" y="138996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6" name="TextBox 15"/>
          <p:cNvSpPr/>
          <p:nvPr/>
        </p:nvSpPr>
        <p:spPr>
          <a:xfrm>
            <a:off x="567000" y="1664280"/>
            <a:ext cx="2651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Consolas"/>
              </a:rPr>
              <a:t>SYSTEM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6"/>
          <p:cNvSpPr/>
          <p:nvPr/>
        </p:nvSpPr>
        <p:spPr>
          <a:xfrm>
            <a:off x="3401640" y="1664280"/>
            <a:ext cx="42058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Consolas"/>
              </a:rPr>
              <a:t>WHAT IT DOES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Box 17"/>
          <p:cNvSpPr/>
          <p:nvPr/>
        </p:nvSpPr>
        <p:spPr>
          <a:xfrm>
            <a:off x="7882200" y="1664280"/>
            <a:ext cx="40230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969c90"/>
                </a:solidFill>
                <a:latin typeface="Consolas"/>
              </a:rPr>
              <a:t>WHY IT IS NOT THIS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18"/>
          <p:cNvSpPr/>
          <p:nvPr/>
        </p:nvSpPr>
        <p:spPr>
          <a:xfrm>
            <a:off x="567000" y="20300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Petals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9"/>
          <p:cNvSpPr/>
          <p:nvPr/>
        </p:nvSpPr>
        <p:spPr>
          <a:xfrm>
            <a:off x="567000" y="22402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arXiv 2209.01188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20"/>
          <p:cNvSpPr/>
          <p:nvPr/>
        </p:nvSpPr>
        <p:spPr>
          <a:xfrm>
            <a:off x="3401640" y="20300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A public swarm of volunteer servers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21"/>
          <p:cNvSpPr/>
          <p:nvPr/>
        </p:nvSpPr>
        <p:spPr>
          <a:xfrm>
            <a:off x="7882200" y="20300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0.83 words a second, across continents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Box 22"/>
          <p:cNvSpPr/>
          <p:nvPr/>
        </p:nvSpPr>
        <p:spPr>
          <a:xfrm>
            <a:off x="567000" y="24872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prima.cpp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23"/>
          <p:cNvSpPr/>
          <p:nvPr/>
        </p:nvSpPr>
        <p:spPr>
          <a:xfrm>
            <a:off x="567000" y="26974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arXiv 2504.08791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4"/>
          <p:cNvSpPr/>
          <p:nvPr/>
        </p:nvSpPr>
        <p:spPr>
          <a:xfrm>
            <a:off x="3401640" y="24872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Splits a model across a home cluster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25"/>
          <p:cNvSpPr/>
          <p:nvPr/>
        </p:nvSpPr>
        <p:spPr>
          <a:xfrm>
            <a:off x="7882200" y="24872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Leaves phones out on purpose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26"/>
          <p:cNvSpPr/>
          <p:nvPr/>
        </p:nvSpPr>
        <p:spPr>
          <a:xfrm>
            <a:off x="567000" y="29444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EdgeShard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7"/>
          <p:cNvSpPr/>
          <p:nvPr/>
        </p:nvSpPr>
        <p:spPr>
          <a:xfrm>
            <a:off x="567000" y="31546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arXiv 2405.14371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28"/>
          <p:cNvSpPr/>
          <p:nvPr/>
        </p:nvSpPr>
        <p:spPr>
          <a:xfrm>
            <a:off x="3401640" y="29444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Splits across edge devices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29"/>
          <p:cNvSpPr/>
          <p:nvPr/>
        </p:nvSpPr>
        <p:spPr>
          <a:xfrm>
            <a:off x="7882200" y="29444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Jetsons and servers, not phones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30"/>
          <p:cNvSpPr/>
          <p:nvPr/>
        </p:nvSpPr>
        <p:spPr>
          <a:xfrm>
            <a:off x="567000" y="34016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exo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31"/>
          <p:cNvSpPr/>
          <p:nvPr/>
        </p:nvSpPr>
        <p:spPr>
          <a:xfrm>
            <a:off x="567000" y="36118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github, 47k stars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32"/>
          <p:cNvSpPr/>
          <p:nvPr/>
        </p:nvSpPr>
        <p:spPr>
          <a:xfrm>
            <a:off x="3401640" y="34016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Splits across your Macs and Linux boxes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33"/>
          <p:cNvSpPr/>
          <p:nvPr/>
        </p:nvSpPr>
        <p:spPr>
          <a:xfrm>
            <a:off x="7882200" y="34016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A phone is not a real device in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34"/>
          <p:cNvSpPr/>
          <p:nvPr/>
        </p:nvSpPr>
        <p:spPr>
          <a:xfrm>
            <a:off x="567000" y="38588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Darkbloom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35"/>
          <p:cNvSpPr/>
          <p:nvPr/>
        </p:nvSpPr>
        <p:spPr>
          <a:xfrm>
            <a:off x="567000" y="40690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Eigen Labs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36"/>
          <p:cNvSpPr/>
          <p:nvPr/>
        </p:nvSpPr>
        <p:spPr>
          <a:xfrm>
            <a:off x="3401640" y="38588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Rents idle Macs and pays the owners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37"/>
          <p:cNvSpPr/>
          <p:nvPr/>
        </p:nvSpPr>
        <p:spPr>
          <a:xfrm>
            <a:off x="7882200" y="38588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One whole model per Mac. Never a phone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8"/>
          <p:cNvSpPr/>
          <p:nvPr/>
        </p:nvSpPr>
        <p:spPr>
          <a:xfrm>
            <a:off x="567000" y="43160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llama.cpp RPC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39"/>
          <p:cNvSpPr/>
          <p:nvPr/>
        </p:nvSpPr>
        <p:spPr>
          <a:xfrm>
            <a:off x="567000" y="45262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we build on it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40"/>
          <p:cNvSpPr/>
          <p:nvPr/>
        </p:nvSpPr>
        <p:spPr>
          <a:xfrm>
            <a:off x="3401640" y="43160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Runs layers on another machine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41"/>
          <p:cNvSpPr/>
          <p:nvPr/>
        </p:nvSpPr>
        <p:spPr>
          <a:xfrm>
            <a:off x="7882200" y="43160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You type the split by hand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42"/>
          <p:cNvSpPr/>
          <p:nvPr/>
        </p:nvSpPr>
        <p:spPr>
          <a:xfrm>
            <a:off x="567000" y="4773240"/>
            <a:ext cx="26514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f0efe9"/>
                </a:solidFill>
                <a:latin typeface="Segoe UI"/>
              </a:rPr>
              <a:t>Ollama, LM Studio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43"/>
          <p:cNvSpPr/>
          <p:nvPr/>
        </p:nvSpPr>
        <p:spPr>
          <a:xfrm>
            <a:off x="567000" y="4983480"/>
            <a:ext cx="2651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969c90"/>
                </a:solidFill>
                <a:latin typeface="Consolas"/>
              </a:rPr>
              <a:t>and the rest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44"/>
          <p:cNvSpPr/>
          <p:nvPr/>
        </p:nvSpPr>
        <p:spPr>
          <a:xfrm>
            <a:off x="3401640" y="4773240"/>
            <a:ext cx="4297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Great on one machine, one 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45"/>
          <p:cNvSpPr/>
          <p:nvPr/>
        </p:nvSpPr>
        <p:spPr>
          <a:xfrm>
            <a:off x="7882200" y="4773240"/>
            <a:ext cx="4114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If it does not fit, you cannot run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Rounded Rectangle 46"/>
          <p:cNvSpPr/>
          <p:nvPr/>
        </p:nvSpPr>
        <p:spPr>
          <a:xfrm>
            <a:off x="438840" y="5340240"/>
            <a:ext cx="11313360" cy="56664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TextBox 47"/>
          <p:cNvSpPr/>
          <p:nvPr/>
        </p:nvSpPr>
        <p:spPr>
          <a:xfrm>
            <a:off x="658440" y="5486400"/>
            <a:ext cx="27428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600" spc="-1" strike="noStrike">
                <a:solidFill>
                  <a:srgbClr val="5fd68a"/>
                </a:solidFill>
                <a:latin typeface="Segoe UI"/>
              </a:rPr>
              <a:t>MeshAI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48"/>
          <p:cNvSpPr/>
          <p:nvPr/>
        </p:nvSpPr>
        <p:spPr>
          <a:xfrm>
            <a:off x="3401640" y="5495400"/>
            <a:ext cx="82292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Phones and laptops together. It decides who holds what, and says no when it should.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49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50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a search of arXiv for multi-phone inference returns nothing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Freeform 2"/>
          <p:cNvSpPr/>
          <p:nvPr/>
        </p:nvSpPr>
        <p:spPr>
          <a:xfrm>
            <a:off x="9997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Freeform 3"/>
          <p:cNvSpPr/>
          <p:nvPr/>
        </p:nvSpPr>
        <p:spPr>
          <a:xfrm>
            <a:off x="999720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5" name="Freeform 4"/>
          <p:cNvSpPr/>
          <p:nvPr/>
        </p:nvSpPr>
        <p:spPr>
          <a:xfrm>
            <a:off x="9997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Freeform 5"/>
          <p:cNvSpPr/>
          <p:nvPr/>
        </p:nvSpPr>
        <p:spPr>
          <a:xfrm>
            <a:off x="9997200" y="5074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Freeform 6"/>
          <p:cNvSpPr/>
          <p:nvPr/>
        </p:nvSpPr>
        <p:spPr>
          <a:xfrm>
            <a:off x="8854200" y="507492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8" name="Freeform 7"/>
          <p:cNvSpPr/>
          <p:nvPr/>
        </p:nvSpPr>
        <p:spPr>
          <a:xfrm>
            <a:off x="8017560" y="5074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9" name="Freeform 8"/>
          <p:cNvSpPr/>
          <p:nvPr/>
        </p:nvSpPr>
        <p:spPr>
          <a:xfrm>
            <a:off x="7711200" y="5074920"/>
            <a:ext cx="2285640" cy="36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Freeform 9"/>
          <p:cNvSpPr/>
          <p:nvPr/>
        </p:nvSpPr>
        <p:spPr>
          <a:xfrm>
            <a:off x="801756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Freeform 10"/>
          <p:cNvSpPr/>
          <p:nvPr/>
        </p:nvSpPr>
        <p:spPr>
          <a:xfrm>
            <a:off x="8854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Freeform 11"/>
          <p:cNvSpPr/>
          <p:nvPr/>
        </p:nvSpPr>
        <p:spPr>
          <a:xfrm>
            <a:off x="9997200" y="2788920"/>
            <a:ext cx="360" cy="2285640"/>
          </a:xfrm>
          <a:custGeom>
            <a:avLst/>
            <a:gdLst>
              <a:gd name="textAreaLeft" fmla="*/ 0 w 360"/>
              <a:gd name="textAreaRight" fmla="*/ 720 w 36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Freeform 12"/>
          <p:cNvSpPr/>
          <p:nvPr/>
        </p:nvSpPr>
        <p:spPr>
          <a:xfrm>
            <a:off x="9997200" y="3095280"/>
            <a:ext cx="1142640" cy="197928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979280"/>
              <a:gd name="textAreaBottom" fmla="*/ 1979640 h 1979280"/>
            </a:gdLst>
            <a:ahLst/>
            <a:rect l="textAreaLeft" t="textAreaTop" r="textAreaRight" b="textAreaBottom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Freeform 13"/>
          <p:cNvSpPr/>
          <p:nvPr/>
        </p:nvSpPr>
        <p:spPr>
          <a:xfrm>
            <a:off x="9997200" y="3931920"/>
            <a:ext cx="1979280" cy="1142640"/>
          </a:xfrm>
          <a:custGeom>
            <a:avLst/>
            <a:gdLst>
              <a:gd name="textAreaLeft" fmla="*/ 0 w 1979280"/>
              <a:gd name="textAreaRight" fmla="*/ 1979640 w 197928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Freeform 14"/>
          <p:cNvSpPr/>
          <p:nvPr/>
        </p:nvSpPr>
        <p:spPr>
          <a:xfrm>
            <a:off x="9425520" y="4503600"/>
            <a:ext cx="1142640" cy="1142640"/>
          </a:xfrm>
          <a:custGeom>
            <a:avLst/>
            <a:gdLst>
              <a:gd name="textAreaLeft" fmla="*/ 0 w 1142640"/>
              <a:gd name="textAreaRight" fmla="*/ 1143000 w 1142640"/>
              <a:gd name="textAreaTop" fmla="*/ 0 h 1142640"/>
              <a:gd name="textAreaBottom" fmla="*/ 1143000 h 1142640"/>
            </a:gdLst>
            <a:ahLst/>
            <a:rect l="textAreaLeft" t="textAreaTop" r="textAreaRight" b="textAreaBottom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Freeform 15"/>
          <p:cNvSpPr/>
          <p:nvPr/>
        </p:nvSpPr>
        <p:spPr>
          <a:xfrm>
            <a:off x="8854200" y="3931920"/>
            <a:ext cx="2285640" cy="2285640"/>
          </a:xfrm>
          <a:custGeom>
            <a:avLst/>
            <a:gdLst>
              <a:gd name="textAreaLeft" fmla="*/ 0 w 2285640"/>
              <a:gd name="textAreaRight" fmla="*/ 2286000 w 2285640"/>
              <a:gd name="textAreaTop" fmla="*/ 0 h 2285640"/>
              <a:gd name="textAreaBottom" fmla="*/ 2286000 h 2285640"/>
            </a:gdLst>
            <a:ahLst/>
            <a:rect l="textAreaLeft" t="textAreaTop" r="textAreaRight" b="textAreaBottom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7" name="Freeform 16"/>
          <p:cNvSpPr/>
          <p:nvPr/>
        </p:nvSpPr>
        <p:spPr>
          <a:xfrm>
            <a:off x="8282520" y="3360600"/>
            <a:ext cx="3428640" cy="3428640"/>
          </a:xfrm>
          <a:custGeom>
            <a:avLst/>
            <a:gdLst>
              <a:gd name="textAreaLeft" fmla="*/ 0 w 3428640"/>
              <a:gd name="textAreaRight" fmla="*/ 3429000 w 3428640"/>
              <a:gd name="textAreaTop" fmla="*/ 0 h 3428640"/>
              <a:gd name="textAreaBottom" fmla="*/ 3429000 h 3428640"/>
            </a:gdLst>
            <a:ahLst/>
            <a:rect l="textAreaLeft" t="textAreaTop" r="textAreaRight" b="textAreaBottom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Freeform 17"/>
          <p:cNvSpPr/>
          <p:nvPr/>
        </p:nvSpPr>
        <p:spPr>
          <a:xfrm>
            <a:off x="7711200" y="2788920"/>
            <a:ext cx="4571640" cy="4571640"/>
          </a:xfrm>
          <a:custGeom>
            <a:avLst/>
            <a:gdLst>
              <a:gd name="textAreaLeft" fmla="*/ 0 w 4571640"/>
              <a:gd name="textAreaRight" fmla="*/ 4572000 w 4571640"/>
              <a:gd name="textAreaTop" fmla="*/ 0 h 4571640"/>
              <a:gd name="textAreaBottom" fmla="*/ 4572000 h 4571640"/>
            </a:gdLst>
            <a:ahLst/>
            <a:rect l="textAreaLeft" t="textAreaTop" r="textAreaRight" b="textAreaBottom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9" name="Freeform 18"/>
          <p:cNvSpPr/>
          <p:nvPr/>
        </p:nvSpPr>
        <p:spPr>
          <a:xfrm>
            <a:off x="957492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Freeform 19"/>
          <p:cNvSpPr/>
          <p:nvPr/>
        </p:nvSpPr>
        <p:spPr>
          <a:xfrm>
            <a:off x="938016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Freeform 20"/>
          <p:cNvSpPr/>
          <p:nvPr/>
        </p:nvSpPr>
        <p:spPr>
          <a:xfrm>
            <a:off x="938772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Freeform 21"/>
          <p:cNvSpPr/>
          <p:nvPr/>
        </p:nvSpPr>
        <p:spPr>
          <a:xfrm>
            <a:off x="959436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Freeform 22"/>
          <p:cNvSpPr/>
          <p:nvPr/>
        </p:nvSpPr>
        <p:spPr>
          <a:xfrm>
            <a:off x="9997200" y="4693680"/>
            <a:ext cx="421920" cy="380880"/>
          </a:xfrm>
          <a:custGeom>
            <a:avLst/>
            <a:gdLst>
              <a:gd name="textAreaLeft" fmla="*/ 0 w 421920"/>
              <a:gd name="textAreaRight" fmla="*/ 422280 w 421920"/>
              <a:gd name="textAreaTop" fmla="*/ 0 h 380880"/>
              <a:gd name="textAreaBottom" fmla="*/ 381240 h 380880"/>
            </a:gdLst>
            <a:ahLst/>
            <a:rect l="textAreaLeft" t="textAreaTop" r="textAreaRight" b="textAreaBottom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Freeform 23"/>
          <p:cNvSpPr/>
          <p:nvPr/>
        </p:nvSpPr>
        <p:spPr>
          <a:xfrm>
            <a:off x="9997200" y="4848840"/>
            <a:ext cx="616680" cy="225720"/>
          </a:xfrm>
          <a:custGeom>
            <a:avLst/>
            <a:gdLst>
              <a:gd name="textAreaLeft" fmla="*/ 0 w 616680"/>
              <a:gd name="textAreaRight" fmla="*/ 617040 w 616680"/>
              <a:gd name="textAreaTop" fmla="*/ 0 h 225720"/>
              <a:gd name="textAreaBottom" fmla="*/ 226080 h 225720"/>
            </a:gdLst>
            <a:ahLst/>
            <a:rect l="textAreaLeft" t="textAreaTop" r="textAreaRight" b="textAreaBottom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Freeform 24"/>
          <p:cNvSpPr/>
          <p:nvPr/>
        </p:nvSpPr>
        <p:spPr>
          <a:xfrm>
            <a:off x="9997200" y="5031720"/>
            <a:ext cx="609120" cy="314280"/>
          </a:xfrm>
          <a:custGeom>
            <a:avLst/>
            <a:gdLst>
              <a:gd name="textAreaLeft" fmla="*/ 0 w 609120"/>
              <a:gd name="textAreaRight" fmla="*/ 609480 w 609120"/>
              <a:gd name="textAreaTop" fmla="*/ 0 h 314280"/>
              <a:gd name="textAreaBottom" fmla="*/ 314640 h 314280"/>
            </a:gdLst>
            <a:ahLst/>
            <a:rect l="textAreaLeft" t="textAreaTop" r="textAreaRight" b="textAreaBottom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Freeform 25"/>
          <p:cNvSpPr/>
          <p:nvPr/>
        </p:nvSpPr>
        <p:spPr>
          <a:xfrm>
            <a:off x="9997200" y="5074920"/>
            <a:ext cx="402480" cy="512640"/>
          </a:xfrm>
          <a:custGeom>
            <a:avLst/>
            <a:gdLst>
              <a:gd name="textAreaLeft" fmla="*/ 0 w 402480"/>
              <a:gd name="textAreaRight" fmla="*/ 402840 w 402480"/>
              <a:gd name="textAreaTop" fmla="*/ 0 h 512640"/>
              <a:gd name="textAreaBottom" fmla="*/ 513000 h 512640"/>
            </a:gdLst>
            <a:ahLst/>
            <a:rect l="textAreaLeft" t="textAreaTop" r="textAreaRight" b="textAreaBottom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7" name="Oval 26"/>
          <p:cNvSpPr/>
          <p:nvPr/>
        </p:nvSpPr>
        <p:spPr>
          <a:xfrm>
            <a:off x="9779400" y="4959720"/>
            <a:ext cx="434880" cy="43488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Oval 27"/>
          <p:cNvSpPr/>
          <p:nvPr/>
        </p:nvSpPr>
        <p:spPr>
          <a:xfrm>
            <a:off x="9864000" y="4749840"/>
            <a:ext cx="266040" cy="26604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28"/>
          <p:cNvSpPr/>
          <p:nvPr/>
        </p:nvSpPr>
        <p:spPr>
          <a:xfrm>
            <a:off x="567000" y="2194560"/>
            <a:ext cx="8777880" cy="14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Who pays for this,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1" lang="en-US" sz="4400" spc="-1" strike="noStrike">
                <a:solidFill>
                  <a:srgbClr val="f0efe9"/>
                </a:solidFill>
                <a:latin typeface="Segoe UI"/>
              </a:rPr>
              <a:t>and what are they buying?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2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09 · THE BUSINESS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We rent memory.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4"/>
          <p:cNvSpPr/>
          <p:nvPr/>
        </p:nvSpPr>
        <p:spPr>
          <a:xfrm>
            <a:off x="567000" y="1389960"/>
            <a:ext cx="87778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b="0" lang="en-US" sz="1600" spc="-1" strike="noStrike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15"/>
          <p:cNvSpPr/>
          <p:nvPr/>
        </p:nvSpPr>
        <p:spPr>
          <a:xfrm>
            <a:off x="567000" y="210312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Rounded Rectangle 16"/>
          <p:cNvSpPr/>
          <p:nvPr/>
        </p:nvSpPr>
        <p:spPr>
          <a:xfrm>
            <a:off x="567000" y="2377440"/>
            <a:ext cx="3502800" cy="33375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TextBox 17"/>
          <p:cNvSpPr/>
          <p:nvPr/>
        </p:nvSpPr>
        <p:spPr>
          <a:xfrm>
            <a:off x="822960" y="2615040"/>
            <a:ext cx="2990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5fd68a"/>
                </a:solidFill>
                <a:latin typeface="Consolas"/>
              </a:rPr>
              <a:t>THE FLEET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8"/>
          <p:cNvSpPr/>
          <p:nvPr/>
        </p:nvSpPr>
        <p:spPr>
          <a:xfrm>
            <a:off x="822960" y="2858400"/>
            <a:ext cx="2990520" cy="89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Rectangle 19"/>
          <p:cNvSpPr/>
          <p:nvPr/>
        </p:nvSpPr>
        <p:spPr>
          <a:xfrm>
            <a:off x="822960" y="38404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9" name="TextBox 20"/>
          <p:cNvSpPr/>
          <p:nvPr/>
        </p:nvSpPr>
        <p:spPr>
          <a:xfrm>
            <a:off x="1060560" y="374904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Racked and plugged in, in our hands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ectangle 21"/>
          <p:cNvSpPr/>
          <p:nvPr/>
        </p:nvSpPr>
        <p:spPr>
          <a:xfrm>
            <a:off x="822960" y="44596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TextBox 22"/>
          <p:cNvSpPr/>
          <p:nvPr/>
        </p:nvSpPr>
        <p:spPr>
          <a:xfrm>
            <a:off x="1060560" y="436824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No battery to ruin, no pocket to leave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ectangle 23"/>
          <p:cNvSpPr/>
          <p:nvPr/>
        </p:nvSpPr>
        <p:spPr>
          <a:xfrm>
            <a:off x="822960" y="50788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24"/>
          <p:cNvSpPr/>
          <p:nvPr/>
        </p:nvSpPr>
        <p:spPr>
          <a:xfrm>
            <a:off x="1060560" y="498744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We buy no hardware. They earn from a drawer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5"/>
          <p:cNvSpPr/>
          <p:nvPr/>
        </p:nvSpPr>
        <p:spPr>
          <a:xfrm>
            <a:off x="685800" y="5715000"/>
            <a:ext cx="2990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5fd68a"/>
                </a:solidFill>
                <a:latin typeface="Segoe UI"/>
              </a:rPr>
              <a:t>100 old phones is about 800 GB of memory.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ounded Rectangle 26"/>
          <p:cNvSpPr/>
          <p:nvPr/>
        </p:nvSpPr>
        <p:spPr>
          <a:xfrm>
            <a:off x="4344480" y="2377440"/>
            <a:ext cx="3502800" cy="31086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27"/>
          <p:cNvSpPr/>
          <p:nvPr/>
        </p:nvSpPr>
        <p:spPr>
          <a:xfrm>
            <a:off x="4600440" y="2615040"/>
            <a:ext cx="29905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WHAT A CUSTOMER BUYS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28"/>
          <p:cNvSpPr/>
          <p:nvPr/>
        </p:nvSpPr>
        <p:spPr>
          <a:xfrm>
            <a:off x="4600440" y="2926080"/>
            <a:ext cx="2990520" cy="5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29"/>
          <p:cNvSpPr/>
          <p:nvPr/>
        </p:nvSpPr>
        <p:spPr>
          <a:xfrm>
            <a:off x="4600440" y="3749040"/>
            <a:ext cx="20113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A 8B model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30"/>
          <p:cNvSpPr/>
          <p:nvPr/>
        </p:nvSpPr>
        <p:spPr>
          <a:xfrm>
            <a:off x="5898960" y="3749040"/>
            <a:ext cx="1674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5fd68a"/>
                </a:solidFill>
                <a:latin typeface="Consolas"/>
              </a:rPr>
              <a:t>about 6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31"/>
          <p:cNvSpPr/>
          <p:nvPr/>
        </p:nvSpPr>
        <p:spPr>
          <a:xfrm>
            <a:off x="4600440" y="4133160"/>
            <a:ext cx="20113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A 20B model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32"/>
          <p:cNvSpPr/>
          <p:nvPr/>
        </p:nvSpPr>
        <p:spPr>
          <a:xfrm>
            <a:off x="5898960" y="4133160"/>
            <a:ext cx="1674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5fd68a"/>
                </a:solidFill>
                <a:latin typeface="Consolas"/>
              </a:rPr>
              <a:t>about 13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3"/>
          <p:cNvSpPr/>
          <p:nvPr/>
        </p:nvSpPr>
        <p:spPr>
          <a:xfrm>
            <a:off x="4600440" y="4517280"/>
            <a:ext cx="20113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A 30B model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4"/>
          <p:cNvSpPr/>
          <p:nvPr/>
        </p:nvSpPr>
        <p:spPr>
          <a:xfrm>
            <a:off x="5898960" y="4517280"/>
            <a:ext cx="1674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5fd68a"/>
                </a:solidFill>
                <a:latin typeface="Consolas"/>
              </a:rPr>
              <a:t>about 20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35"/>
          <p:cNvSpPr/>
          <p:nvPr/>
        </p:nvSpPr>
        <p:spPr>
          <a:xfrm>
            <a:off x="4600440" y="4901040"/>
            <a:ext cx="20113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A 70B model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36"/>
          <p:cNvSpPr/>
          <p:nvPr/>
        </p:nvSpPr>
        <p:spPr>
          <a:xfrm>
            <a:off x="5898960" y="4901040"/>
            <a:ext cx="16740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5fd68a"/>
                </a:solidFill>
                <a:latin typeface="Consolas"/>
              </a:rPr>
              <a:t>about 45 GB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7"/>
          <p:cNvSpPr/>
          <p:nvPr/>
        </p:nvSpPr>
        <p:spPr>
          <a:xfrm>
            <a:off x="4600440" y="5684400"/>
            <a:ext cx="2990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c2c6bc"/>
                </a:solidFill>
                <a:latin typeface="Segoe UI"/>
              </a:rPr>
              <a:t>Bigger model, more memory, higher tier.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38"/>
          <p:cNvSpPr/>
          <p:nvPr/>
        </p:nvSpPr>
        <p:spPr>
          <a:xfrm>
            <a:off x="8121600" y="2377440"/>
            <a:ext cx="3502800" cy="31086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9"/>
          <p:cNvSpPr/>
          <p:nvPr/>
        </p:nvSpPr>
        <p:spPr>
          <a:xfrm>
            <a:off x="8377560" y="2615040"/>
            <a:ext cx="29905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AND TWO MORE WAYS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40"/>
          <p:cNvSpPr/>
          <p:nvPr/>
        </p:nvSpPr>
        <p:spPr>
          <a:xfrm>
            <a:off x="8377560" y="3017520"/>
            <a:ext cx="29905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600" spc="-1" strike="noStrike">
                <a:solidFill>
                  <a:srgbClr val="f0efe9"/>
                </a:solidFill>
                <a:latin typeface="Segoe UI"/>
              </a:rPr>
              <a:t>Their own devices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41"/>
          <p:cNvSpPr/>
          <p:nvPr/>
        </p:nvSpPr>
        <p:spPr>
          <a:xfrm>
            <a:off x="8377560" y="3310200"/>
            <a:ext cx="2990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42"/>
          <p:cNvSpPr/>
          <p:nvPr/>
        </p:nvSpPr>
        <p:spPr>
          <a:xfrm>
            <a:off x="8377560" y="4069080"/>
            <a:ext cx="29905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600" spc="-1" strike="noStrike">
                <a:solidFill>
                  <a:srgbClr val="f0efe9"/>
                </a:solidFill>
                <a:latin typeface="Segoe UI"/>
              </a:rPr>
              <a:t>Licensed to a phone maker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3"/>
          <p:cNvSpPr/>
          <p:nvPr/>
        </p:nvSpPr>
        <p:spPr>
          <a:xfrm>
            <a:off x="8377560" y="4361760"/>
            <a:ext cx="2990520" cy="7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44"/>
          <p:cNvSpPr/>
          <p:nvPr/>
        </p:nvSpPr>
        <p:spPr>
          <a:xfrm>
            <a:off x="8377560" y="5166360"/>
            <a:ext cx="299052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5fd68a"/>
                </a:solidFill>
                <a:latin typeface="Segoe UI"/>
              </a:rPr>
              <a:t>That last buyer is in this room.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45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46"/>
          <p:cNvSpPr/>
          <p:nvPr/>
        </p:nvSpPr>
        <p:spPr>
          <a:xfrm>
            <a:off x="5772600" y="6291000"/>
            <a:ext cx="58518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Freeform 2"/>
          <p:cNvSpPr/>
          <p:nvPr/>
        </p:nvSpPr>
        <p:spPr>
          <a:xfrm>
            <a:off x="5176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Freeform 3"/>
          <p:cNvSpPr/>
          <p:nvPr/>
        </p:nvSpPr>
        <p:spPr>
          <a:xfrm>
            <a:off x="46584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Freeform 4"/>
          <p:cNvSpPr/>
          <p:nvPr/>
        </p:nvSpPr>
        <p:spPr>
          <a:xfrm>
            <a:off x="46764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Freeform 5"/>
          <p:cNvSpPr/>
          <p:nvPr/>
        </p:nvSpPr>
        <p:spPr>
          <a:xfrm>
            <a:off x="523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Freeform 6"/>
          <p:cNvSpPr/>
          <p:nvPr/>
        </p:nvSpPr>
        <p:spPr>
          <a:xfrm>
            <a:off x="631080" y="410040"/>
            <a:ext cx="112680" cy="101880"/>
          </a:xfrm>
          <a:custGeom>
            <a:avLst/>
            <a:gdLst>
              <a:gd name="textAreaLeft" fmla="*/ 0 w 112680"/>
              <a:gd name="textAreaRight" fmla="*/ 113040 w 112680"/>
              <a:gd name="textAreaTop" fmla="*/ 0 h 101880"/>
              <a:gd name="textAreaBottom" fmla="*/ 102240 h 101880"/>
            </a:gdLst>
            <a:ahLst/>
            <a:rect l="textAreaLeft" t="textAreaTop" r="textAreaRight" b="textAreaBottom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2" name="Freeform 7"/>
          <p:cNvSpPr/>
          <p:nvPr/>
        </p:nvSpPr>
        <p:spPr>
          <a:xfrm>
            <a:off x="631080" y="451440"/>
            <a:ext cx="164880" cy="60120"/>
          </a:xfrm>
          <a:custGeom>
            <a:avLst/>
            <a:gdLst>
              <a:gd name="textAreaLeft" fmla="*/ 0 w 164880"/>
              <a:gd name="textAreaRight" fmla="*/ 165240 w 164880"/>
              <a:gd name="textAreaTop" fmla="*/ 0 h 60120"/>
              <a:gd name="textAreaBottom" fmla="*/ 60480 h 60120"/>
            </a:gdLst>
            <a:ahLst/>
            <a:rect l="textAreaLeft" t="textAreaTop" r="textAreaRight" b="textAreaBottom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5480" bIns="154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3" name="Freeform 8"/>
          <p:cNvSpPr/>
          <p:nvPr/>
        </p:nvSpPr>
        <p:spPr>
          <a:xfrm>
            <a:off x="631080" y="500400"/>
            <a:ext cx="163080" cy="83880"/>
          </a:xfrm>
          <a:custGeom>
            <a:avLst/>
            <a:gdLst>
              <a:gd name="textAreaLeft" fmla="*/ 0 w 163080"/>
              <a:gd name="textAreaRight" fmla="*/ 163440 w 163080"/>
              <a:gd name="textAreaTop" fmla="*/ 0 h 83880"/>
              <a:gd name="textAreaBottom" fmla="*/ 84240 h 83880"/>
            </a:gdLst>
            <a:ahLst/>
            <a:rect l="textAreaLeft" t="textAreaTop" r="textAreaRight" b="textAreaBottom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240" bIns="39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4" name="Freeform 9"/>
          <p:cNvSpPr/>
          <p:nvPr/>
        </p:nvSpPr>
        <p:spPr>
          <a:xfrm>
            <a:off x="631080" y="511920"/>
            <a:ext cx="107640" cy="137160"/>
          </a:xfrm>
          <a:custGeom>
            <a:avLst/>
            <a:gdLst>
              <a:gd name="textAreaLeft" fmla="*/ 0 w 107640"/>
              <a:gd name="textAreaRight" fmla="*/ 108000 w 107640"/>
              <a:gd name="textAreaTop" fmla="*/ 0 h 137160"/>
              <a:gd name="textAreaBottom" fmla="*/ 137520 h 137160"/>
            </a:gdLst>
            <a:ahLst/>
            <a:rect l="textAreaLeft" t="textAreaTop" r="textAreaRight" b="textAreaBottom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Oval 10"/>
          <p:cNvSpPr/>
          <p:nvPr/>
        </p:nvSpPr>
        <p:spPr>
          <a:xfrm>
            <a:off x="572760" y="481320"/>
            <a:ext cx="116280" cy="11628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Oval 11"/>
          <p:cNvSpPr/>
          <p:nvPr/>
        </p:nvSpPr>
        <p:spPr>
          <a:xfrm>
            <a:off x="595440" y="424800"/>
            <a:ext cx="70920" cy="70920"/>
          </a:xfrm>
          <a:prstGeom prst="ellipse">
            <a:avLst/>
          </a:prstGeom>
          <a:solidFill>
            <a:srgbClr val="969c9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TextBox 12"/>
          <p:cNvSpPr/>
          <p:nvPr/>
        </p:nvSpPr>
        <p:spPr>
          <a:xfrm>
            <a:off x="877680" y="420480"/>
            <a:ext cx="1105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10 · FEASIBILITY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13"/>
          <p:cNvSpPr/>
          <p:nvPr/>
        </p:nvSpPr>
        <p:spPr>
          <a:xfrm>
            <a:off x="567000" y="713160"/>
            <a:ext cx="11057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b="1" lang="en-US" sz="4000" spc="-1" strike="noStrike">
                <a:solidFill>
                  <a:srgbClr val="f0efe9"/>
                </a:solidFill>
                <a:latin typeface="Segoe UI"/>
              </a:rPr>
              <a:t>It ran this weekend.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Rectangle 14"/>
          <p:cNvSpPr/>
          <p:nvPr/>
        </p:nvSpPr>
        <p:spPr>
          <a:xfrm>
            <a:off x="567000" y="1389960"/>
            <a:ext cx="11057400" cy="9000"/>
          </a:xfrm>
          <a:prstGeom prst="rect">
            <a:avLst/>
          </a:prstGeom>
          <a:solidFill>
            <a:srgbClr val="2a2f2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0" name="Rounded Rectangle 15"/>
          <p:cNvSpPr/>
          <p:nvPr/>
        </p:nvSpPr>
        <p:spPr>
          <a:xfrm>
            <a:off x="567000" y="1664280"/>
            <a:ext cx="3502800" cy="40507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1" name="TextBox 16"/>
          <p:cNvSpPr/>
          <p:nvPr/>
        </p:nvSpPr>
        <p:spPr>
          <a:xfrm>
            <a:off x="822960" y="1901880"/>
            <a:ext cx="299052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5fd68a"/>
                </a:solidFill>
                <a:latin typeface="Consolas"/>
              </a:rPr>
              <a:t>WHAT RAN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17"/>
          <p:cNvSpPr/>
          <p:nvPr/>
        </p:nvSpPr>
        <p:spPr>
          <a:xfrm>
            <a:off x="822960" y="2212920"/>
            <a:ext cx="29905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900" spc="-1" strike="noStrike">
                <a:solidFill>
                  <a:srgbClr val="f0efe9"/>
                </a:solidFill>
                <a:latin typeface="Segoe UI"/>
              </a:rPr>
              <a:t>Qwen3-Coder 30B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Rectangle 18"/>
          <p:cNvSpPr/>
          <p:nvPr/>
        </p:nvSpPr>
        <p:spPr>
          <a:xfrm>
            <a:off x="822960" y="27615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TextBox 19"/>
          <p:cNvSpPr/>
          <p:nvPr/>
        </p:nvSpPr>
        <p:spPr>
          <a:xfrm>
            <a:off x="1060560" y="267012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18.6 GB across a laptop and two phones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ectangle 20"/>
          <p:cNvSpPr/>
          <p:nvPr/>
        </p:nvSpPr>
        <p:spPr>
          <a:xfrm>
            <a:off x="822960" y="33807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TextBox 21"/>
          <p:cNvSpPr/>
          <p:nvPr/>
        </p:nvSpPr>
        <p:spPr>
          <a:xfrm>
            <a:off x="1060560" y="328932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phones held 9.6 GB of it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ectangle 22"/>
          <p:cNvSpPr/>
          <p:nvPr/>
        </p:nvSpPr>
        <p:spPr>
          <a:xfrm>
            <a:off x="822960" y="39999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23"/>
          <p:cNvSpPr/>
          <p:nvPr/>
        </p:nvSpPr>
        <p:spPr>
          <a:xfrm>
            <a:off x="1060560" y="390852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Ready in 70 seconds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Rectangle 24"/>
          <p:cNvSpPr/>
          <p:nvPr/>
        </p:nvSpPr>
        <p:spPr>
          <a:xfrm>
            <a:off x="822960" y="43642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25"/>
          <p:cNvSpPr/>
          <p:nvPr/>
        </p:nvSpPr>
        <p:spPr>
          <a:xfrm>
            <a:off x="1060560" y="427284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6.6 words a second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Rectangle 26"/>
          <p:cNvSpPr/>
          <p:nvPr/>
        </p:nvSpPr>
        <p:spPr>
          <a:xfrm>
            <a:off x="822960" y="472860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27"/>
          <p:cNvSpPr/>
          <p:nvPr/>
        </p:nvSpPr>
        <p:spPr>
          <a:xfrm>
            <a:off x="1060560" y="463716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Three coding questions, all correct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ectangle 28"/>
          <p:cNvSpPr/>
          <p:nvPr/>
        </p:nvSpPr>
        <p:spPr>
          <a:xfrm>
            <a:off x="822960" y="534780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29"/>
          <p:cNvSpPr/>
          <p:nvPr/>
        </p:nvSpPr>
        <p:spPr>
          <a:xfrm>
            <a:off x="1060560" y="525636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Internet off the whole time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ounded Rectangle 31"/>
          <p:cNvSpPr/>
          <p:nvPr/>
        </p:nvSpPr>
        <p:spPr>
          <a:xfrm>
            <a:off x="4344480" y="1664280"/>
            <a:ext cx="3502800" cy="40507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32"/>
          <p:cNvSpPr/>
          <p:nvPr/>
        </p:nvSpPr>
        <p:spPr>
          <a:xfrm>
            <a:off x="4600440" y="1901880"/>
            <a:ext cx="29905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BUILT IN THE WINDOW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Rectangle 33"/>
          <p:cNvSpPr/>
          <p:nvPr/>
        </p:nvSpPr>
        <p:spPr>
          <a:xfrm>
            <a:off x="4600440" y="23590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34"/>
          <p:cNvSpPr/>
          <p:nvPr/>
        </p:nvSpPr>
        <p:spPr>
          <a:xfrm>
            <a:off x="4838040" y="226764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llama.cpp built for phones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ectangle 35"/>
          <p:cNvSpPr/>
          <p:nvPr/>
        </p:nvSpPr>
        <p:spPr>
          <a:xfrm>
            <a:off x="4600440" y="29782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0" name="TextBox 36"/>
          <p:cNvSpPr/>
          <p:nvPr/>
        </p:nvSpPr>
        <p:spPr>
          <a:xfrm>
            <a:off x="4838040" y="288684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app: host and helper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Rectangle 37"/>
          <p:cNvSpPr/>
          <p:nvPr/>
        </p:nvSpPr>
        <p:spPr>
          <a:xfrm>
            <a:off x="4600440" y="334296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TextBox 38"/>
          <p:cNvSpPr/>
          <p:nvPr/>
        </p:nvSpPr>
        <p:spPr>
          <a:xfrm>
            <a:off x="4838040" y="325152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laptop agent and its panel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Rectangle 39"/>
          <p:cNvSpPr/>
          <p:nvPr/>
        </p:nvSpPr>
        <p:spPr>
          <a:xfrm>
            <a:off x="4600440" y="396180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40"/>
          <p:cNvSpPr/>
          <p:nvPr/>
        </p:nvSpPr>
        <p:spPr>
          <a:xfrm>
            <a:off x="4838040" y="3870360"/>
            <a:ext cx="27529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Our own model reader and planner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Rectangle 41"/>
          <p:cNvSpPr/>
          <p:nvPr/>
        </p:nvSpPr>
        <p:spPr>
          <a:xfrm>
            <a:off x="4600440" y="458100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6" name="TextBox 42"/>
          <p:cNvSpPr/>
          <p:nvPr/>
        </p:nvSpPr>
        <p:spPr>
          <a:xfrm>
            <a:off x="4838040" y="448956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layer store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ectangle 43"/>
          <p:cNvSpPr/>
          <p:nvPr/>
        </p:nvSpPr>
        <p:spPr>
          <a:xfrm>
            <a:off x="4600440" y="494568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TextBox 44"/>
          <p:cNvSpPr/>
          <p:nvPr/>
        </p:nvSpPr>
        <p:spPr>
          <a:xfrm>
            <a:off x="4838040" y="485424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test harness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ectangle 45"/>
          <p:cNvSpPr/>
          <p:nvPr/>
        </p:nvSpPr>
        <p:spPr>
          <a:xfrm>
            <a:off x="4600440" y="5310000"/>
            <a:ext cx="118440" cy="18720"/>
          </a:xfrm>
          <a:prstGeom prst="rect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5920" bIns="-25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0" name="TextBox 46"/>
          <p:cNvSpPr/>
          <p:nvPr/>
        </p:nvSpPr>
        <p:spPr>
          <a:xfrm>
            <a:off x="4838040" y="5218560"/>
            <a:ext cx="275292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f0efe9"/>
                </a:solidFill>
                <a:latin typeface="Segoe UI"/>
              </a:rPr>
              <a:t>The CLI and the git hook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ounded Rectangle 48"/>
          <p:cNvSpPr/>
          <p:nvPr/>
        </p:nvSpPr>
        <p:spPr>
          <a:xfrm>
            <a:off x="8121600" y="1664280"/>
            <a:ext cx="3502800" cy="40507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TextBox 49"/>
          <p:cNvSpPr/>
          <p:nvPr/>
        </p:nvSpPr>
        <p:spPr>
          <a:xfrm>
            <a:off x="8377560" y="1901880"/>
            <a:ext cx="29905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IF SOMETHING GOES WRONG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50"/>
          <p:cNvSpPr/>
          <p:nvPr/>
        </p:nvSpPr>
        <p:spPr>
          <a:xfrm>
            <a:off x="8377560" y="228600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Slow link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51"/>
          <p:cNvSpPr/>
          <p:nvPr/>
        </p:nvSpPr>
        <p:spPr>
          <a:xfrm>
            <a:off x="10133280" y="2286000"/>
            <a:ext cx="1216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refused above 60 ms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52"/>
          <p:cNvSpPr/>
          <p:nvPr/>
        </p:nvSpPr>
        <p:spPr>
          <a:xfrm>
            <a:off x="8377560" y="2697480"/>
            <a:ext cx="17370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Phone short of memory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53"/>
          <p:cNvSpPr/>
          <p:nvPr/>
        </p:nvSpPr>
        <p:spPr>
          <a:xfrm>
            <a:off x="10133280" y="2697480"/>
            <a:ext cx="12168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we reserve, and you can cap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54"/>
          <p:cNvSpPr/>
          <p:nvPr/>
        </p:nvSpPr>
        <p:spPr>
          <a:xfrm>
            <a:off x="8377560" y="310896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A device drops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Box 56"/>
          <p:cNvSpPr/>
          <p:nvPr/>
        </p:nvSpPr>
        <p:spPr>
          <a:xfrm>
            <a:off x="8377560" y="3520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Engine missing a flag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57"/>
          <p:cNvSpPr/>
          <p:nvPr/>
        </p:nvSpPr>
        <p:spPr>
          <a:xfrm>
            <a:off x="10133280" y="3520440"/>
            <a:ext cx="1216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we ask it what it has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58"/>
          <p:cNvSpPr/>
          <p:nvPr/>
        </p:nvSpPr>
        <p:spPr>
          <a:xfrm>
            <a:off x="8377560" y="393192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Bad model file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Box 59"/>
          <p:cNvSpPr/>
          <p:nvPr/>
        </p:nvSpPr>
        <p:spPr>
          <a:xfrm>
            <a:off x="10133280" y="3931920"/>
            <a:ext cx="1216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every read is checked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60"/>
          <p:cNvSpPr/>
          <p:nvPr/>
        </p:nvSpPr>
        <p:spPr>
          <a:xfrm>
            <a:off x="8377560" y="434340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f0efe9"/>
                </a:solidFill>
                <a:latin typeface="Segoe UI"/>
              </a:rPr>
              <a:t>A strange machine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61"/>
          <p:cNvSpPr/>
          <p:nvPr/>
        </p:nvSpPr>
        <p:spPr>
          <a:xfrm>
            <a:off x="10133280" y="4343400"/>
            <a:ext cx="121680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969c90"/>
                </a:solidFill>
                <a:latin typeface="Segoe UI"/>
              </a:rPr>
              <a:t>one button checks everything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62"/>
          <p:cNvSpPr/>
          <p:nvPr/>
        </p:nvSpPr>
        <p:spPr>
          <a:xfrm>
            <a:off x="8439480" y="5257800"/>
            <a:ext cx="2990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500" spc="-1" strike="noStrike">
                <a:solidFill>
                  <a:srgbClr val="5fd68a"/>
                </a:solidFill>
                <a:latin typeface="Segoe UI"/>
              </a:rPr>
              <a:t>It says no before it disappoints you.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63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MeshAI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64"/>
          <p:cNvSpPr/>
          <p:nvPr/>
        </p:nvSpPr>
        <p:spPr>
          <a:xfrm>
            <a:off x="5772600" y="6291000"/>
            <a:ext cx="58518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0c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Freeform 2"/>
          <p:cNvSpPr/>
          <p:nvPr/>
        </p:nvSpPr>
        <p:spPr>
          <a:xfrm>
            <a:off x="9753480" y="3291840"/>
            <a:ext cx="2468520" cy="360"/>
          </a:xfrm>
          <a:custGeom>
            <a:avLst/>
            <a:gdLst>
              <a:gd name="textAreaLeft" fmla="*/ 0 w 2468520"/>
              <a:gd name="textAreaRight" fmla="*/ 2468880 w 246852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468880" h="0">
                <a:moveTo>
                  <a:pt x="0" y="0"/>
                </a:moveTo>
                <a:lnTo>
                  <a:pt x="246888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Freeform 3"/>
          <p:cNvSpPr/>
          <p:nvPr/>
        </p:nvSpPr>
        <p:spPr>
          <a:xfrm>
            <a:off x="9753480" y="3291840"/>
            <a:ext cx="2137680" cy="1234080"/>
          </a:xfrm>
          <a:custGeom>
            <a:avLst/>
            <a:gdLst>
              <a:gd name="textAreaLeft" fmla="*/ 0 w 2137680"/>
              <a:gd name="textAreaRight" fmla="*/ 2138040 w 213768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2138112" h="1234440">
                <a:moveTo>
                  <a:pt x="0" y="0"/>
                </a:moveTo>
                <a:lnTo>
                  <a:pt x="2138112" y="123444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Freeform 4"/>
          <p:cNvSpPr/>
          <p:nvPr/>
        </p:nvSpPr>
        <p:spPr>
          <a:xfrm>
            <a:off x="9753480" y="3291840"/>
            <a:ext cx="1234080" cy="213768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2137680"/>
              <a:gd name="textAreaBottom" fmla="*/ 2138040 h 2137680"/>
            </a:gdLst>
            <a:ahLst/>
            <a:rect l="textAreaLeft" t="textAreaTop" r="textAreaRight" b="textAreaBottom"/>
            <a:pathLst>
              <a:path w="1234440" h="2138112">
                <a:moveTo>
                  <a:pt x="0" y="0"/>
                </a:moveTo>
                <a:lnTo>
                  <a:pt x="1234440" y="2138112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1" name="Freeform 5"/>
          <p:cNvSpPr/>
          <p:nvPr/>
        </p:nvSpPr>
        <p:spPr>
          <a:xfrm>
            <a:off x="9753480" y="3291840"/>
            <a:ext cx="360" cy="2468520"/>
          </a:xfrm>
          <a:custGeom>
            <a:avLst/>
            <a:gdLst>
              <a:gd name="textAreaLeft" fmla="*/ 0 w 360"/>
              <a:gd name="textAreaRight" fmla="*/ 720 w 36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0" h="2468880">
                <a:moveTo>
                  <a:pt x="0" y="0"/>
                </a:moveTo>
                <a:lnTo>
                  <a:pt x="0" y="246888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2" name="Freeform 6"/>
          <p:cNvSpPr/>
          <p:nvPr/>
        </p:nvSpPr>
        <p:spPr>
          <a:xfrm>
            <a:off x="8519040" y="3291840"/>
            <a:ext cx="1234080" cy="213768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2137680"/>
              <a:gd name="textAreaBottom" fmla="*/ 2138040 h 2137680"/>
            </a:gdLst>
            <a:ahLst/>
            <a:rect l="textAreaLeft" t="textAreaTop" r="textAreaRight" b="textAreaBottom"/>
            <a:pathLst>
              <a:path w="1234440" h="2138112">
                <a:moveTo>
                  <a:pt x="1234440" y="0"/>
                </a:moveTo>
                <a:lnTo>
                  <a:pt x="0" y="2138112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Freeform 7"/>
          <p:cNvSpPr/>
          <p:nvPr/>
        </p:nvSpPr>
        <p:spPr>
          <a:xfrm>
            <a:off x="7615080" y="3291840"/>
            <a:ext cx="2137680" cy="1234080"/>
          </a:xfrm>
          <a:custGeom>
            <a:avLst/>
            <a:gdLst>
              <a:gd name="textAreaLeft" fmla="*/ 0 w 2137680"/>
              <a:gd name="textAreaRight" fmla="*/ 2138040 w 213768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2138113" h="1234440">
                <a:moveTo>
                  <a:pt x="2138113" y="0"/>
                </a:moveTo>
                <a:lnTo>
                  <a:pt x="0" y="123444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Freeform 8"/>
          <p:cNvSpPr/>
          <p:nvPr/>
        </p:nvSpPr>
        <p:spPr>
          <a:xfrm>
            <a:off x="7284600" y="3291840"/>
            <a:ext cx="2468520" cy="360"/>
          </a:xfrm>
          <a:custGeom>
            <a:avLst/>
            <a:gdLst>
              <a:gd name="textAreaLeft" fmla="*/ 0 w 2468520"/>
              <a:gd name="textAreaRight" fmla="*/ 2468880 w 2468520"/>
              <a:gd name="textAreaTop" fmla="*/ 0 h 360"/>
              <a:gd name="textAreaBottom" fmla="*/ 720 h 360"/>
            </a:gdLst>
            <a:ahLst/>
            <a:rect l="textAreaLeft" t="textAreaTop" r="textAreaRight" b="textAreaBottom"/>
            <a:pathLst>
              <a:path w="2468880" h="0">
                <a:moveTo>
                  <a:pt x="246888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44280" bIns="-44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5" name="Freeform 9"/>
          <p:cNvSpPr/>
          <p:nvPr/>
        </p:nvSpPr>
        <p:spPr>
          <a:xfrm>
            <a:off x="7615080" y="2057400"/>
            <a:ext cx="2137680" cy="1234080"/>
          </a:xfrm>
          <a:custGeom>
            <a:avLst/>
            <a:gdLst>
              <a:gd name="textAreaLeft" fmla="*/ 0 w 2137680"/>
              <a:gd name="textAreaRight" fmla="*/ 2138040 w 213768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2138113" h="1234440">
                <a:moveTo>
                  <a:pt x="2138113" y="1234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6" name="Freeform 10"/>
          <p:cNvSpPr/>
          <p:nvPr/>
        </p:nvSpPr>
        <p:spPr>
          <a:xfrm>
            <a:off x="8519040" y="1153800"/>
            <a:ext cx="1234080" cy="213768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2137680"/>
              <a:gd name="textAreaBottom" fmla="*/ 2138040 h 2137680"/>
            </a:gdLst>
            <a:ahLst/>
            <a:rect l="textAreaLeft" t="textAreaTop" r="textAreaRight" b="textAreaBottom"/>
            <a:pathLst>
              <a:path w="1234441" h="2138113">
                <a:moveTo>
                  <a:pt x="1234441" y="2138113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7" name="Freeform 11"/>
          <p:cNvSpPr/>
          <p:nvPr/>
        </p:nvSpPr>
        <p:spPr>
          <a:xfrm>
            <a:off x="9753480" y="822960"/>
            <a:ext cx="360" cy="2468520"/>
          </a:xfrm>
          <a:custGeom>
            <a:avLst/>
            <a:gdLst>
              <a:gd name="textAreaLeft" fmla="*/ 0 w 360"/>
              <a:gd name="textAreaRight" fmla="*/ 720 w 36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0" h="2468880">
                <a:moveTo>
                  <a:pt x="0" y="246888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Freeform 12"/>
          <p:cNvSpPr/>
          <p:nvPr/>
        </p:nvSpPr>
        <p:spPr>
          <a:xfrm>
            <a:off x="9753480" y="1153800"/>
            <a:ext cx="1234080" cy="213768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2137680"/>
              <a:gd name="textAreaBottom" fmla="*/ 2138040 h 2137680"/>
            </a:gdLst>
            <a:ahLst/>
            <a:rect l="textAreaLeft" t="textAreaTop" r="textAreaRight" b="textAreaBottom"/>
            <a:pathLst>
              <a:path w="1234440" h="2138113">
                <a:moveTo>
                  <a:pt x="0" y="2138113"/>
                </a:moveTo>
                <a:lnTo>
                  <a:pt x="1234440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Freeform 13"/>
          <p:cNvSpPr/>
          <p:nvPr/>
        </p:nvSpPr>
        <p:spPr>
          <a:xfrm>
            <a:off x="9753480" y="2057400"/>
            <a:ext cx="2137680" cy="1234080"/>
          </a:xfrm>
          <a:custGeom>
            <a:avLst/>
            <a:gdLst>
              <a:gd name="textAreaLeft" fmla="*/ 0 w 2137680"/>
              <a:gd name="textAreaRight" fmla="*/ 2138040 w 213768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2138112" h="1234441">
                <a:moveTo>
                  <a:pt x="0" y="1234441"/>
                </a:moveTo>
                <a:lnTo>
                  <a:pt x="2138112" y="0"/>
                </a:lnTo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0" name="Freeform 14"/>
          <p:cNvSpPr/>
          <p:nvPr/>
        </p:nvSpPr>
        <p:spPr>
          <a:xfrm>
            <a:off x="9136080" y="2674800"/>
            <a:ext cx="1234080" cy="1234080"/>
          </a:xfrm>
          <a:custGeom>
            <a:avLst/>
            <a:gdLst>
              <a:gd name="textAreaLeft" fmla="*/ 0 w 1234080"/>
              <a:gd name="textAreaRight" fmla="*/ 1234440 w 1234080"/>
              <a:gd name="textAreaTop" fmla="*/ 0 h 1234080"/>
              <a:gd name="textAreaBottom" fmla="*/ 1234440 h 1234080"/>
            </a:gdLst>
            <a:ahLst/>
            <a:rect l="textAreaLeft" t="textAreaTop" r="textAreaRight" b="textAreaBottom"/>
            <a:pathLst>
              <a:path w="1234440" h="1234440">
                <a:moveTo>
                  <a:pt x="1234440" y="617220"/>
                </a:moveTo>
                <a:lnTo>
                  <a:pt x="1151748" y="925830"/>
                </a:lnTo>
                <a:lnTo>
                  <a:pt x="925830" y="1151748"/>
                </a:lnTo>
                <a:lnTo>
                  <a:pt x="617220" y="1234440"/>
                </a:lnTo>
                <a:lnTo>
                  <a:pt x="308610" y="1151748"/>
                </a:lnTo>
                <a:lnTo>
                  <a:pt x="82691" y="925830"/>
                </a:lnTo>
                <a:lnTo>
                  <a:pt x="0" y="617220"/>
                </a:lnTo>
                <a:lnTo>
                  <a:pt x="82691" y="308610"/>
                </a:lnTo>
                <a:lnTo>
                  <a:pt x="308610" y="82691"/>
                </a:lnTo>
                <a:lnTo>
                  <a:pt x="617220" y="0"/>
                </a:lnTo>
                <a:lnTo>
                  <a:pt x="925830" y="82691"/>
                </a:lnTo>
                <a:lnTo>
                  <a:pt x="1151748" y="308609"/>
                </a:lnTo>
                <a:lnTo>
                  <a:pt x="1234440" y="61722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1" name="Freeform 15"/>
          <p:cNvSpPr/>
          <p:nvPr/>
        </p:nvSpPr>
        <p:spPr>
          <a:xfrm>
            <a:off x="8519040" y="2057400"/>
            <a:ext cx="2468520" cy="2468520"/>
          </a:xfrm>
          <a:custGeom>
            <a:avLst/>
            <a:gdLst>
              <a:gd name="textAreaLeft" fmla="*/ 0 w 2468520"/>
              <a:gd name="textAreaRight" fmla="*/ 2468880 w 2468520"/>
              <a:gd name="textAreaTop" fmla="*/ 0 h 2468520"/>
              <a:gd name="textAreaBottom" fmla="*/ 2468880 h 2468520"/>
            </a:gdLst>
            <a:ahLst/>
            <a:rect l="textAreaLeft" t="textAreaTop" r="textAreaRight" b="textAreaBottom"/>
            <a:pathLst>
              <a:path w="2468880" h="2468880">
                <a:moveTo>
                  <a:pt x="2468880" y="1234440"/>
                </a:moveTo>
                <a:lnTo>
                  <a:pt x="2303496" y="1851660"/>
                </a:lnTo>
                <a:lnTo>
                  <a:pt x="1851660" y="2303496"/>
                </a:lnTo>
                <a:lnTo>
                  <a:pt x="1234440" y="2468880"/>
                </a:lnTo>
                <a:lnTo>
                  <a:pt x="617220" y="2303496"/>
                </a:lnTo>
                <a:lnTo>
                  <a:pt x="165383" y="1851660"/>
                </a:lnTo>
                <a:lnTo>
                  <a:pt x="0" y="1234440"/>
                </a:lnTo>
                <a:lnTo>
                  <a:pt x="165383" y="617220"/>
                </a:lnTo>
                <a:lnTo>
                  <a:pt x="617220" y="165383"/>
                </a:lnTo>
                <a:lnTo>
                  <a:pt x="1234440" y="0"/>
                </a:lnTo>
                <a:lnTo>
                  <a:pt x="1851660" y="165383"/>
                </a:lnTo>
                <a:lnTo>
                  <a:pt x="2303496" y="617219"/>
                </a:lnTo>
                <a:lnTo>
                  <a:pt x="2468880" y="1234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Freeform 16"/>
          <p:cNvSpPr/>
          <p:nvPr/>
        </p:nvSpPr>
        <p:spPr>
          <a:xfrm>
            <a:off x="7901640" y="1440360"/>
            <a:ext cx="3702960" cy="3702960"/>
          </a:xfrm>
          <a:custGeom>
            <a:avLst/>
            <a:gdLst>
              <a:gd name="textAreaLeft" fmla="*/ 0 w 3702960"/>
              <a:gd name="textAreaRight" fmla="*/ 3703320 w 3702960"/>
              <a:gd name="textAreaTop" fmla="*/ 0 h 3702960"/>
              <a:gd name="textAreaBottom" fmla="*/ 3703320 h 3702960"/>
            </a:gdLst>
            <a:ahLst/>
            <a:rect l="textAreaLeft" t="textAreaTop" r="textAreaRight" b="textAreaBottom"/>
            <a:pathLst>
              <a:path w="3703320" h="3703320">
                <a:moveTo>
                  <a:pt x="3703320" y="1851660"/>
                </a:moveTo>
                <a:lnTo>
                  <a:pt x="3455244" y="2777490"/>
                </a:lnTo>
                <a:lnTo>
                  <a:pt x="2777490" y="3455244"/>
                </a:lnTo>
                <a:lnTo>
                  <a:pt x="1851660" y="3703320"/>
                </a:lnTo>
                <a:lnTo>
                  <a:pt x="925830" y="3455244"/>
                </a:lnTo>
                <a:lnTo>
                  <a:pt x="248075" y="2777490"/>
                </a:lnTo>
                <a:lnTo>
                  <a:pt x="0" y="1851660"/>
                </a:lnTo>
                <a:lnTo>
                  <a:pt x="248075" y="925830"/>
                </a:lnTo>
                <a:lnTo>
                  <a:pt x="925830" y="248075"/>
                </a:lnTo>
                <a:lnTo>
                  <a:pt x="1851660" y="0"/>
                </a:lnTo>
                <a:lnTo>
                  <a:pt x="2777490" y="248075"/>
                </a:lnTo>
                <a:lnTo>
                  <a:pt x="3455244" y="925829"/>
                </a:lnTo>
                <a:lnTo>
                  <a:pt x="3703320" y="185165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Freeform 17"/>
          <p:cNvSpPr/>
          <p:nvPr/>
        </p:nvSpPr>
        <p:spPr>
          <a:xfrm>
            <a:off x="7284600" y="822960"/>
            <a:ext cx="4937400" cy="4937400"/>
          </a:xfrm>
          <a:custGeom>
            <a:avLst/>
            <a:gdLst>
              <a:gd name="textAreaLeft" fmla="*/ 0 w 4937400"/>
              <a:gd name="textAreaRight" fmla="*/ 4937760 w 4937400"/>
              <a:gd name="textAreaTop" fmla="*/ 0 h 4937400"/>
              <a:gd name="textAreaBottom" fmla="*/ 4937760 h 4937400"/>
            </a:gdLst>
            <a:ahLst/>
            <a:rect l="textAreaLeft" t="textAreaTop" r="textAreaRight" b="textAreaBottom"/>
            <a:pathLst>
              <a:path w="4937760" h="4937760">
                <a:moveTo>
                  <a:pt x="4937760" y="2468880"/>
                </a:moveTo>
                <a:lnTo>
                  <a:pt x="4606992" y="3703320"/>
                </a:lnTo>
                <a:lnTo>
                  <a:pt x="3703320" y="4606992"/>
                </a:lnTo>
                <a:lnTo>
                  <a:pt x="2468880" y="4937760"/>
                </a:lnTo>
                <a:lnTo>
                  <a:pt x="1234440" y="4606992"/>
                </a:lnTo>
                <a:lnTo>
                  <a:pt x="330767" y="3703320"/>
                </a:lnTo>
                <a:lnTo>
                  <a:pt x="0" y="2468880"/>
                </a:lnTo>
                <a:lnTo>
                  <a:pt x="330767" y="1234440"/>
                </a:lnTo>
                <a:lnTo>
                  <a:pt x="1234439" y="330767"/>
                </a:lnTo>
                <a:lnTo>
                  <a:pt x="2468880" y="0"/>
                </a:lnTo>
                <a:lnTo>
                  <a:pt x="3703320" y="330767"/>
                </a:lnTo>
                <a:lnTo>
                  <a:pt x="4606992" y="1234439"/>
                </a:lnTo>
                <a:lnTo>
                  <a:pt x="4937760" y="24688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4" name="Freeform 18"/>
          <p:cNvSpPr/>
          <p:nvPr/>
        </p:nvSpPr>
        <p:spPr>
          <a:xfrm>
            <a:off x="9210240" y="2801520"/>
            <a:ext cx="542880" cy="489960"/>
          </a:xfrm>
          <a:custGeom>
            <a:avLst/>
            <a:gdLst>
              <a:gd name="textAreaLeft" fmla="*/ 0 w 542880"/>
              <a:gd name="textAreaRight" fmla="*/ 543240 w 542880"/>
              <a:gd name="textAreaTop" fmla="*/ 0 h 489960"/>
              <a:gd name="textAreaBottom" fmla="*/ 490320 h 489960"/>
            </a:gdLst>
            <a:ahLst/>
            <a:rect l="textAreaLeft" t="textAreaTop" r="textAreaRight" b="textAreaBottom"/>
            <a:pathLst>
              <a:path w="543140" h="490189">
                <a:moveTo>
                  <a:pt x="543140" y="490189"/>
                </a:moveTo>
                <a:lnTo>
                  <a:pt x="217256" y="0"/>
                </a:lnTo>
                <a:lnTo>
                  <a:pt x="0" y="143702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5" name="Freeform 19"/>
          <p:cNvSpPr/>
          <p:nvPr/>
        </p:nvSpPr>
        <p:spPr>
          <a:xfrm>
            <a:off x="8960040" y="3000960"/>
            <a:ext cx="792720" cy="290520"/>
          </a:xfrm>
          <a:custGeom>
            <a:avLst/>
            <a:gdLst>
              <a:gd name="textAreaLeft" fmla="*/ 0 w 792720"/>
              <a:gd name="textAreaRight" fmla="*/ 793080 w 792720"/>
              <a:gd name="textAreaTop" fmla="*/ 0 h 290520"/>
              <a:gd name="textAreaBottom" fmla="*/ 290880 h 290520"/>
            </a:gdLst>
            <a:ahLst/>
            <a:rect l="textAreaLeft" t="textAreaTop" r="textAreaRight" b="textAreaBottom"/>
            <a:pathLst>
              <a:path w="793145" h="290806">
                <a:moveTo>
                  <a:pt x="793145" y="290806"/>
                </a:moveTo>
                <a:lnTo>
                  <a:pt x="317258" y="0"/>
                </a:lnTo>
                <a:lnTo>
                  <a:pt x="0" y="263331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Freeform 20"/>
          <p:cNvSpPr/>
          <p:nvPr/>
        </p:nvSpPr>
        <p:spPr>
          <a:xfrm>
            <a:off x="8969760" y="3236400"/>
            <a:ext cx="783360" cy="404280"/>
          </a:xfrm>
          <a:custGeom>
            <a:avLst/>
            <a:gdLst>
              <a:gd name="textAreaLeft" fmla="*/ 0 w 783360"/>
              <a:gd name="textAreaRight" fmla="*/ 783720 w 783360"/>
              <a:gd name="textAreaTop" fmla="*/ 0 h 404280"/>
              <a:gd name="textAreaBottom" fmla="*/ 404640 h 404280"/>
            </a:gdLst>
            <a:ahLst/>
            <a:rect l="textAreaLeft" t="textAreaTop" r="textAreaRight" b="textAreaBottom"/>
            <a:pathLst>
              <a:path w="783733" h="404499">
                <a:moveTo>
                  <a:pt x="783733" y="55526"/>
                </a:moveTo>
                <a:lnTo>
                  <a:pt x="313493" y="0"/>
                </a:lnTo>
                <a:lnTo>
                  <a:pt x="0" y="404499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Freeform 21"/>
          <p:cNvSpPr/>
          <p:nvPr/>
        </p:nvSpPr>
        <p:spPr>
          <a:xfrm>
            <a:off x="9235440" y="3291840"/>
            <a:ext cx="517680" cy="659520"/>
          </a:xfrm>
          <a:custGeom>
            <a:avLst/>
            <a:gdLst>
              <a:gd name="textAreaLeft" fmla="*/ 0 w 517680"/>
              <a:gd name="textAreaRight" fmla="*/ 518040 w 517680"/>
              <a:gd name="textAreaTop" fmla="*/ 0 h 659520"/>
              <a:gd name="textAreaBottom" fmla="*/ 659880 h 659520"/>
            </a:gdLst>
            <a:ahLst/>
            <a:rect l="textAreaLeft" t="textAreaTop" r="textAreaRight" b="textAreaBottom"/>
            <a:pathLst>
              <a:path w="517981" h="659731">
                <a:moveTo>
                  <a:pt x="517981" y="0"/>
                </a:moveTo>
                <a:lnTo>
                  <a:pt x="207192" y="138698"/>
                </a:lnTo>
                <a:lnTo>
                  <a:pt x="0" y="659731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Freeform 22"/>
          <p:cNvSpPr/>
          <p:nvPr/>
        </p:nvSpPr>
        <p:spPr>
          <a:xfrm>
            <a:off x="9753480" y="2801520"/>
            <a:ext cx="542880" cy="489960"/>
          </a:xfrm>
          <a:custGeom>
            <a:avLst/>
            <a:gdLst>
              <a:gd name="textAreaLeft" fmla="*/ 0 w 542880"/>
              <a:gd name="textAreaRight" fmla="*/ 543240 w 542880"/>
              <a:gd name="textAreaTop" fmla="*/ 0 h 489960"/>
              <a:gd name="textAreaBottom" fmla="*/ 490320 h 489960"/>
            </a:gdLst>
            <a:ahLst/>
            <a:rect l="textAreaLeft" t="textAreaTop" r="textAreaRight" b="textAreaBottom"/>
            <a:pathLst>
              <a:path w="543139" h="490189">
                <a:moveTo>
                  <a:pt x="0" y="490189"/>
                </a:moveTo>
                <a:lnTo>
                  <a:pt x="325883" y="0"/>
                </a:lnTo>
                <a:lnTo>
                  <a:pt x="543139" y="143702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9" name="Freeform 23"/>
          <p:cNvSpPr/>
          <p:nvPr/>
        </p:nvSpPr>
        <p:spPr>
          <a:xfrm>
            <a:off x="9753480" y="3000960"/>
            <a:ext cx="792720" cy="290520"/>
          </a:xfrm>
          <a:custGeom>
            <a:avLst/>
            <a:gdLst>
              <a:gd name="textAreaLeft" fmla="*/ 0 w 792720"/>
              <a:gd name="textAreaRight" fmla="*/ 793080 w 792720"/>
              <a:gd name="textAreaTop" fmla="*/ 0 h 290520"/>
              <a:gd name="textAreaBottom" fmla="*/ 290880 h 290520"/>
            </a:gdLst>
            <a:ahLst/>
            <a:rect l="textAreaLeft" t="textAreaTop" r="textAreaRight" b="textAreaBottom"/>
            <a:pathLst>
              <a:path w="793144" h="290806">
                <a:moveTo>
                  <a:pt x="0" y="290806"/>
                </a:moveTo>
                <a:lnTo>
                  <a:pt x="475886" y="0"/>
                </a:lnTo>
                <a:lnTo>
                  <a:pt x="793144" y="263331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Freeform 24"/>
          <p:cNvSpPr/>
          <p:nvPr/>
        </p:nvSpPr>
        <p:spPr>
          <a:xfrm>
            <a:off x="9753480" y="3236400"/>
            <a:ext cx="783360" cy="404280"/>
          </a:xfrm>
          <a:custGeom>
            <a:avLst/>
            <a:gdLst>
              <a:gd name="textAreaLeft" fmla="*/ 0 w 783360"/>
              <a:gd name="textAreaRight" fmla="*/ 783720 w 783360"/>
              <a:gd name="textAreaTop" fmla="*/ 0 h 404280"/>
              <a:gd name="textAreaBottom" fmla="*/ 404640 h 404280"/>
            </a:gdLst>
            <a:ahLst/>
            <a:rect l="textAreaLeft" t="textAreaTop" r="textAreaRight" b="textAreaBottom"/>
            <a:pathLst>
              <a:path w="783732" h="404499">
                <a:moveTo>
                  <a:pt x="0" y="55526"/>
                </a:moveTo>
                <a:lnTo>
                  <a:pt x="470239" y="0"/>
                </a:lnTo>
                <a:lnTo>
                  <a:pt x="783732" y="404499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Freeform 25"/>
          <p:cNvSpPr/>
          <p:nvPr/>
        </p:nvSpPr>
        <p:spPr>
          <a:xfrm>
            <a:off x="9753480" y="3291840"/>
            <a:ext cx="517680" cy="659520"/>
          </a:xfrm>
          <a:custGeom>
            <a:avLst/>
            <a:gdLst>
              <a:gd name="textAreaLeft" fmla="*/ 0 w 517680"/>
              <a:gd name="textAreaRight" fmla="*/ 518040 w 517680"/>
              <a:gd name="textAreaTop" fmla="*/ 0 h 659520"/>
              <a:gd name="textAreaBottom" fmla="*/ 659880 h 659520"/>
            </a:gdLst>
            <a:ahLst/>
            <a:rect l="textAreaLeft" t="textAreaTop" r="textAreaRight" b="textAreaBottom"/>
            <a:pathLst>
              <a:path w="517980" h="659731">
                <a:moveTo>
                  <a:pt x="0" y="0"/>
                </a:moveTo>
                <a:lnTo>
                  <a:pt x="310788" y="138698"/>
                </a:lnTo>
                <a:lnTo>
                  <a:pt x="517980" y="659731"/>
                </a:lnTo>
              </a:path>
            </a:pathLst>
          </a:custGeom>
          <a:noFill/>
          <a:ln w="19050">
            <a:solidFill>
              <a:srgbClr val="5fd68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Oval 26"/>
          <p:cNvSpPr/>
          <p:nvPr/>
        </p:nvSpPr>
        <p:spPr>
          <a:xfrm>
            <a:off x="9473400" y="3143880"/>
            <a:ext cx="559080" cy="55908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Oval 27"/>
          <p:cNvSpPr/>
          <p:nvPr/>
        </p:nvSpPr>
        <p:spPr>
          <a:xfrm>
            <a:off x="9582120" y="2873880"/>
            <a:ext cx="342000" cy="342000"/>
          </a:xfrm>
          <a:prstGeom prst="ellipse">
            <a:avLst/>
          </a:prstGeom>
          <a:solidFill>
            <a:srgbClr val="5fd6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4" name="TextBox 28"/>
          <p:cNvSpPr/>
          <p:nvPr/>
        </p:nvSpPr>
        <p:spPr>
          <a:xfrm>
            <a:off x="567000" y="2148840"/>
            <a:ext cx="7863480" cy="88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5800" spc="-1" strike="noStrike">
                <a:solidFill>
                  <a:srgbClr val="f0efe9"/>
                </a:solidFill>
                <a:latin typeface="Segoe UI"/>
              </a:rPr>
              <a:t>Thank you</a:t>
            </a:r>
            <a:endParaRPr b="0" lang="en-US" sz="5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29"/>
          <p:cNvSpPr/>
          <p:nvPr/>
        </p:nvSpPr>
        <p:spPr>
          <a:xfrm>
            <a:off x="567000" y="3337560"/>
            <a:ext cx="7497720" cy="85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2400" spc="-1" strike="noStrike">
                <a:solidFill>
                  <a:srgbClr val="c2c6bc"/>
                </a:solidFill>
                <a:latin typeface="Segoe UI"/>
              </a:rPr>
              <a:t>A big model, on the devices you already own,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  <a:spcAft>
                <a:spcPts val="601"/>
              </a:spcAft>
            </a:pPr>
            <a:r>
              <a:rPr b="0" lang="en-US" sz="2400" spc="-1" strike="noStrike">
                <a:solidFill>
                  <a:srgbClr val="c2c6bc"/>
                </a:solidFill>
                <a:latin typeface="Segoe UI"/>
              </a:rPr>
              <a:t>with the internet switched off.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30"/>
          <p:cNvSpPr/>
          <p:nvPr/>
        </p:nvSpPr>
        <p:spPr>
          <a:xfrm>
            <a:off x="567000" y="4800600"/>
            <a:ext cx="7863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f0efe9"/>
                </a:solidFill>
                <a:latin typeface="Segoe UI"/>
              </a:rPr>
              <a:t>Prajwal Gunnala   ·   Yuva Raj Ambati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31"/>
          <p:cNvSpPr/>
          <p:nvPr/>
        </p:nvSpPr>
        <p:spPr>
          <a:xfrm>
            <a:off x="567000" y="5257800"/>
            <a:ext cx="78634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5fd68a"/>
                </a:solidFill>
                <a:latin typeface="Consolas"/>
              </a:rPr>
              <a:t>github.com/prajwal-gunnala/maynards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32"/>
          <p:cNvSpPr/>
          <p:nvPr/>
        </p:nvSpPr>
        <p:spPr>
          <a:xfrm>
            <a:off x="567000" y="6291000"/>
            <a:ext cx="4937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Team Maynards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33"/>
          <p:cNvSpPr/>
          <p:nvPr/>
        </p:nvSpPr>
        <p:spPr>
          <a:xfrm>
            <a:off x="5772600" y="6291000"/>
            <a:ext cx="58518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969c90"/>
                </a:solidFill>
                <a:latin typeface="Consolas"/>
              </a:rPr>
              <a:t>iQOO Hackathon 2026 · Developer Tools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med" p14:dur="800"/>
    </mc:Choice>
    <mc:Fallback>
      <p:transition spd="med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2026-09-27T08:43:56Z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