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265688" y="3429000"/>
            <a:ext cx="2834640" cy="0"/>
          </a:xfrm>
          <a:custGeom>
            <a:avLst/>
            <a:gdLst/>
            <a:ahLst/>
            <a:cxnLst/>
            <a:rect l="l" t="t" r="r" b="b"/>
            <a:pathLst>
              <a:path w="2834640" h="0">
                <a:moveTo>
                  <a:pt x="0" y="0"/>
                </a:moveTo>
                <a:lnTo>
                  <a:pt x="283464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9265688" y="3429000"/>
            <a:ext cx="2454870" cy="1417320"/>
          </a:xfrm>
          <a:custGeom>
            <a:avLst/>
            <a:gdLst/>
            <a:ahLst/>
            <a:cxnLst/>
            <a:rect l="l" t="t" r="r" b="b"/>
            <a:pathLst>
              <a:path w="2454870" h="1417320">
                <a:moveTo>
                  <a:pt x="0" y="0"/>
                </a:moveTo>
                <a:lnTo>
                  <a:pt x="2454870" y="141732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265688" y="3429000"/>
            <a:ext cx="1417320" cy="2454870"/>
          </a:xfrm>
          <a:custGeom>
            <a:avLst/>
            <a:gdLst/>
            <a:ahLst/>
            <a:cxnLst/>
            <a:rect l="l" t="t" r="r" b="b"/>
            <a:pathLst>
              <a:path w="1417320" h="2454870">
                <a:moveTo>
                  <a:pt x="0" y="0"/>
                </a:moveTo>
                <a:lnTo>
                  <a:pt x="1417320" y="245487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9265688" y="3429000"/>
            <a:ext cx="0" cy="2834640"/>
          </a:xfrm>
          <a:custGeom>
            <a:avLst/>
            <a:gdLst/>
            <a:ahLst/>
            <a:cxnLst/>
            <a:rect l="l" t="t" r="r" b="b"/>
            <a:pathLst>
              <a:path w="0" h="2834640">
                <a:moveTo>
                  <a:pt x="0" y="0"/>
                </a:moveTo>
                <a:lnTo>
                  <a:pt x="0" y="283464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848368" y="3429000"/>
            <a:ext cx="1417320" cy="2454870"/>
          </a:xfrm>
          <a:custGeom>
            <a:avLst/>
            <a:gdLst/>
            <a:ahLst/>
            <a:cxnLst/>
            <a:rect l="l" t="t" r="r" b="b"/>
            <a:pathLst>
              <a:path w="1417320" h="2454870">
                <a:moveTo>
                  <a:pt x="1417320" y="0"/>
                </a:moveTo>
                <a:lnTo>
                  <a:pt x="0" y="245487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810817" y="3429000"/>
            <a:ext cx="2454871" cy="1417320"/>
          </a:xfrm>
          <a:custGeom>
            <a:avLst/>
            <a:gdLst/>
            <a:ahLst/>
            <a:cxnLst/>
            <a:rect l="l" t="t" r="r" b="b"/>
            <a:pathLst>
              <a:path w="2454871" h="1417320">
                <a:moveTo>
                  <a:pt x="2454871" y="0"/>
                </a:moveTo>
                <a:lnTo>
                  <a:pt x="0" y="141732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431048" y="3429000"/>
            <a:ext cx="2834640" cy="0"/>
          </a:xfrm>
          <a:custGeom>
            <a:avLst/>
            <a:gdLst/>
            <a:ahLst/>
            <a:cxnLst/>
            <a:rect l="l" t="t" r="r" b="b"/>
            <a:pathLst>
              <a:path w="2834640" h="0">
                <a:moveTo>
                  <a:pt x="2834640" y="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810817" y="2011680"/>
            <a:ext cx="2454871" cy="1417320"/>
          </a:xfrm>
          <a:custGeom>
            <a:avLst/>
            <a:gdLst/>
            <a:ahLst/>
            <a:cxnLst/>
            <a:rect l="l" t="t" r="r" b="b"/>
            <a:pathLst>
              <a:path w="2454871" h="1417320">
                <a:moveTo>
                  <a:pt x="2454871" y="141732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7848367" y="974129"/>
            <a:ext cx="1417321" cy="2454871"/>
          </a:xfrm>
          <a:custGeom>
            <a:avLst/>
            <a:gdLst/>
            <a:ahLst/>
            <a:cxnLst/>
            <a:rect l="l" t="t" r="r" b="b"/>
            <a:pathLst>
              <a:path w="1417321" h="2454871">
                <a:moveTo>
                  <a:pt x="1417321" y="2454871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265688" y="594360"/>
            <a:ext cx="0" cy="2834640"/>
          </a:xfrm>
          <a:custGeom>
            <a:avLst/>
            <a:gdLst/>
            <a:ahLst/>
            <a:cxnLst/>
            <a:rect l="l" t="t" r="r" b="b"/>
            <a:pathLst>
              <a:path w="0" h="2834640">
                <a:moveTo>
                  <a:pt x="0" y="283464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9265688" y="974129"/>
            <a:ext cx="1417320" cy="2454871"/>
          </a:xfrm>
          <a:custGeom>
            <a:avLst/>
            <a:gdLst/>
            <a:ahLst/>
            <a:cxnLst/>
            <a:rect l="l" t="t" r="r" b="b"/>
            <a:pathLst>
              <a:path w="1417320" h="2454871">
                <a:moveTo>
                  <a:pt x="0" y="2454871"/>
                </a:moveTo>
                <a:lnTo>
                  <a:pt x="141732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9265688" y="2011679"/>
            <a:ext cx="2454870" cy="1417321"/>
          </a:xfrm>
          <a:custGeom>
            <a:avLst/>
            <a:gdLst/>
            <a:ahLst/>
            <a:cxnLst/>
            <a:rect l="l" t="t" r="r" b="b"/>
            <a:pathLst>
              <a:path w="2454870" h="1417321">
                <a:moveTo>
                  <a:pt x="0" y="1417321"/>
                </a:moveTo>
                <a:lnTo>
                  <a:pt x="245487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8557028" y="2720340"/>
            <a:ext cx="1417320" cy="1417320"/>
          </a:xfrm>
          <a:custGeom>
            <a:avLst/>
            <a:gdLst/>
            <a:ahLst/>
            <a:cxnLst/>
            <a:rect l="l" t="t" r="r" b="b"/>
            <a:pathLst>
              <a:path w="1417320" h="1417320">
                <a:moveTo>
                  <a:pt x="1417320" y="708660"/>
                </a:moveTo>
                <a:lnTo>
                  <a:pt x="1322377" y="1062990"/>
                </a:lnTo>
                <a:lnTo>
                  <a:pt x="1062990" y="1322377"/>
                </a:lnTo>
                <a:lnTo>
                  <a:pt x="708660" y="1417320"/>
                </a:lnTo>
                <a:lnTo>
                  <a:pt x="354330" y="1322377"/>
                </a:lnTo>
                <a:lnTo>
                  <a:pt x="94942" y="1062990"/>
                </a:lnTo>
                <a:lnTo>
                  <a:pt x="0" y="708660"/>
                </a:lnTo>
                <a:lnTo>
                  <a:pt x="94942" y="354330"/>
                </a:lnTo>
                <a:lnTo>
                  <a:pt x="354330" y="94942"/>
                </a:lnTo>
                <a:lnTo>
                  <a:pt x="708660" y="0"/>
                </a:lnTo>
                <a:lnTo>
                  <a:pt x="1062990" y="94942"/>
                </a:lnTo>
                <a:lnTo>
                  <a:pt x="1322377" y="354329"/>
                </a:lnTo>
                <a:lnTo>
                  <a:pt x="1417320" y="70866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7848368" y="2011680"/>
            <a:ext cx="2834640" cy="2834640"/>
          </a:xfrm>
          <a:custGeom>
            <a:avLst/>
            <a:gdLst/>
            <a:ahLst/>
            <a:cxnLst/>
            <a:rect l="l" t="t" r="r" b="b"/>
            <a:pathLst>
              <a:path w="2834640" h="2834640">
                <a:moveTo>
                  <a:pt x="2834640" y="1417320"/>
                </a:moveTo>
                <a:lnTo>
                  <a:pt x="2644755" y="2125980"/>
                </a:lnTo>
                <a:lnTo>
                  <a:pt x="2125980" y="2644755"/>
                </a:lnTo>
                <a:lnTo>
                  <a:pt x="1417320" y="2834640"/>
                </a:lnTo>
                <a:lnTo>
                  <a:pt x="708660" y="2644755"/>
                </a:lnTo>
                <a:lnTo>
                  <a:pt x="189884" y="2125980"/>
                </a:lnTo>
                <a:lnTo>
                  <a:pt x="0" y="1417320"/>
                </a:lnTo>
                <a:lnTo>
                  <a:pt x="189884" y="708660"/>
                </a:lnTo>
                <a:lnTo>
                  <a:pt x="708660" y="189884"/>
                </a:lnTo>
                <a:lnTo>
                  <a:pt x="1417320" y="0"/>
                </a:lnTo>
                <a:lnTo>
                  <a:pt x="2125980" y="189884"/>
                </a:lnTo>
                <a:lnTo>
                  <a:pt x="2644755" y="708659"/>
                </a:lnTo>
                <a:lnTo>
                  <a:pt x="2834640" y="141731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7139708" y="1303020"/>
            <a:ext cx="4251960" cy="4251960"/>
          </a:xfrm>
          <a:custGeom>
            <a:avLst/>
            <a:gdLst/>
            <a:ahLst/>
            <a:cxnLst/>
            <a:rect l="l" t="t" r="r" b="b"/>
            <a:pathLst>
              <a:path w="4251960" h="4251960">
                <a:moveTo>
                  <a:pt x="4251960" y="2125980"/>
                </a:moveTo>
                <a:lnTo>
                  <a:pt x="3967132" y="3188970"/>
                </a:lnTo>
                <a:lnTo>
                  <a:pt x="3188970" y="3967132"/>
                </a:lnTo>
                <a:lnTo>
                  <a:pt x="2125980" y="4251960"/>
                </a:lnTo>
                <a:lnTo>
                  <a:pt x="1062990" y="3967132"/>
                </a:lnTo>
                <a:lnTo>
                  <a:pt x="284827" y="3188970"/>
                </a:lnTo>
                <a:lnTo>
                  <a:pt x="0" y="2125980"/>
                </a:lnTo>
                <a:lnTo>
                  <a:pt x="284827" y="1062990"/>
                </a:lnTo>
                <a:lnTo>
                  <a:pt x="1062989" y="284827"/>
                </a:lnTo>
                <a:lnTo>
                  <a:pt x="2125980" y="0"/>
                </a:lnTo>
                <a:lnTo>
                  <a:pt x="3188970" y="284827"/>
                </a:lnTo>
                <a:lnTo>
                  <a:pt x="3967132" y="1062989"/>
                </a:lnTo>
                <a:lnTo>
                  <a:pt x="4251960" y="212597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6431048" y="594360"/>
            <a:ext cx="5669280" cy="5669280"/>
          </a:xfrm>
          <a:custGeom>
            <a:avLst/>
            <a:gdLst/>
            <a:ahLst/>
            <a:cxnLst/>
            <a:rect l="l" t="t" r="r" b="b"/>
            <a:pathLst>
              <a:path w="5669280" h="5669280">
                <a:moveTo>
                  <a:pt x="5669280" y="2834640"/>
                </a:moveTo>
                <a:lnTo>
                  <a:pt x="5289510" y="4251960"/>
                </a:lnTo>
                <a:lnTo>
                  <a:pt x="4251960" y="5289510"/>
                </a:lnTo>
                <a:lnTo>
                  <a:pt x="2834640" y="5669280"/>
                </a:lnTo>
                <a:lnTo>
                  <a:pt x="1417320" y="5289510"/>
                </a:lnTo>
                <a:lnTo>
                  <a:pt x="379769" y="4251960"/>
                </a:lnTo>
                <a:lnTo>
                  <a:pt x="0" y="2834640"/>
                </a:lnTo>
                <a:lnTo>
                  <a:pt x="379769" y="1417320"/>
                </a:lnTo>
                <a:lnTo>
                  <a:pt x="1417319" y="379769"/>
                </a:lnTo>
                <a:lnTo>
                  <a:pt x="2834640" y="0"/>
                </a:lnTo>
                <a:lnTo>
                  <a:pt x="4251960" y="379769"/>
                </a:lnTo>
                <a:lnTo>
                  <a:pt x="5289510" y="1417319"/>
                </a:lnTo>
                <a:lnTo>
                  <a:pt x="5669280" y="283463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813071" y="3020509"/>
            <a:ext cx="452617" cy="408491"/>
          </a:xfrm>
          <a:custGeom>
            <a:avLst/>
            <a:gdLst/>
            <a:ahLst/>
            <a:cxnLst/>
            <a:rect l="l" t="t" r="r" b="b"/>
            <a:pathLst>
              <a:path w="452617" h="408491">
                <a:moveTo>
                  <a:pt x="452617" y="408491"/>
                </a:moveTo>
                <a:lnTo>
                  <a:pt x="181047" y="0"/>
                </a:lnTo>
                <a:lnTo>
                  <a:pt x="0" y="119752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8604733" y="3186661"/>
            <a:ext cx="660955" cy="242339"/>
          </a:xfrm>
          <a:custGeom>
            <a:avLst/>
            <a:gdLst/>
            <a:ahLst/>
            <a:cxnLst/>
            <a:rect l="l" t="t" r="r" b="b"/>
            <a:pathLst>
              <a:path w="660955" h="242339">
                <a:moveTo>
                  <a:pt x="660955" y="242339"/>
                </a:moveTo>
                <a:lnTo>
                  <a:pt x="264382" y="0"/>
                </a:lnTo>
                <a:lnTo>
                  <a:pt x="0" y="21944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8612577" y="3382728"/>
            <a:ext cx="653111" cy="337083"/>
          </a:xfrm>
          <a:custGeom>
            <a:avLst/>
            <a:gdLst/>
            <a:ahLst/>
            <a:cxnLst/>
            <a:rect l="l" t="t" r="r" b="b"/>
            <a:pathLst>
              <a:path w="653111" h="337083">
                <a:moveTo>
                  <a:pt x="653111" y="46272"/>
                </a:moveTo>
                <a:lnTo>
                  <a:pt x="261244" y="0"/>
                </a:lnTo>
                <a:lnTo>
                  <a:pt x="0" y="33708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8834037" y="3429000"/>
            <a:ext cx="431651" cy="549776"/>
          </a:xfrm>
          <a:custGeom>
            <a:avLst/>
            <a:gdLst/>
            <a:ahLst/>
            <a:cxnLst/>
            <a:rect l="l" t="t" r="r" b="b"/>
            <a:pathLst>
              <a:path w="431651" h="549776">
                <a:moveTo>
                  <a:pt x="431651" y="0"/>
                </a:moveTo>
                <a:lnTo>
                  <a:pt x="172660" y="115581"/>
                </a:lnTo>
                <a:lnTo>
                  <a:pt x="0" y="549776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9265688" y="3020509"/>
            <a:ext cx="452616" cy="408491"/>
          </a:xfrm>
          <a:custGeom>
            <a:avLst/>
            <a:gdLst/>
            <a:ahLst/>
            <a:cxnLst/>
            <a:rect l="l" t="t" r="r" b="b"/>
            <a:pathLst>
              <a:path w="452616" h="408491">
                <a:moveTo>
                  <a:pt x="0" y="408491"/>
                </a:moveTo>
                <a:lnTo>
                  <a:pt x="271569" y="0"/>
                </a:lnTo>
                <a:lnTo>
                  <a:pt x="452616" y="119752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9265688" y="3186661"/>
            <a:ext cx="660954" cy="242339"/>
          </a:xfrm>
          <a:custGeom>
            <a:avLst/>
            <a:gdLst/>
            <a:ahLst/>
            <a:cxnLst/>
            <a:rect l="l" t="t" r="r" b="b"/>
            <a:pathLst>
              <a:path w="660954" h="242339">
                <a:moveTo>
                  <a:pt x="0" y="242339"/>
                </a:moveTo>
                <a:lnTo>
                  <a:pt x="396572" y="0"/>
                </a:lnTo>
                <a:lnTo>
                  <a:pt x="660954" y="21944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9265688" y="3382728"/>
            <a:ext cx="653110" cy="337083"/>
          </a:xfrm>
          <a:custGeom>
            <a:avLst/>
            <a:gdLst/>
            <a:ahLst/>
            <a:cxnLst/>
            <a:rect l="l" t="t" r="r" b="b"/>
            <a:pathLst>
              <a:path w="653110" h="337083">
                <a:moveTo>
                  <a:pt x="0" y="46272"/>
                </a:moveTo>
                <a:lnTo>
                  <a:pt x="391866" y="0"/>
                </a:lnTo>
                <a:lnTo>
                  <a:pt x="653110" y="33708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9265688" y="3429000"/>
            <a:ext cx="431650" cy="549776"/>
          </a:xfrm>
          <a:custGeom>
            <a:avLst/>
            <a:gdLst/>
            <a:ahLst/>
            <a:cxnLst/>
            <a:rect l="l" t="t" r="r" b="b"/>
            <a:pathLst>
              <a:path w="431650" h="549776">
                <a:moveTo>
                  <a:pt x="0" y="0"/>
                </a:moveTo>
                <a:lnTo>
                  <a:pt x="258990" y="115581"/>
                </a:lnTo>
                <a:lnTo>
                  <a:pt x="431650" y="549776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032516" y="3305556"/>
            <a:ext cx="466344" cy="466344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123041" y="3080613"/>
            <a:ext cx="285292" cy="285292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TEAM MAYNARDS · IQOO HACKATHON 2026 · DEVELOPER TOOLS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2286000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>
                <a:solidFill>
                  <a:srgbClr val="F0EFE9"/>
                </a:solidFill>
                <a:latin typeface="Segoe UI"/>
              </a:rPr>
              <a:t>MeshAI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42900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0">
                <a:solidFill>
                  <a:srgbClr val="F0EFE9"/>
                </a:solidFill>
                <a:latin typeface="Segoe UI"/>
              </a:rPr>
              <a:t>Run big models on the devices you already own.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3434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A 30B model across one laptop and two phones. No cloud. No internet.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4983480"/>
            <a:ext cx="2615184" cy="4572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510235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FD68A"/>
                </a:solidFill>
                <a:latin typeface="Consolas"/>
              </a:rPr>
              <a:t>ready in 70 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64992" y="4983480"/>
            <a:ext cx="2615184" cy="4572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64992" y="510235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6.6 tokens per second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63056" y="4983480"/>
            <a:ext cx="2615184" cy="4572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63056" y="510235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4 KB per word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61120" y="4983480"/>
            <a:ext cx="2615184" cy="4572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61120" y="510235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internet off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Prajwal Gunnala · Yuva Raj Ambati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27 September 2026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01 · THE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Your model has to fit in memory.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If it does not fit, you cannot run it. So people run small models, and small models get it wrong.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377440"/>
            <a:ext cx="5391759" cy="35661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261518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WHAT A MODEL NEEDS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980944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Qwen3 0.6B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4207" y="298094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>
                <a:solidFill>
                  <a:srgbClr val="C2C6BC"/>
                </a:solidFill>
                <a:latin typeface="Consolas"/>
              </a:rPr>
              <a:t>0.64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3364992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Qwen3 8B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4207" y="336499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>
                <a:solidFill>
                  <a:srgbClr val="C2C6BC"/>
                </a:solidFill>
                <a:latin typeface="Consolas"/>
              </a:rPr>
              <a:t>4.7 GB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3749040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gpt-oss 20B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4207" y="374904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>
                <a:solidFill>
                  <a:srgbClr val="C2C6BC"/>
                </a:solidFill>
                <a:latin typeface="Consolas"/>
              </a:rPr>
              <a:t>12.1 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4133088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FD68A"/>
                </a:solidFill>
                <a:latin typeface="Segoe UI"/>
              </a:rPr>
              <a:t>Qwen3-Coder 30B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4207" y="4133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>
                <a:solidFill>
                  <a:srgbClr val="5FD68A"/>
                </a:solidFill>
                <a:latin typeface="Consolas"/>
              </a:rPr>
              <a:t>18.6 GB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663440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WHAT A DEVICE HAS FREE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5029200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A budget laptop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55567" y="50292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Consolas"/>
              </a:rPr>
              <a:t>about 4 GB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5358384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One 16 GB phone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55567" y="535838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Consolas"/>
              </a:rPr>
              <a:t>about 8.7 GB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5687568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FD68A"/>
                </a:solidFill>
                <a:latin typeface="Segoe UI"/>
              </a:rPr>
              <a:t>The three together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55567" y="568756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FD68A"/>
                </a:solidFill>
                <a:latin typeface="Consolas"/>
              </a:rPr>
              <a:t>about 20 GB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3007" y="2377440"/>
            <a:ext cx="5391759" cy="35661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07327" y="261518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SMALL MODELS GET IT WRONG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07327" y="2926080"/>
            <a:ext cx="48431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We asked three setups the same 15 coding problems and ran their answers against the tests.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90207" y="4937760"/>
            <a:ext cx="1051560" cy="274320"/>
          </a:xfrm>
          <a:prstGeom prst="roundRect">
            <a:avLst>
              <a:gd name="adj" fmla="val 18000"/>
            </a:avLst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90207" y="462686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969C90"/>
                </a:solidFill>
                <a:latin typeface="Consolas"/>
              </a:rPr>
              <a:t>13%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15887" y="5303520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0.6B  2 of 15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07526" y="4251960"/>
            <a:ext cx="1051560" cy="96012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7526" y="394106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5FD68A"/>
                </a:solidFill>
                <a:latin typeface="Consolas"/>
              </a:rPr>
              <a:t>47%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33206" y="5303520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1.7B  7 of 15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24847" y="3931920"/>
            <a:ext cx="1051560" cy="1280160"/>
          </a:xfrm>
          <a:prstGeom prst="roundRect">
            <a:avLst>
              <a:gd name="adj" fmla="val 4000"/>
            </a:avLst>
          </a:prstGeom>
          <a:solidFill>
            <a:srgbClr val="0B0C0B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24847" y="362102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969C90"/>
                </a:solidFill>
                <a:latin typeface="Consolas"/>
              </a:rPr>
              <a:t>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50527" y="5303520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30B  18.6 GB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measured 27 September · results/REPORT.md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02 · WHAT WE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Put the devices together and run the big model.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956816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One device plans and answers. The others hold part of the model. Your tools do not change.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670048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127248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035808"/>
            <a:ext cx="6345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Phones and laptops in one cluster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290533"/>
            <a:ext cx="63459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any Android phone, any laptop, any GGUF model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76602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3674581"/>
            <a:ext cx="6345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One device decides who holds what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3929306"/>
            <a:ext cx="63459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it reads free memory, heat, battery and link speed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40479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4313354"/>
            <a:ext cx="6345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Only about 4 KB crosses the cable per word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568079"/>
            <a:ext cx="63459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the 18.6 GB of weights never move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5043567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952127"/>
            <a:ext cx="6345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It says no when a device would slow you down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5206852"/>
            <a:ext cx="63459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in a sentence you can read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16368" y="3035808"/>
            <a:ext cx="4108399" cy="292608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08976" y="33101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THE PHONE IS NOT AN ACCESSORY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08976" y="3657600"/>
            <a:ext cx="352318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A phone can be the host: it plans the split, runs the model and answers.
Every other system treats a phone as a client that asks a server.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one app · host role or helper role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03 · HOW IT 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One word goes through all 48 layers, then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956816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2368296"/>
            <a:ext cx="4114800" cy="26517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25603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THIS LAPTOP · THE HOST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28895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Embeddings and output head stay here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" y="3145536"/>
            <a:ext cx="3639312" cy="182880"/>
          </a:xfrm>
          <a:prstGeom prst="roundRect">
            <a:avLst>
              <a:gd name="adj" fmla="val 18000"/>
            </a:avLst>
          </a:prstGeom>
          <a:solidFill>
            <a:srgbClr val="2C5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46557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Layers 0–22 · 9.19 GB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1948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9224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276500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433776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591052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748328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905604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062880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220156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377432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534708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691984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849260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006536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163812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321088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78364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635640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792916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950192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07468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264744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" y="428853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Plans the split · serves one endpoint · reads the model file once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93208" y="2368296"/>
            <a:ext cx="1737360" cy="26517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76088" y="25603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A78BFA"/>
                </a:solidFill>
                <a:latin typeface="Consolas"/>
              </a:rPr>
              <a:t>A PHONE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76088" y="288950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Layers 23–42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76088" y="312724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7.53 GB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276088" y="3419856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276088" y="347654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276088" y="353324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276088" y="358993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276088" y="364662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276088" y="3703316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276088" y="376000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276088" y="381670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276088" y="387339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276088" y="393008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276088" y="3986776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276088" y="404346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276088" y="410016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5276088" y="415685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276088" y="421354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276088" y="4270236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276088" y="432692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276088" y="438362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5276088" y="444031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5276088" y="449700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76088" y="46268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keeps its layers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196328" y="2368296"/>
            <a:ext cx="1737360" cy="26517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79208" y="25603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A78BFA"/>
                </a:solidFill>
                <a:latin typeface="Consolas"/>
              </a:rPr>
              <a:t>A PHONE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79208" y="288950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Layers 43–47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79208" y="312724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2.04 GB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79208" y="3419856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379208" y="347654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379208" y="353324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379208" y="358993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7379208" y="364662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379208" y="46268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ready in 70 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253728" y="2368296"/>
            <a:ext cx="2371039" cy="26517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509760" y="259689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0EFE9"/>
                </a:solidFill>
                <a:latin typeface="Consolas"/>
              </a:rPr>
              <a:t>48 layers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509760" y="287121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one pass, in order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509760" y="31729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5FD68A"/>
                </a:solidFill>
                <a:latin typeface="Consolas"/>
              </a:rPr>
              <a:t>4 KB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509760" y="344728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crosses each cable, per word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509760" y="374904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0EFE9"/>
                </a:solidFill>
                <a:latin typeface="Consolas"/>
              </a:rPr>
              <a:t>18.6 GB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09760" y="402336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of weights never move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509760" y="432511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0EFE9"/>
                </a:solidFill>
                <a:latin typeface="Consolas"/>
              </a:rPr>
              <a:t>2–3 ms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09760" y="459943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over the USB cable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66928" y="5202936"/>
            <a:ext cx="3503066" cy="868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6384" y="5367528"/>
            <a:ext cx="30641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The host decides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86384" y="5660136"/>
            <a:ext cx="30641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from live memory, heat, battery and link speed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344314" y="5202936"/>
            <a:ext cx="3503066" cy="868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63770" y="5367528"/>
            <a:ext cx="30641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The phone never sees your prompt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563770" y="5660136"/>
            <a:ext cx="30641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it gets numbers, computes, sends numbers back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121700" y="5202936"/>
            <a:ext cx="3503066" cy="868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341156" y="5367528"/>
            <a:ext cx="30641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The head stays home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341156" y="5660136"/>
            <a:ext cx="30641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which is why only kilobytes cross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the configuration we measured on 27 September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04 · WHAT WE FIXED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Three things made it slow. We fixed all three.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956816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2322576"/>
            <a:ext cx="3503066" cy="2286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523744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Loading the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852928"/>
            <a:ext cx="299100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5FD68A"/>
                </a:solidFill>
                <a:latin typeface="Consolas"/>
              </a:rPr>
              <a:t>517 s  →  70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465576"/>
            <a:ext cx="299100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It was reading the file in scattered pieces. Now it reads it once, start to finish.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4314" y="2322576"/>
            <a:ext cx="3503066" cy="2286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00346" y="2523744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A split it has not used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0346" y="2852928"/>
            <a:ext cx="299100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5FD68A"/>
                </a:solidFill>
                <a:latin typeface="Consolas"/>
              </a:rPr>
              <a:t>437 s  →  70 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0346" y="3465576"/>
            <a:ext cx="299100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Each device now keeps its own layers, checked against the original file.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21700" y="2322576"/>
            <a:ext cx="3503066" cy="2286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77732" y="2523744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First word in a long chat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7732" y="2852928"/>
            <a:ext cx="299100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5FD68A"/>
                </a:solidFill>
                <a:latin typeface="Consolas"/>
              </a:rPr>
              <a:t>slow  →  fast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7732" y="3465576"/>
            <a:ext cx="299100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One conversation slot, so the chat stays in cache instead of being read again.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837176"/>
            <a:ext cx="11057839" cy="169164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50566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AND THE REST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" y="549554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2" y="5404104"/>
            <a:ext cx="4882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The head stays on the host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" y="5675811"/>
            <a:ext cx="4882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so only a few KB cross per word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1248" y="6187875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8992" y="6096435"/>
            <a:ext cx="4882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We take the middle ping, not the average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" y="6368142"/>
            <a:ext cx="4882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one bad spike cannot throw out a good device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19088" y="549554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56832" y="5404104"/>
            <a:ext cx="4882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We tested it hot, not cold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56832" y="5675811"/>
            <a:ext cx="4882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11.4 to 5.3 tokens/s as the phone goes 34.6 to 47.5 °C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19088" y="6187875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56832" y="6096435"/>
            <a:ext cx="4882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Photos and text on two phones at once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56832" y="6368142"/>
            <a:ext cx="4882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each answer says which device produced it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every figure in docs/measurements.md, with its conditions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05 · WHEN TO USE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Use it when the model will not fit. Not otherwise.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956816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It is worth knowing where this helps, because it is the same thing as knowing where it does not.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670048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944368"/>
            <a:ext cx="5391759" cy="324612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3182112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USE IT WHEN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3694176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3602736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The model will not fit on one device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3874443"/>
            <a:ext cx="460537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this is the whole reason it exists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" y="4423083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4331643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The work cannot leave your devices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4603350"/>
            <a:ext cx="460537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nothing is uploaded, and the demo runs offline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" y="515199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8992" y="5060550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You have devices sitting idle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5332257"/>
            <a:ext cx="460537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phones, laptops, anything with memory to spare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" y="5880897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" y="5789457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You run it often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" y="6061164"/>
            <a:ext cx="460537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there is no bill, however many times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3007" y="2944368"/>
            <a:ext cx="5391759" cy="324612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07327" y="3182112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DO NOT USE IT WHEN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07327" y="3694176"/>
            <a:ext cx="118872" cy="19050"/>
          </a:xfrm>
          <a:prstGeom prst="rect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45071" y="3602736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model already fits one device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45071" y="3813048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splitting would only make it slower, and the app refuses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07327" y="4242815"/>
            <a:ext cx="118872" cy="19050"/>
          </a:xfrm>
          <a:prstGeom prst="rect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45071" y="4151375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You want the fastest possible answer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45071" y="4361687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every word crosses the cable once, so a cloud is quicker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07327" y="4791456"/>
            <a:ext cx="118872" cy="19050"/>
          </a:xfrm>
          <a:prstGeom prst="rect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45071" y="4700016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Your data is free to leave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45071" y="4910328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then a cloud API is cheaper per word, and we say so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7327" y="5340095"/>
            <a:ext cx="118872" cy="19050"/>
          </a:xfrm>
          <a:prstGeom prst="rect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45071" y="5248655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You need a stranger's phone to be private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45071" y="5458967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we only claim privacy across devices one owner controls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the app itself refuses the cases on the right, in words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06 · WHAT YOU DO WITH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Review your code before you commit.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One tap on the phone. The answer comes from a 30B model running on your own devices.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468880"/>
            <a:ext cx="2558719" cy="1143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2651760"/>
            <a:ext cx="21198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0EFE9"/>
                </a:solidFill>
                <a:latin typeface="Segoe UI"/>
              </a:rPr>
              <a:t>Your laptop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2980944"/>
            <a:ext cx="2119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You change a file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43935" y="2880360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5FD68A"/>
                </a:solidFill>
                <a:latin typeface="Segoe U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99967" y="2468880"/>
            <a:ext cx="2558719" cy="1143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9423" y="2651760"/>
            <a:ext cx="21198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0EFE9"/>
                </a:solidFill>
                <a:latin typeface="Segoe UI"/>
              </a:rPr>
              <a:t>Your phone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9423" y="2980944"/>
            <a:ext cx="2119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Tap: review my changes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76975" y="2880360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5FD68A"/>
                </a:solidFill>
                <a:latin typeface="Segoe U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3007" y="2468880"/>
            <a:ext cx="2558719" cy="1143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2651760"/>
            <a:ext cx="21198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0EFE9"/>
                </a:solidFill>
                <a:latin typeface="Segoe UI"/>
              </a:rPr>
              <a:t>The mesh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2980944"/>
            <a:ext cx="2119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30B across three devices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10015" y="2880360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5FD68A"/>
                </a:solidFill>
                <a:latin typeface="Segoe UI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66047" y="2468880"/>
            <a:ext cx="2558719" cy="114300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85503" y="2651760"/>
            <a:ext cx="21198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FD68A"/>
                </a:solidFill>
                <a:latin typeface="Segoe UI"/>
              </a:rPr>
              <a:t>The 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5503" y="2980944"/>
            <a:ext cx="2119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On your phone, in seconds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3931920"/>
            <a:ext cx="5391759" cy="2011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416966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WHY PEOPLE KEEP IT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" y="462686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78992" y="4535424"/>
            <a:ext cx="46053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It installs as a git hook, in one command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1248" y="5280006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78992" y="5188566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Every commit gets read before it lands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1248" y="566144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78992" y="5570001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No bill, however many times you run it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3931920"/>
            <a:ext cx="5391759" cy="2011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07327" y="416966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AND IT NEVER LEAVES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7327" y="462686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45071" y="4535424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Internet off. No account. No upload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07327" y="5008299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45071" y="4916859"/>
            <a:ext cx="46053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The code stays on the desk it was written 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07327" y="566144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45071" y="5570001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Also: review a file, or write its tests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 review · mesh tests · mesh diff · git pre-commit hook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07 · PROOF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We measured it. We did not guess.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Same 15 coding problems for every setup. We ran each answer against its own tests. Right or wrong, nothing in between.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377440"/>
            <a:ext cx="6038770" cy="301752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8408" y="4114800"/>
            <a:ext cx="1371600" cy="365760"/>
          </a:xfrm>
          <a:prstGeom prst="roundRect">
            <a:avLst>
              <a:gd name="adj" fmla="val 18000"/>
            </a:avLst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78561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969C90"/>
                </a:solidFill>
                <a:latin typeface="Consolas"/>
              </a:rPr>
              <a:t>13%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457200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laptop alone, 0.6B
2 of 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50474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20.9 tok/s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98648" y="3154680"/>
            <a:ext cx="1371600" cy="132588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98648" y="282549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5FD68A"/>
                </a:solidFill>
                <a:latin typeface="Consolas"/>
              </a:rPr>
              <a:t>47%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98648" y="457200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laptop alone, 1.7B
7 of 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8648" y="50474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8.6 tok/s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18888" y="3154680"/>
            <a:ext cx="1371600" cy="1325880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18888" y="282549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A78BFA"/>
                </a:solidFill>
                <a:latin typeface="Consolas"/>
              </a:rPr>
              <a:t>47%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18888" y="457200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split over two, 1.7B
7 of 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18888" y="50474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7.4 tok/s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80018" y="2377440"/>
            <a:ext cx="4744748" cy="301752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54338" y="261518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WHAT THIS SHOWS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54338" y="310896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92082" y="3017520"/>
            <a:ext cx="39583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A bigger model is three times better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2082" y="3272245"/>
            <a:ext cx="39583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13% becomes 47% on the same problems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54338" y="3875749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92082" y="3784309"/>
            <a:ext cx="39583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Splitting costs a little speed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92082" y="4039034"/>
            <a:ext cx="39583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8.6 becomes 7.4 words a second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54338" y="4642538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92082" y="4551098"/>
            <a:ext cx="39583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Splitting does not change the answers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92082" y="5060549"/>
            <a:ext cx="395836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the split got the same 8 wrong as the single device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54338" y="4754880"/>
            <a:ext cx="41961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5FD68A"/>
                </a:solidFill>
                <a:latin typeface="Segoe UI"/>
              </a:rPr>
              <a:t>Speed drops a little. Accuracy jumps a lot. That is the trade.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one button in the app runs this · results/REPORT.md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08 · WHAT EXISTS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Nobody else pools phone memory.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389888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6642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SYSTEM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688" y="166420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WHAT IT DOES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65007" y="166420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WHAT IT LEAVES TO 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048256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Darkbloom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286000"/>
            <a:ext cx="2560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69C90"/>
                </a:solidFill>
                <a:latin typeface="Consolas"/>
              </a:rPr>
              <a:t>a16z backed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18688" y="2048256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Rents out idle Macs and pays their owners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5007" y="2048256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One whole model per Mac. Never a phone.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62432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exo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862072"/>
            <a:ext cx="2560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69C90"/>
                </a:solidFill>
                <a:latin typeface="Consolas"/>
              </a:rPr>
              <a:t>47k stars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18688" y="262432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Splits a model across your Macs and Linux boxes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65007" y="2624328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The phone is not a real device in 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320040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Petals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438144"/>
            <a:ext cx="2560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69C90"/>
                </a:solidFill>
                <a:latin typeface="Consolas"/>
              </a:rPr>
              <a:t>peer reviewed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18688" y="32004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A public swarm of volunteer servers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65007" y="320040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0.83 words a second. Dead since 2024.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776472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llama.cpp RPC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014216"/>
            <a:ext cx="2560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69C90"/>
                </a:solidFill>
                <a:latin typeface="Consolas"/>
              </a:rPr>
              <a:t>we build on 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18688" y="37764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Runs layers on another machine over a socket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5007" y="3776472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You type the addresses by hand. Nothing decides.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352544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Ollama, LM Studio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4590288"/>
            <a:ext cx="2560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69C90"/>
                </a:solidFill>
                <a:latin typeface="Consolas"/>
              </a:rPr>
              <a:t>and the rest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18688" y="4352544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Great on one machine, one model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65007" y="435254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If it does not fit, you do not run it.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8912" y="4837176"/>
            <a:ext cx="11313871" cy="658368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928616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FD68A"/>
                </a:solidFill>
                <a:latin typeface="Segoe UI"/>
              </a:rPr>
              <a:t>MeshAI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5166360"/>
            <a:ext cx="2560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69C90"/>
                </a:solidFill>
                <a:latin typeface="Consolas"/>
              </a:rPr>
              <a:t>what we built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18688" y="4928616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Phones and laptops together. It decides who holds what, and says no when it should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65007" y="4928616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Nothing. No product and no paper does this.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each one checked against its own source, September 2026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09 · THE BUSINESS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We rent memory, not speed.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The models are open and free. What people do not have is the memory to hold them. A phone in a drawer is cheap memory.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377440"/>
            <a:ext cx="3503066" cy="310896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615184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THE FLEET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2926080"/>
            <a:ext cx="299100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People give us a phone they no longer use. We keep it, and pay them.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84048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749040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Racked and plugged in, in our hands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459659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0704" y="4368219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No battery to ruin, no pocket to leave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078838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" y="4987398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We buy no hardware. They earn from a drawer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074920"/>
            <a:ext cx="299100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FD68A"/>
                </a:solidFill>
                <a:latin typeface="Segoe UI"/>
              </a:rPr>
              <a:t>100 old phones is about 800 GB of memory.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4314" y="2377440"/>
            <a:ext cx="3503066" cy="31089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0346" y="2615184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WHAT A CUSTOMER BUYS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0346" y="2926080"/>
            <a:ext cx="299100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Enough memory to hold the model they want to run.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00346" y="37490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A 8B model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98794" y="3749040"/>
            <a:ext cx="16742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FD68A"/>
                </a:solidFill>
                <a:latin typeface="Consolas"/>
              </a:rPr>
              <a:t>about 6 GB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00346" y="413308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A 20B model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98794" y="4133088"/>
            <a:ext cx="16742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FD68A"/>
                </a:solidFill>
                <a:latin typeface="Consolas"/>
              </a:rPr>
              <a:t>about 13 GB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00346" y="451713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A 30B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98794" y="4517136"/>
            <a:ext cx="16742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FD68A"/>
                </a:solidFill>
                <a:latin typeface="Consolas"/>
              </a:rPr>
              <a:t>about 20 GB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00346" y="4901184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A 70B model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98794" y="4901184"/>
            <a:ext cx="16742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FD68A"/>
                </a:solidFill>
                <a:latin typeface="Consolas"/>
              </a:rPr>
              <a:t>about 45 GB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00346" y="5257800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Bigger model, more memory, higher tier.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21700" y="2377440"/>
            <a:ext cx="3503066" cy="31089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77732" y="2615184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AND TWO MORE WAYS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77732" y="3017520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0EFE9"/>
                </a:solidFill>
                <a:latin typeface="Segoe UI"/>
              </a:rPr>
              <a:t>Their own devices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77732" y="3310128"/>
            <a:ext cx="299100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a lab or a campus turns its idle phones into a private cloud. Sold per site.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77732" y="4069079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0EFE9"/>
                </a:solidFill>
                <a:latin typeface="Segoe UI"/>
              </a:rPr>
              <a:t>Licensed to a phone maker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77732" y="4361687"/>
            <a:ext cx="299100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two phones are worth more together than apart, which is a reason to own the second.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77732" y="5166360"/>
            <a:ext cx="299100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FD68A"/>
                </a:solidFill>
                <a:latin typeface="Segoe UI"/>
              </a:rPr>
              <a:t>That last buyer is in this room.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open models · the memory is the scarce part, and that is what we sell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10 · FEASIBILITY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It already runs. This is not a plan.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389888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1664208"/>
            <a:ext cx="3503066" cy="320040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1901952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WHAT RAN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299100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0EFE9"/>
                </a:solidFill>
                <a:latin typeface="Segoe UI"/>
              </a:rPr>
              <a:t>Qwen3-Coder 30B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761488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2670048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18.6 GB across a laptop and two phones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3380667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3289227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phones held 9.6 GB of 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999846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3908406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Ready in 70 seconds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364299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0704" y="4272859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6.6 words a second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728752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0704" y="4637312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Three coding questions, all correct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34793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0704" y="5256491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Internet off the whole 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498848"/>
            <a:ext cx="299100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b="0">
                <a:solidFill>
                  <a:srgbClr val="969C90"/>
                </a:solidFill>
                <a:latin typeface="Consolas"/>
              </a:rPr>
              <a:t>Cable at 2–3 ms · context 4096 · laptop capped at 8 GB · 27 September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44314" y="1664208"/>
            <a:ext cx="3503066" cy="32004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00346" y="1901952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BUILT IN THE WINDOW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00346" y="2359152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38090" y="2267712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llama.cpp built for phones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00346" y="297833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38090" y="2886891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app: host and helper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0346" y="334278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38090" y="3251344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laptop agent and its panel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00346" y="3961963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38090" y="3870523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Our own model reader and planner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00346" y="4581142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38090" y="4489702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layer store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00346" y="4945595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38090" y="4854155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test harness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0346" y="5310048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8090" y="5218608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CLI and the git hook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0346" y="4544568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Every commit timestamped. Nothing pre-built.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21700" y="1664208"/>
            <a:ext cx="3503066" cy="32004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77732" y="1901952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IF SOMETHING GOES WRONG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77732" y="228600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Slow link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33380" y="228600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refused above 60 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77732" y="269748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Phone short of memory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33380" y="269748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we reserve, and you can cap 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77732" y="310896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A device drops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33380" y="310896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it comes back by itself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77732" y="352044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Engine missing a flag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33380" y="352044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we ask it what it has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77732" y="393192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Bad model file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33380" y="393192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every read is checked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77732" y="434340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A strange machine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33380" y="434340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one button checks everything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77732" y="4544568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FD68A"/>
                </a:solidFill>
                <a:latin typeface="Segoe UI"/>
              </a:rPr>
              <a:t>It says no before it disappoints you.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two 16 GB phones and one budget laptop · nothing else was bought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753356" y="3154680"/>
            <a:ext cx="2377440" cy="0"/>
          </a:xfrm>
          <a:custGeom>
            <a:avLst/>
            <a:gdLst/>
            <a:ahLst/>
            <a:cxnLst/>
            <a:rect l="l" t="t" r="r" b="b"/>
            <a:pathLst>
              <a:path w="2377440" h="0">
                <a:moveTo>
                  <a:pt x="0" y="0"/>
                </a:moveTo>
                <a:lnTo>
                  <a:pt x="237744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9753356" y="3154680"/>
            <a:ext cx="2058923" cy="1188720"/>
          </a:xfrm>
          <a:custGeom>
            <a:avLst/>
            <a:gdLst/>
            <a:ahLst/>
            <a:cxnLst/>
            <a:rect l="l" t="t" r="r" b="b"/>
            <a:pathLst>
              <a:path w="2058923" h="1188720">
                <a:moveTo>
                  <a:pt x="0" y="0"/>
                </a:moveTo>
                <a:lnTo>
                  <a:pt x="2058923" y="118872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753356" y="3154680"/>
            <a:ext cx="1188720" cy="2058923"/>
          </a:xfrm>
          <a:custGeom>
            <a:avLst/>
            <a:gdLst/>
            <a:ahLst/>
            <a:cxnLst/>
            <a:rect l="l" t="t" r="r" b="b"/>
            <a:pathLst>
              <a:path w="1188720" h="2058923">
                <a:moveTo>
                  <a:pt x="0" y="0"/>
                </a:moveTo>
                <a:lnTo>
                  <a:pt x="1188720" y="2058923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9753356" y="3154680"/>
            <a:ext cx="0" cy="2377440"/>
          </a:xfrm>
          <a:custGeom>
            <a:avLst/>
            <a:gdLst/>
            <a:ahLst/>
            <a:cxnLst/>
            <a:rect l="l" t="t" r="r" b="b"/>
            <a:pathLst>
              <a:path w="0" h="2377440">
                <a:moveTo>
                  <a:pt x="0" y="0"/>
                </a:moveTo>
                <a:lnTo>
                  <a:pt x="0" y="237744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8564636" y="3154680"/>
            <a:ext cx="1188720" cy="2058923"/>
          </a:xfrm>
          <a:custGeom>
            <a:avLst/>
            <a:gdLst/>
            <a:ahLst/>
            <a:cxnLst/>
            <a:rect l="l" t="t" r="r" b="b"/>
            <a:pathLst>
              <a:path w="1188720" h="2058923">
                <a:moveTo>
                  <a:pt x="1188720" y="0"/>
                </a:moveTo>
                <a:lnTo>
                  <a:pt x="0" y="2058923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94432" y="3154680"/>
            <a:ext cx="2058924" cy="1188720"/>
          </a:xfrm>
          <a:custGeom>
            <a:avLst/>
            <a:gdLst/>
            <a:ahLst/>
            <a:cxnLst/>
            <a:rect l="l" t="t" r="r" b="b"/>
            <a:pathLst>
              <a:path w="2058924" h="1188720">
                <a:moveTo>
                  <a:pt x="2058924" y="0"/>
                </a:moveTo>
                <a:lnTo>
                  <a:pt x="0" y="118872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7375916" y="3154680"/>
            <a:ext cx="2377440" cy="0"/>
          </a:xfrm>
          <a:custGeom>
            <a:avLst/>
            <a:gdLst/>
            <a:ahLst/>
            <a:cxnLst/>
            <a:rect l="l" t="t" r="r" b="b"/>
            <a:pathLst>
              <a:path w="2377440" h="0">
                <a:moveTo>
                  <a:pt x="2377440" y="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7694432" y="1965960"/>
            <a:ext cx="2058924" cy="1188720"/>
          </a:xfrm>
          <a:custGeom>
            <a:avLst/>
            <a:gdLst/>
            <a:ahLst/>
            <a:cxnLst/>
            <a:rect l="l" t="t" r="r" b="b"/>
            <a:pathLst>
              <a:path w="2058924" h="1188720">
                <a:moveTo>
                  <a:pt x="2058924" y="118872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8564635" y="1095756"/>
            <a:ext cx="1188721" cy="2058924"/>
          </a:xfrm>
          <a:custGeom>
            <a:avLst/>
            <a:gdLst/>
            <a:ahLst/>
            <a:cxnLst/>
            <a:rect l="l" t="t" r="r" b="b"/>
            <a:pathLst>
              <a:path w="1188721" h="2058924">
                <a:moveTo>
                  <a:pt x="1188721" y="2058924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753356" y="777240"/>
            <a:ext cx="0" cy="2377440"/>
          </a:xfrm>
          <a:custGeom>
            <a:avLst/>
            <a:gdLst/>
            <a:ahLst/>
            <a:cxnLst/>
            <a:rect l="l" t="t" r="r" b="b"/>
            <a:pathLst>
              <a:path w="0" h="2377440">
                <a:moveTo>
                  <a:pt x="0" y="237744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9753356" y="1095756"/>
            <a:ext cx="1188720" cy="2058924"/>
          </a:xfrm>
          <a:custGeom>
            <a:avLst/>
            <a:gdLst/>
            <a:ahLst/>
            <a:cxnLst/>
            <a:rect l="l" t="t" r="r" b="b"/>
            <a:pathLst>
              <a:path w="1188720" h="2058924">
                <a:moveTo>
                  <a:pt x="0" y="2058924"/>
                </a:moveTo>
                <a:lnTo>
                  <a:pt x="118872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9753356" y="1965959"/>
            <a:ext cx="2058923" cy="1188721"/>
          </a:xfrm>
          <a:custGeom>
            <a:avLst/>
            <a:gdLst/>
            <a:ahLst/>
            <a:cxnLst/>
            <a:rect l="l" t="t" r="r" b="b"/>
            <a:pathLst>
              <a:path w="2058923" h="1188721">
                <a:moveTo>
                  <a:pt x="0" y="1188721"/>
                </a:moveTo>
                <a:lnTo>
                  <a:pt x="2058923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9158996" y="2560320"/>
            <a:ext cx="1188720" cy="1188720"/>
          </a:xfrm>
          <a:custGeom>
            <a:avLst/>
            <a:gdLst/>
            <a:ahLst/>
            <a:cxnLst/>
            <a:rect l="l" t="t" r="r" b="b"/>
            <a:pathLst>
              <a:path w="1188720" h="1188720">
                <a:moveTo>
                  <a:pt x="1188720" y="594360"/>
                </a:moveTo>
                <a:lnTo>
                  <a:pt x="1109090" y="891540"/>
                </a:lnTo>
                <a:lnTo>
                  <a:pt x="891540" y="1109090"/>
                </a:lnTo>
                <a:lnTo>
                  <a:pt x="594360" y="1188720"/>
                </a:lnTo>
                <a:lnTo>
                  <a:pt x="297180" y="1109090"/>
                </a:lnTo>
                <a:lnTo>
                  <a:pt x="79629" y="891540"/>
                </a:lnTo>
                <a:lnTo>
                  <a:pt x="0" y="594360"/>
                </a:lnTo>
                <a:lnTo>
                  <a:pt x="79629" y="297180"/>
                </a:lnTo>
                <a:lnTo>
                  <a:pt x="297180" y="79629"/>
                </a:lnTo>
                <a:lnTo>
                  <a:pt x="594360" y="0"/>
                </a:lnTo>
                <a:lnTo>
                  <a:pt x="891540" y="79629"/>
                </a:lnTo>
                <a:lnTo>
                  <a:pt x="1109090" y="297179"/>
                </a:lnTo>
                <a:lnTo>
                  <a:pt x="1188720" y="59436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8564636" y="1965960"/>
            <a:ext cx="2377440" cy="2377440"/>
          </a:xfrm>
          <a:custGeom>
            <a:avLst/>
            <a:gdLst/>
            <a:ahLst/>
            <a:cxnLst/>
            <a:rect l="l" t="t" r="r" b="b"/>
            <a:pathLst>
              <a:path w="2377440" h="2377440">
                <a:moveTo>
                  <a:pt x="2377440" y="1188720"/>
                </a:moveTo>
                <a:lnTo>
                  <a:pt x="2218181" y="1783080"/>
                </a:lnTo>
                <a:lnTo>
                  <a:pt x="1783080" y="2218181"/>
                </a:lnTo>
                <a:lnTo>
                  <a:pt x="1188720" y="2377440"/>
                </a:lnTo>
                <a:lnTo>
                  <a:pt x="594360" y="2218181"/>
                </a:lnTo>
                <a:lnTo>
                  <a:pt x="159258" y="1783080"/>
                </a:lnTo>
                <a:lnTo>
                  <a:pt x="0" y="1188720"/>
                </a:lnTo>
                <a:lnTo>
                  <a:pt x="159258" y="594360"/>
                </a:lnTo>
                <a:lnTo>
                  <a:pt x="594360" y="159258"/>
                </a:lnTo>
                <a:lnTo>
                  <a:pt x="1188720" y="0"/>
                </a:lnTo>
                <a:lnTo>
                  <a:pt x="1783080" y="159258"/>
                </a:lnTo>
                <a:lnTo>
                  <a:pt x="2218181" y="594359"/>
                </a:lnTo>
                <a:lnTo>
                  <a:pt x="2377440" y="118871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7970276" y="1371600"/>
            <a:ext cx="3566160" cy="3566160"/>
          </a:xfrm>
          <a:custGeom>
            <a:avLst/>
            <a:gdLst/>
            <a:ahLst/>
            <a:cxnLst/>
            <a:rect l="l" t="t" r="r" b="b"/>
            <a:pathLst>
              <a:path w="3566160" h="3566160">
                <a:moveTo>
                  <a:pt x="3566160" y="1783080"/>
                </a:moveTo>
                <a:lnTo>
                  <a:pt x="3327272" y="2674620"/>
                </a:lnTo>
                <a:lnTo>
                  <a:pt x="2674620" y="3327272"/>
                </a:lnTo>
                <a:lnTo>
                  <a:pt x="1783080" y="3566160"/>
                </a:lnTo>
                <a:lnTo>
                  <a:pt x="891540" y="3327272"/>
                </a:lnTo>
                <a:lnTo>
                  <a:pt x="238887" y="2674620"/>
                </a:lnTo>
                <a:lnTo>
                  <a:pt x="0" y="1783080"/>
                </a:lnTo>
                <a:lnTo>
                  <a:pt x="238887" y="891540"/>
                </a:lnTo>
                <a:lnTo>
                  <a:pt x="891540" y="238887"/>
                </a:lnTo>
                <a:lnTo>
                  <a:pt x="1783080" y="0"/>
                </a:lnTo>
                <a:lnTo>
                  <a:pt x="2674620" y="238887"/>
                </a:lnTo>
                <a:lnTo>
                  <a:pt x="3327272" y="891539"/>
                </a:lnTo>
                <a:lnTo>
                  <a:pt x="3566160" y="178307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7375916" y="777240"/>
            <a:ext cx="4754880" cy="4754880"/>
          </a:xfrm>
          <a:custGeom>
            <a:avLst/>
            <a:gdLst/>
            <a:ahLst/>
            <a:cxnLst/>
            <a:rect l="l" t="t" r="r" b="b"/>
            <a:pathLst>
              <a:path w="4754880" h="4754880">
                <a:moveTo>
                  <a:pt x="4754880" y="2377440"/>
                </a:moveTo>
                <a:lnTo>
                  <a:pt x="4436363" y="3566160"/>
                </a:lnTo>
                <a:lnTo>
                  <a:pt x="3566160" y="4436363"/>
                </a:lnTo>
                <a:lnTo>
                  <a:pt x="2377440" y="4754880"/>
                </a:lnTo>
                <a:lnTo>
                  <a:pt x="1188720" y="4436363"/>
                </a:lnTo>
                <a:lnTo>
                  <a:pt x="318516" y="3566160"/>
                </a:lnTo>
                <a:lnTo>
                  <a:pt x="0" y="2377440"/>
                </a:lnTo>
                <a:lnTo>
                  <a:pt x="318516" y="1188720"/>
                </a:lnTo>
                <a:lnTo>
                  <a:pt x="1188719" y="318516"/>
                </a:lnTo>
                <a:lnTo>
                  <a:pt x="2377440" y="0"/>
                </a:lnTo>
                <a:lnTo>
                  <a:pt x="3566160" y="318516"/>
                </a:lnTo>
                <a:lnTo>
                  <a:pt x="4436363" y="1188719"/>
                </a:lnTo>
                <a:lnTo>
                  <a:pt x="4754880" y="237743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9240390" y="2691724"/>
            <a:ext cx="512966" cy="462956"/>
          </a:xfrm>
          <a:custGeom>
            <a:avLst/>
            <a:gdLst/>
            <a:ahLst/>
            <a:cxnLst/>
            <a:rect l="l" t="t" r="r" b="b"/>
            <a:pathLst>
              <a:path w="512966" h="462956">
                <a:moveTo>
                  <a:pt x="512966" y="462956"/>
                </a:moveTo>
                <a:lnTo>
                  <a:pt x="205186" y="0"/>
                </a:lnTo>
                <a:lnTo>
                  <a:pt x="0" y="135719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9004274" y="2880030"/>
            <a:ext cx="749082" cy="274650"/>
          </a:xfrm>
          <a:custGeom>
            <a:avLst/>
            <a:gdLst/>
            <a:ahLst/>
            <a:cxnLst/>
            <a:rect l="l" t="t" r="r" b="b"/>
            <a:pathLst>
              <a:path w="749082" h="274650">
                <a:moveTo>
                  <a:pt x="749082" y="274650"/>
                </a:moveTo>
                <a:lnTo>
                  <a:pt x="299633" y="0"/>
                </a:lnTo>
                <a:lnTo>
                  <a:pt x="0" y="248701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9013164" y="3102239"/>
            <a:ext cx="740192" cy="382027"/>
          </a:xfrm>
          <a:custGeom>
            <a:avLst/>
            <a:gdLst/>
            <a:ahLst/>
            <a:cxnLst/>
            <a:rect l="l" t="t" r="r" b="b"/>
            <a:pathLst>
              <a:path w="740192" h="382027">
                <a:moveTo>
                  <a:pt x="740192" y="52441"/>
                </a:moveTo>
                <a:lnTo>
                  <a:pt x="296076" y="0"/>
                </a:lnTo>
                <a:lnTo>
                  <a:pt x="0" y="382027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9264151" y="3154680"/>
            <a:ext cx="489205" cy="623080"/>
          </a:xfrm>
          <a:custGeom>
            <a:avLst/>
            <a:gdLst/>
            <a:ahLst/>
            <a:cxnLst/>
            <a:rect l="l" t="t" r="r" b="b"/>
            <a:pathLst>
              <a:path w="489205" h="623080">
                <a:moveTo>
                  <a:pt x="489205" y="0"/>
                </a:moveTo>
                <a:lnTo>
                  <a:pt x="195682" y="130992"/>
                </a:lnTo>
                <a:lnTo>
                  <a:pt x="0" y="623080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9753356" y="2691724"/>
            <a:ext cx="512965" cy="462956"/>
          </a:xfrm>
          <a:custGeom>
            <a:avLst/>
            <a:gdLst/>
            <a:ahLst/>
            <a:cxnLst/>
            <a:rect l="l" t="t" r="r" b="b"/>
            <a:pathLst>
              <a:path w="512965" h="462956">
                <a:moveTo>
                  <a:pt x="0" y="462956"/>
                </a:moveTo>
                <a:lnTo>
                  <a:pt x="307779" y="0"/>
                </a:lnTo>
                <a:lnTo>
                  <a:pt x="512965" y="135719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9753356" y="2880030"/>
            <a:ext cx="749081" cy="274650"/>
          </a:xfrm>
          <a:custGeom>
            <a:avLst/>
            <a:gdLst/>
            <a:ahLst/>
            <a:cxnLst/>
            <a:rect l="l" t="t" r="r" b="b"/>
            <a:pathLst>
              <a:path w="749081" h="274650">
                <a:moveTo>
                  <a:pt x="0" y="274650"/>
                </a:moveTo>
                <a:lnTo>
                  <a:pt x="449448" y="0"/>
                </a:lnTo>
                <a:lnTo>
                  <a:pt x="749081" y="248701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9753356" y="3102239"/>
            <a:ext cx="740191" cy="382027"/>
          </a:xfrm>
          <a:custGeom>
            <a:avLst/>
            <a:gdLst/>
            <a:ahLst/>
            <a:cxnLst/>
            <a:rect l="l" t="t" r="r" b="b"/>
            <a:pathLst>
              <a:path w="740191" h="382027">
                <a:moveTo>
                  <a:pt x="0" y="52441"/>
                </a:moveTo>
                <a:lnTo>
                  <a:pt x="444115" y="0"/>
                </a:lnTo>
                <a:lnTo>
                  <a:pt x="740191" y="382027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9753356" y="3154680"/>
            <a:ext cx="489204" cy="623080"/>
          </a:xfrm>
          <a:custGeom>
            <a:avLst/>
            <a:gdLst/>
            <a:ahLst/>
            <a:cxnLst/>
            <a:rect l="l" t="t" r="r" b="b"/>
            <a:pathLst>
              <a:path w="489204" h="623080">
                <a:moveTo>
                  <a:pt x="0" y="0"/>
                </a:moveTo>
                <a:lnTo>
                  <a:pt x="293522" y="130992"/>
                </a:lnTo>
                <a:lnTo>
                  <a:pt x="489204" y="623080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89094" y="3014776"/>
            <a:ext cx="528523" cy="528523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91690" y="2759842"/>
            <a:ext cx="323331" cy="323331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01168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F0EFE9"/>
                </a:solidFill>
                <a:latin typeface="Segoe UI"/>
              </a:rPr>
              <a:t>Thank you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108960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100" b="0">
                <a:solidFill>
                  <a:srgbClr val="C2C6BC"/>
                </a:solidFill>
                <a:latin typeface="Segoe UI"/>
              </a:rPr>
              <a:t>A big model, on the devices you already own, with the internet switched off.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297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0EFE9"/>
                </a:solidFill>
                <a:latin typeface="Segoe UI"/>
              </a:rPr>
              <a:t>Prajwal Gunnala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66344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github.com/prajwal-gunnala/maynards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87568" y="4297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0EFE9"/>
                </a:solidFill>
                <a:latin typeface="Segoe UI"/>
              </a:rPr>
              <a:t>Yuva Raj Ambati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87568" y="466344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every number here is in that repository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5394960"/>
            <a:ext cx="2624328" cy="45720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5513832"/>
            <a:ext cx="2624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FD68A"/>
                </a:solidFill>
                <a:latin typeface="Consolas"/>
              </a:rPr>
              <a:t>30B across three devices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78708" y="5394960"/>
            <a:ext cx="2624328" cy="45720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78708" y="5513832"/>
            <a:ext cx="2624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FD68A"/>
                </a:solidFill>
                <a:latin typeface="Consolas"/>
              </a:rPr>
              <a:t>ready in 70 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90488" y="5394960"/>
            <a:ext cx="2624328" cy="45720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90488" y="5513832"/>
            <a:ext cx="2624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FD68A"/>
                </a:solidFill>
                <a:latin typeface="Consolas"/>
              </a:rPr>
              <a:t>6.6 words a second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02268" y="5394960"/>
            <a:ext cx="2624328" cy="45720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02268" y="5513832"/>
            <a:ext cx="2624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FD68A"/>
                </a:solidFill>
                <a:latin typeface="Consolas"/>
              </a:rPr>
              <a:t>internet off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Team Maynards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iQOO Hackathon 2026 · Developer Tools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