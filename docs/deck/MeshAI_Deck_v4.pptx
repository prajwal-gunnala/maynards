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3.svg" ContentType="image/svg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1" r:id="rId11"/>
    <p:sldId id="262" r:id="rId12"/>
    <p:sldId id="263" r:id="rId13"/>
    <p:sldId id="260" r:id="rId10"/>
    <p:sldId id="270" r:id="rId20"/>
    <p:sldId id="271" r:id="rId21"/>
    <p:sldId id="272" r:id="rId22"/>
    <p:sldId id="266" r:id="rId16"/>
    <p:sldId id="267" r:id="rId17"/>
    <p:sldId id="268" r:id="rId18"/>
    <p:sldId id="269" r:id="rId19"/>
    <p:sldId id="265" r:id="rId15"/>
    <p:sldId id="273" r:id="rId23"/>
  </p:sldIdLst>
  <p:sldSz cx="18288000" cy="10287000"/>
  <p:notesSz cx="6858000" cy="9144000"/>
  <p:embeddedFontLst>
    <p:embeddedFont>
      <p:font typeface="Anton" charset="1" panose="00000500000000000000"/>
      <p:regular r:id="rId24"/>
    </p:embeddedFont>
    <p:embeddedFont>
      <p:font typeface="Public Sans" charset="1" panose="00000000000000000000"/>
      <p:regular r:id="rId25"/>
    </p:embeddedFont>
    <p:embeddedFont>
      <p:font typeface="Mukti" charset="1" panose="0000000000000000000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jpeg"/><Relationship Id="rId5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e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20.jpeg"/><Relationship Id="rId5" Type="http://schemas.openxmlformats.org/officeDocument/2006/relationships/image" Target="../media/image21.jpeg"/><Relationship Id="rId6" Type="http://schemas.openxmlformats.org/officeDocument/2006/relationships/image" Target="../media/image22.jpe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387245" y="919765"/>
            <a:ext cx="5469226" cy="11305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18"/>
              </a:lnSpc>
            </a:pPr>
            <a:r>
              <a:rPr lang="en-US" sz="8418" spc="-185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maynards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737211" y="971550"/>
            <a:ext cx="7066734" cy="1575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108"/>
              </a:lnSpc>
            </a:pPr>
            <a:r>
              <a:rPr lang="en-US" sz="5553" spc="-305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Prajwal Gunnala</a:t>
            </a:r>
          </a:p>
          <a:p>
            <a:pPr algn="r">
              <a:lnSpc>
                <a:spcPts val="6108"/>
              </a:lnSpc>
            </a:pPr>
            <a:r>
              <a:rPr lang="en-US" sz="5553" spc="-305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Yuva Raj Ambati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67618" y="2063989"/>
            <a:ext cx="9423229" cy="222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5"/>
              </a:lnSpc>
            </a:pPr>
            <a:r>
              <a:rPr lang="en-US" sz="16805" spc="-369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MESH AI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87245" y="9156444"/>
            <a:ext cx="9183976" cy="11305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18"/>
              </a:lnSpc>
            </a:pPr>
            <a:r>
              <a:rPr lang="en-US" sz="8418" spc="-185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IQOO Hackathon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5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429328"/>
            <a:ext cx="14614630" cy="37566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4400"/>
              </a:lnSpc>
              <a:defRPr sz="8800"/>
            </a:pPr>
            <a:r>
              <a:rPr lang="en-US" sz="8800" spc="-316">
                <a:solidFill>
                  <a:srgbClr val="EFEFEC"/>
                </a:solidFill>
                <a:latin typeface="Anton"/>
                <a:ea typeface="Anton"/>
                <a:cs typeface="Anton"/>
                <a:sym typeface="Anton"/>
              </a:rPr>
              <a:t>WHAT IF YOU COULD ACTUALLY RUN IT?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496057" y="1028700"/>
            <a:ext cx="3389640" cy="972367"/>
            <a:chOff x="0" y="0"/>
            <a:chExt cx="892745" cy="25609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NO API BILL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103268" y="1028700"/>
            <a:ext cx="3385712" cy="972367"/>
            <a:chOff x="0" y="0"/>
            <a:chExt cx="891710" cy="2560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91710" cy="256097"/>
            </a:xfrm>
            <a:custGeom>
              <a:avLst/>
              <a:gdLst/>
              <a:ahLst/>
              <a:cxnLst/>
              <a:rect r="r" b="b" t="t" l="l"/>
              <a:pathLst>
                <a:path h="256097" w="891710">
                  <a:moveTo>
                    <a:pt x="116619" y="0"/>
                  </a:moveTo>
                  <a:lnTo>
                    <a:pt x="775091" y="0"/>
                  </a:lnTo>
                  <a:cubicBezTo>
                    <a:pt x="806021" y="0"/>
                    <a:pt x="835683" y="12287"/>
                    <a:pt x="857553" y="34157"/>
                  </a:cubicBezTo>
                  <a:cubicBezTo>
                    <a:pt x="879424" y="56027"/>
                    <a:pt x="891710" y="85690"/>
                    <a:pt x="891710" y="116619"/>
                  </a:cubicBezTo>
                  <a:lnTo>
                    <a:pt x="891710" y="139478"/>
                  </a:lnTo>
                  <a:cubicBezTo>
                    <a:pt x="891710" y="170407"/>
                    <a:pt x="879424" y="200069"/>
                    <a:pt x="857553" y="221940"/>
                  </a:cubicBezTo>
                  <a:cubicBezTo>
                    <a:pt x="835683" y="243810"/>
                    <a:pt x="806021" y="256097"/>
                    <a:pt x="775091" y="256097"/>
                  </a:cubicBezTo>
                  <a:lnTo>
                    <a:pt x="116619" y="256097"/>
                  </a:lnTo>
                  <a:cubicBezTo>
                    <a:pt x="85690" y="256097"/>
                    <a:pt x="56027" y="243810"/>
                    <a:pt x="34157" y="221940"/>
                  </a:cubicBezTo>
                  <a:cubicBezTo>
                    <a:pt x="12287" y="200069"/>
                    <a:pt x="0" y="170407"/>
                    <a:pt x="0" y="139478"/>
                  </a:cubicBezTo>
                  <a:lnTo>
                    <a:pt x="0" y="116619"/>
                  </a:lnTo>
                  <a:cubicBezTo>
                    <a:pt x="0" y="85690"/>
                    <a:pt x="12287" y="56027"/>
                    <a:pt x="34157" y="34157"/>
                  </a:cubicBezTo>
                  <a:cubicBezTo>
                    <a:pt x="56027" y="12287"/>
                    <a:pt x="85690" y="0"/>
                    <a:pt x="116619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891710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ON YOUR PHONES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708055" y="1028700"/>
            <a:ext cx="2095889" cy="972367"/>
            <a:chOff x="0" y="0"/>
            <a:chExt cx="552004" cy="25609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52004" cy="256097"/>
            </a:xfrm>
            <a:custGeom>
              <a:avLst/>
              <a:gdLst/>
              <a:ahLst/>
              <a:cxnLst/>
              <a:rect r="r" b="b" t="t" l="l"/>
              <a:pathLst>
                <a:path h="256097" w="552004">
                  <a:moveTo>
                    <a:pt x="128048" y="0"/>
                  </a:moveTo>
                  <a:lnTo>
                    <a:pt x="423956" y="0"/>
                  </a:lnTo>
                  <a:cubicBezTo>
                    <a:pt x="457916" y="0"/>
                    <a:pt x="490486" y="13491"/>
                    <a:pt x="514499" y="37504"/>
                  </a:cubicBezTo>
                  <a:cubicBezTo>
                    <a:pt x="538513" y="61518"/>
                    <a:pt x="552004" y="94088"/>
                    <a:pt x="552004" y="128048"/>
                  </a:cubicBezTo>
                  <a:lnTo>
                    <a:pt x="552004" y="128048"/>
                  </a:lnTo>
                  <a:cubicBezTo>
                    <a:pt x="552004" y="198767"/>
                    <a:pt x="494675" y="256097"/>
                    <a:pt x="423956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552004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30B CODER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8496057" y="2124892"/>
            <a:ext cx="3389640" cy="972367"/>
            <a:chOff x="0" y="0"/>
            <a:chExt cx="892745" cy="25609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REVIEWS YOUR CODE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418233" y="2124892"/>
            <a:ext cx="3385712" cy="972367"/>
            <a:chOff x="0" y="0"/>
            <a:chExt cx="891710" cy="25609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91710" cy="256097"/>
            </a:xfrm>
            <a:custGeom>
              <a:avLst/>
              <a:gdLst/>
              <a:ahLst/>
              <a:cxnLst/>
              <a:rect r="r" b="b" t="t" l="l"/>
              <a:pathLst>
                <a:path h="256097" w="891710">
                  <a:moveTo>
                    <a:pt x="116619" y="0"/>
                  </a:moveTo>
                  <a:lnTo>
                    <a:pt x="775091" y="0"/>
                  </a:lnTo>
                  <a:cubicBezTo>
                    <a:pt x="806021" y="0"/>
                    <a:pt x="835683" y="12287"/>
                    <a:pt x="857553" y="34157"/>
                  </a:cubicBezTo>
                  <a:cubicBezTo>
                    <a:pt x="879424" y="56027"/>
                    <a:pt x="891710" y="85690"/>
                    <a:pt x="891710" y="116619"/>
                  </a:cubicBezTo>
                  <a:lnTo>
                    <a:pt x="891710" y="139478"/>
                  </a:lnTo>
                  <a:cubicBezTo>
                    <a:pt x="891710" y="170407"/>
                    <a:pt x="879424" y="200069"/>
                    <a:pt x="857553" y="221940"/>
                  </a:cubicBezTo>
                  <a:cubicBezTo>
                    <a:pt x="835683" y="243810"/>
                    <a:pt x="806021" y="256097"/>
                    <a:pt x="775091" y="256097"/>
                  </a:cubicBezTo>
                  <a:lnTo>
                    <a:pt x="116619" y="256097"/>
                  </a:lnTo>
                  <a:cubicBezTo>
                    <a:pt x="85690" y="256097"/>
                    <a:pt x="56027" y="243810"/>
                    <a:pt x="34157" y="221940"/>
                  </a:cubicBezTo>
                  <a:cubicBezTo>
                    <a:pt x="12287" y="200069"/>
                    <a:pt x="0" y="170407"/>
                    <a:pt x="0" y="139478"/>
                  </a:cubicBezTo>
                  <a:lnTo>
                    <a:pt x="0" y="116619"/>
                  </a:lnTo>
                  <a:cubicBezTo>
                    <a:pt x="0" y="85690"/>
                    <a:pt x="12287" y="56027"/>
                    <a:pt x="34157" y="34157"/>
                  </a:cubicBezTo>
                  <a:cubicBezTo>
                    <a:pt x="56027" y="12287"/>
                    <a:pt x="85690" y="0"/>
                    <a:pt x="116619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891710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ON A BUDGET LAPTOP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104020" y="2124892"/>
            <a:ext cx="2095889" cy="972367"/>
            <a:chOff x="0" y="0"/>
            <a:chExt cx="552004" cy="25609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52004" cy="256097"/>
            </a:xfrm>
            <a:custGeom>
              <a:avLst/>
              <a:gdLst/>
              <a:ahLst/>
              <a:cxnLst/>
              <a:rect r="r" b="b" t="t" l="l"/>
              <a:pathLst>
                <a:path h="256097" w="552004">
                  <a:moveTo>
                    <a:pt x="128048" y="0"/>
                  </a:moveTo>
                  <a:lnTo>
                    <a:pt x="423956" y="0"/>
                  </a:lnTo>
                  <a:cubicBezTo>
                    <a:pt x="457916" y="0"/>
                    <a:pt x="490486" y="13491"/>
                    <a:pt x="514499" y="37504"/>
                  </a:cubicBezTo>
                  <a:cubicBezTo>
                    <a:pt x="538513" y="61518"/>
                    <a:pt x="552004" y="94088"/>
                    <a:pt x="552004" y="128048"/>
                  </a:cubicBezTo>
                  <a:lnTo>
                    <a:pt x="552004" y="128048"/>
                  </a:lnTo>
                  <a:cubicBezTo>
                    <a:pt x="552004" y="198767"/>
                    <a:pt x="494675" y="256097"/>
                    <a:pt x="423956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552004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OFFLINE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maynards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IQOO HACKATHON 2026</a:t>
            </a:r>
          </a:p>
        </p:txBody>
      </p:sp>
      <p:sp>
        <p:nvSpPr>
          <p:cNvPr name="AutoShape 23" id="23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E4E1DD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24" id="24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E4E1DD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06295" y="1056137"/>
            <a:ext cx="16853005" cy="2670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PROBLEM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23741" y="5089525"/>
            <a:ext cx="7480203" cy="4137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30B coding model needs 18.6 GB to run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budget laptop has about 4 GB free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phone has 2 to 10 GB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Neither can hold it, so you run something small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Small models are not almost as good. They are unusable: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laptop alone, 0.6B: 2 of 15 correct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laptop alone, 1.7B: 7 of 15 correct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laptop + laptop helper, 1.7B (split): 7 of 15 correct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machine that can hold the big model costs more than the laptop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14" id="14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5" id="15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pic>
        <p:nvPicPr>
          <p:cNvPr id="16" name="Picture 15" descr="fi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4892040"/>
            <a:ext cx="9326880" cy="47256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5" id="5"/>
          <p:cNvGrpSpPr/>
          <p:nvPr/>
        </p:nvGrpSpPr>
        <p:grpSpPr>
          <a:xfrm rot="0">
            <a:off x="472970" y="5942783"/>
            <a:ext cx="3389640" cy="972367"/>
            <a:chOff x="0" y="0"/>
            <a:chExt cx="892745" cy="25609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ONE ENDPOINT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302360" y="7114358"/>
            <a:ext cx="3389640" cy="972367"/>
            <a:chOff x="0" y="0"/>
            <a:chExt cx="892745" cy="2560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PLANS THE SPLIT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72970" y="8285933"/>
            <a:ext cx="3389640" cy="972367"/>
            <a:chOff x="0" y="0"/>
            <a:chExt cx="892745" cy="25609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REFUSES BAD DEVICES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72970" y="7114358"/>
            <a:ext cx="2611818" cy="972367"/>
            <a:chOff x="0" y="0"/>
            <a:chExt cx="687886" cy="25609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87886" cy="256097"/>
            </a:xfrm>
            <a:custGeom>
              <a:avLst/>
              <a:gdLst/>
              <a:ahLst/>
              <a:cxnLst/>
              <a:rect r="r" b="b" t="t" l="l"/>
              <a:pathLst>
                <a:path h="256097" w="687886">
                  <a:moveTo>
                    <a:pt x="128048" y="0"/>
                  </a:moveTo>
                  <a:lnTo>
                    <a:pt x="559838" y="0"/>
                  </a:lnTo>
                  <a:cubicBezTo>
                    <a:pt x="593799" y="0"/>
                    <a:pt x="626368" y="13491"/>
                    <a:pt x="650382" y="37504"/>
                  </a:cubicBezTo>
                  <a:cubicBezTo>
                    <a:pt x="674396" y="61518"/>
                    <a:pt x="687886" y="94088"/>
                    <a:pt x="687886" y="128048"/>
                  </a:cubicBezTo>
                  <a:lnTo>
                    <a:pt x="687886" y="128048"/>
                  </a:lnTo>
                  <a:cubicBezTo>
                    <a:pt x="687886" y="198767"/>
                    <a:pt x="630557" y="256097"/>
                    <a:pt x="559838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87886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MESH REVIEW · TESTS · DIFF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080181" y="8285933"/>
            <a:ext cx="2611818" cy="972367"/>
            <a:chOff x="0" y="0"/>
            <a:chExt cx="687886" cy="25609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7886" cy="256097"/>
            </a:xfrm>
            <a:custGeom>
              <a:avLst/>
              <a:gdLst/>
              <a:ahLst/>
              <a:cxnLst/>
              <a:rect r="r" b="b" t="t" l="l"/>
              <a:pathLst>
                <a:path h="256097" w="687886">
                  <a:moveTo>
                    <a:pt x="128048" y="0"/>
                  </a:moveTo>
                  <a:lnTo>
                    <a:pt x="559838" y="0"/>
                  </a:lnTo>
                  <a:cubicBezTo>
                    <a:pt x="593799" y="0"/>
                    <a:pt x="626368" y="13491"/>
                    <a:pt x="650382" y="37504"/>
                  </a:cubicBezTo>
                  <a:cubicBezTo>
                    <a:pt x="674396" y="61518"/>
                    <a:pt x="687886" y="94088"/>
                    <a:pt x="687886" y="128048"/>
                  </a:cubicBezTo>
                  <a:lnTo>
                    <a:pt x="687886" y="128048"/>
                  </a:lnTo>
                  <a:cubicBezTo>
                    <a:pt x="687886" y="198767"/>
                    <a:pt x="630557" y="256097"/>
                    <a:pt x="559838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87886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GIT PRE-COMMIT HOOK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080181" y="5942783"/>
            <a:ext cx="2611818" cy="972367"/>
            <a:chOff x="0" y="0"/>
            <a:chExt cx="687886" cy="25609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7886" cy="256097"/>
            </a:xfrm>
            <a:custGeom>
              <a:avLst/>
              <a:gdLst/>
              <a:ahLst/>
              <a:cxnLst/>
              <a:rect r="r" b="b" t="t" l="l"/>
              <a:pathLst>
                <a:path h="256097" w="687886">
                  <a:moveTo>
                    <a:pt x="128048" y="0"/>
                  </a:moveTo>
                  <a:lnTo>
                    <a:pt x="559838" y="0"/>
                  </a:lnTo>
                  <a:cubicBezTo>
                    <a:pt x="593799" y="0"/>
                    <a:pt x="626368" y="13491"/>
                    <a:pt x="650382" y="37504"/>
                  </a:cubicBezTo>
                  <a:cubicBezTo>
                    <a:pt x="674396" y="61518"/>
                    <a:pt x="687886" y="94088"/>
                    <a:pt x="687886" y="128048"/>
                  </a:cubicBezTo>
                  <a:lnTo>
                    <a:pt x="687886" y="128048"/>
                  </a:lnTo>
                  <a:cubicBezTo>
                    <a:pt x="687886" y="198767"/>
                    <a:pt x="630557" y="256097"/>
                    <a:pt x="559838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87886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NOTHING LEAVES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24" id="24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472970" y="1057274"/>
            <a:ext cx="10213063" cy="2670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THE MESH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779052" y="1038225"/>
            <a:ext cx="7024893" cy="242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Pool the free memory of devices you already own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One device plans, the others hold layers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One OpenAI-compatible endpoint, so your tools do not change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About 4 KB crosses the cable per word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18.6 GB of weights never move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Internet off throughout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pic>
        <p:nvPicPr>
          <p:cNvPr id="32" name="Picture 31" descr="app-n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0" y="5394960"/>
            <a:ext cx="7223760" cy="61495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E4E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75488" y="1060704"/>
            <a:ext cx="16852392" cy="26700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WHY NOT BEFORE?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7" id="7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" id="8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75488" y="3840480"/>
            <a:ext cx="17327880" cy="585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Every word waits for the link, so the link decides everything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Venue Wi-Fi: 266 to 483 ms. The planner refuses it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USB cable: 2 to 3 ms. It works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Loading was the second wall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First 30B split: 517 seconds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Read the file once, front to back: 70 seconds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Petals measured 0.83 tokens per second across two continents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split is worth it on a link you own, and worthless on one you do not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4E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75488" y="1060704"/>
            <a:ext cx="16852392" cy="26700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979"/>
              </a:lnSpc>
            </a:pPr>
            <a:r>
              <a:rPr lang="en-US" sz="4979" spc="-109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WHAT YOU DO WITH IT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7" id="7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" id="8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75488" y="3840480"/>
            <a:ext cx="17327880" cy="585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You are about to commit. You tap one button on your phone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phone asks your laptop what you changed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30B across two phones and the laptop reviews it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review appears on the phone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No internet · no account · no API bill · the code never left the desk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same review installs as a git pre-commit hook, in one command</a:t>
            </a:r>
          </a:p>
        </p:txBody>
      </p:sp>
      <p:pic xmlns:r="http://schemas.openxmlformats.org/officeDocument/2006/relationships">
        <p:nvPicPr>
          <p:cNvPr id="9" name="Picture 8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537960"/>
            <a:ext cx="17327880" cy="30095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E4E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75488" y="1060704"/>
            <a:ext cx="16852392" cy="26700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342"/>
              </a:lnSpc>
            </a:pPr>
            <a:r>
              <a:rPr lang="en-US" sz="13342" spc="-293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ARCHITECTURE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pic xmlns:r="http://schemas.openxmlformats.org/officeDocument/2006/relationships">
        <p:nvPicPr>
          <p:cNvPr id="7" name="Picture 6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063240"/>
            <a:ext cx="15910559" cy="76167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4E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75488" y="1060704"/>
            <a:ext cx="16852392" cy="26700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6835"/>
              </a:lnSpc>
            </a:pPr>
            <a:r>
              <a:rPr lang="en-US" sz="6835" spc="-15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WHAT MADE IT WORK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7" id="7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" id="8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75488" y="3840480"/>
            <a:ext cx="17327880" cy="585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Read the file once, front to back: load 517 s to 70 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Each device keeps its own layers: an unseen split 437 s to 70 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One conversation slot, so a long chat stays in the cache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Embeddings and output head pinned to the host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Median of ten round trips, so one spike does not evict a good device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It refuses, in words: too slow, too hot, nearly flat, or it already fits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E4E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584711" y="896833"/>
            <a:ext cx="7703289" cy="915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5"/>
              </a:lnSpc>
            </a:pPr>
            <a:r>
              <a:rPr lang="en-US" sz="6835" spc="-15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HOW DOES MESH DO IT?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CREATIVE BRIEF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SUMMER 2030 ADVERTISING CAMPAIGN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RIMBERIO ACTIVEWEAR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PRESENTED BY: HARPER RUSSO</a:t>
            </a:r>
          </a:p>
        </p:txBody>
      </p:sp>
      <p:sp>
        <p:nvSpPr>
          <p:cNvPr name="AutoShape 7" id="7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4E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3" id="3"/>
          <p:cNvSpPr txBox="true"/>
          <p:nvPr/>
        </p:nvSpPr>
        <p:spPr>
          <a:xfrm rot="-5400000">
            <a:off x="-3197542" y="4502468"/>
            <a:ext cx="8229600" cy="1282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9600" spc="-211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TECH STACK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00515" y="904875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Any GGUF model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00515" y="1593402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Kotlin, Compose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400515" y="2281929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Rust agent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400515" y="2970456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llama.cpp, ggml RPC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400515" y="3658983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USB tethering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00515" y="4347510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OpenAI-style API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00515" y="5036037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Android NDK arm64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400515" y="5724564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CLI and git hook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00515" y="6413091"/>
            <a:ext cx="5858785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No cloud at all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18" id="18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9" id="19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3" id="3"/>
          <p:cNvSpPr txBox="true"/>
          <p:nvPr/>
        </p:nvSpPr>
        <p:spPr>
          <a:xfrm rot="0">
            <a:off x="475488" y="1060704"/>
            <a:ext cx="16852392" cy="26700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11111"/>
                </a:solidFill>
                <a:latin typeface="Anton"/>
                <a:ea typeface="Anton"/>
                <a:cs typeface="Anton"/>
                <a:sym typeface="Anton"/>
              </a:rPr>
              <a:t>FEASIBILITY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081549" y="7199358"/>
            <a:ext cx="6722396" cy="972367"/>
            <a:chOff x="0" y="0"/>
            <a:chExt cx="1770507" cy="25609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507" cy="256097"/>
            </a:xfrm>
            <a:custGeom>
              <a:avLst/>
              <a:gdLst/>
              <a:ahLst/>
              <a:cxnLst/>
              <a:rect r="r" b="b" t="t" l="l"/>
              <a:pathLst>
                <a:path h="256097" w="1770507">
                  <a:moveTo>
                    <a:pt x="58735" y="0"/>
                  </a:moveTo>
                  <a:lnTo>
                    <a:pt x="1711773" y="0"/>
                  </a:lnTo>
                  <a:cubicBezTo>
                    <a:pt x="1744211" y="0"/>
                    <a:pt x="1770507" y="26296"/>
                    <a:pt x="1770507" y="58735"/>
                  </a:cubicBezTo>
                  <a:lnTo>
                    <a:pt x="1770507" y="197362"/>
                  </a:lnTo>
                  <a:cubicBezTo>
                    <a:pt x="1770507" y="229800"/>
                    <a:pt x="1744211" y="256097"/>
                    <a:pt x="1711773" y="256097"/>
                  </a:cubicBezTo>
                  <a:lnTo>
                    <a:pt x="58735" y="256097"/>
                  </a:lnTo>
                  <a:cubicBezTo>
                    <a:pt x="26296" y="256097"/>
                    <a:pt x="0" y="229800"/>
                    <a:pt x="0" y="197362"/>
                  </a:cubicBezTo>
                  <a:lnTo>
                    <a:pt x="0" y="58735"/>
                  </a:lnTo>
                  <a:cubicBezTo>
                    <a:pt x="0" y="26296"/>
                    <a:pt x="26296" y="0"/>
                    <a:pt x="58735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770507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11111"/>
                  </a:solidFill>
                  <a:latin typeface="Mukti"/>
                  <a:ea typeface="Mukti"/>
                  <a:cs typeface="Mukti"/>
                  <a:sym typeface="Mukti"/>
                </a:rPr>
                <a:t>IT RUNS TODAY: 30B ACROSS A LAPTOP AND TWO PHONES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081549" y="6112782"/>
            <a:ext cx="6722396" cy="972367"/>
            <a:chOff x="0" y="0"/>
            <a:chExt cx="1770507" cy="25609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70507" cy="256097"/>
            </a:xfrm>
            <a:custGeom>
              <a:avLst/>
              <a:gdLst/>
              <a:ahLst/>
              <a:cxnLst/>
              <a:rect r="r" b="b" t="t" l="l"/>
              <a:pathLst>
                <a:path h="256097" w="1770507">
                  <a:moveTo>
                    <a:pt x="58735" y="0"/>
                  </a:moveTo>
                  <a:lnTo>
                    <a:pt x="1711773" y="0"/>
                  </a:lnTo>
                  <a:cubicBezTo>
                    <a:pt x="1744211" y="0"/>
                    <a:pt x="1770507" y="26296"/>
                    <a:pt x="1770507" y="58735"/>
                  </a:cubicBezTo>
                  <a:lnTo>
                    <a:pt x="1770507" y="197362"/>
                  </a:lnTo>
                  <a:cubicBezTo>
                    <a:pt x="1770507" y="229800"/>
                    <a:pt x="1744211" y="256097"/>
                    <a:pt x="1711773" y="256097"/>
                  </a:cubicBezTo>
                  <a:lnTo>
                    <a:pt x="58735" y="256097"/>
                  </a:lnTo>
                  <a:cubicBezTo>
                    <a:pt x="26296" y="256097"/>
                    <a:pt x="0" y="229800"/>
                    <a:pt x="0" y="197362"/>
                  </a:cubicBezTo>
                  <a:lnTo>
                    <a:pt x="0" y="58735"/>
                  </a:lnTo>
                  <a:cubicBezTo>
                    <a:pt x="0" y="26296"/>
                    <a:pt x="26296" y="0"/>
                    <a:pt x="58735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770507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11111"/>
                  </a:solidFill>
                  <a:latin typeface="Mukti"/>
                  <a:ea typeface="Mukti"/>
                  <a:cs typeface="Mukti"/>
                  <a:sym typeface="Mukti"/>
                </a:rPr>
                <a:t>READY IN 70 SECONDS · 6.6 TOKENS PER SECOND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81549" y="8285933"/>
            <a:ext cx="6722396" cy="972367"/>
            <a:chOff x="0" y="0"/>
            <a:chExt cx="1770507" cy="2560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70507" cy="256097"/>
            </a:xfrm>
            <a:custGeom>
              <a:avLst/>
              <a:gdLst/>
              <a:ahLst/>
              <a:cxnLst/>
              <a:rect r="r" b="b" t="t" l="l"/>
              <a:pathLst>
                <a:path h="256097" w="1770507">
                  <a:moveTo>
                    <a:pt x="58735" y="0"/>
                  </a:moveTo>
                  <a:lnTo>
                    <a:pt x="1711773" y="0"/>
                  </a:lnTo>
                  <a:cubicBezTo>
                    <a:pt x="1744211" y="0"/>
                    <a:pt x="1770507" y="26296"/>
                    <a:pt x="1770507" y="58735"/>
                  </a:cubicBezTo>
                  <a:lnTo>
                    <a:pt x="1770507" y="197362"/>
                  </a:lnTo>
                  <a:cubicBezTo>
                    <a:pt x="1770507" y="229800"/>
                    <a:pt x="1744211" y="256097"/>
                    <a:pt x="1711773" y="256097"/>
                  </a:cubicBezTo>
                  <a:lnTo>
                    <a:pt x="58735" y="256097"/>
                  </a:lnTo>
                  <a:cubicBezTo>
                    <a:pt x="26296" y="256097"/>
                    <a:pt x="0" y="229800"/>
                    <a:pt x="0" y="197362"/>
                  </a:cubicBezTo>
                  <a:lnTo>
                    <a:pt x="0" y="58735"/>
                  </a:lnTo>
                  <a:cubicBezTo>
                    <a:pt x="0" y="26296"/>
                    <a:pt x="26296" y="0"/>
                    <a:pt x="58735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770507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11111"/>
                  </a:solidFill>
                  <a:latin typeface="Mukti"/>
                  <a:ea typeface="Mukti"/>
                  <a:cs typeface="Mukti"/>
                  <a:sym typeface="Mukti"/>
                </a:rPr>
                <a:t>BUILT AND MEASURED INSIDE THE EVENT WINDOW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11111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11111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11111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11111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17" id="17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E4E1DD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8" id="18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E4E1DD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06295" y="1043590"/>
            <a:ext cx="7579360" cy="2670176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0000"/>
              </a:lnSpc>
              <a:defRPr sz="15000"/>
            </a:pPr>
            <a:r>
              <a:rPr lang="en-US" sz="15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LIMITS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583034" y="2296342"/>
            <a:ext cx="8220910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Every word crosses the link once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 split is slower than one device that already fits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Our planner says so and refuses your phone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We split only when the model fits nowhere else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583034" y="1028965"/>
            <a:ext cx="5265746" cy="972367"/>
            <a:chOff x="0" y="0"/>
            <a:chExt cx="1386863" cy="25609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86863" cy="256097"/>
            </a:xfrm>
            <a:custGeom>
              <a:avLst/>
              <a:gdLst/>
              <a:ahLst/>
              <a:cxnLst/>
              <a:rect r="r" b="b" t="t" l="l"/>
              <a:pathLst>
                <a:path h="256097" w="1386863">
                  <a:moveTo>
                    <a:pt x="74982" y="0"/>
                  </a:moveTo>
                  <a:lnTo>
                    <a:pt x="1311881" y="0"/>
                  </a:lnTo>
                  <a:cubicBezTo>
                    <a:pt x="1353292" y="0"/>
                    <a:pt x="1386863" y="33571"/>
                    <a:pt x="1386863" y="74982"/>
                  </a:cubicBezTo>
                  <a:lnTo>
                    <a:pt x="1386863" y="181114"/>
                  </a:lnTo>
                  <a:cubicBezTo>
                    <a:pt x="1386863" y="222526"/>
                    <a:pt x="1353292" y="256097"/>
                    <a:pt x="1311881" y="256097"/>
                  </a:cubicBezTo>
                  <a:lnTo>
                    <a:pt x="74982" y="256097"/>
                  </a:lnTo>
                  <a:cubicBezTo>
                    <a:pt x="33571" y="256097"/>
                    <a:pt x="0" y="222526"/>
                    <a:pt x="0" y="181114"/>
                  </a:cubicBezTo>
                  <a:lnTo>
                    <a:pt x="0" y="74982"/>
                  </a:lnTo>
                  <a:cubicBezTo>
                    <a:pt x="0" y="33571"/>
                    <a:pt x="33571" y="0"/>
                    <a:pt x="74982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386863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NOT FASTER. IT BUYS MEMORY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9583034" y="5778829"/>
            <a:ext cx="8220910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Nothing leaves the devices you own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demo runs with the internet off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We do not claim activations sent to a stranger are private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Published work turns them back into text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83034" y="4511453"/>
            <a:ext cx="5265746" cy="972367"/>
            <a:chOff x="0" y="0"/>
            <a:chExt cx="1386863" cy="2560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63" cy="256097"/>
            </a:xfrm>
            <a:custGeom>
              <a:avLst/>
              <a:gdLst/>
              <a:ahLst/>
              <a:cxnLst/>
              <a:rect r="r" b="b" t="t" l="l"/>
              <a:pathLst>
                <a:path h="256097" w="1386863">
                  <a:moveTo>
                    <a:pt x="74982" y="0"/>
                  </a:moveTo>
                  <a:lnTo>
                    <a:pt x="1311881" y="0"/>
                  </a:lnTo>
                  <a:cubicBezTo>
                    <a:pt x="1353292" y="0"/>
                    <a:pt x="1386863" y="33571"/>
                    <a:pt x="1386863" y="74982"/>
                  </a:cubicBezTo>
                  <a:lnTo>
                    <a:pt x="1386863" y="181114"/>
                  </a:lnTo>
                  <a:cubicBezTo>
                    <a:pt x="1386863" y="222526"/>
                    <a:pt x="1353292" y="256097"/>
                    <a:pt x="1311881" y="256097"/>
                  </a:cubicBezTo>
                  <a:lnTo>
                    <a:pt x="74982" y="256097"/>
                  </a:lnTo>
                  <a:cubicBezTo>
                    <a:pt x="33571" y="256097"/>
                    <a:pt x="0" y="222526"/>
                    <a:pt x="0" y="181114"/>
                  </a:cubicBezTo>
                  <a:lnTo>
                    <a:pt x="0" y="74982"/>
                  </a:lnTo>
                  <a:cubicBezTo>
                    <a:pt x="0" y="33571"/>
                    <a:pt x="33571" y="0"/>
                    <a:pt x="74982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86863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PRIVATE ACROSS YOUR OWN DEVICES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15" id="15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6" id="16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06295" y="853090"/>
            <a:ext cx="7579360" cy="2501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9600" spc="-211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IMPACT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583034" y="2296342"/>
            <a:ext cx="8220910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Memory decides which model you can run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Pool the memory and the ceiling moves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same devices now hold a 30B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The answers change accordingly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583034" y="1028965"/>
            <a:ext cx="5265746" cy="972367"/>
            <a:chOff x="0" y="0"/>
            <a:chExt cx="1386863" cy="25609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86863" cy="256097"/>
            </a:xfrm>
            <a:custGeom>
              <a:avLst/>
              <a:gdLst/>
              <a:ahLst/>
              <a:cxnLst/>
              <a:rect r="r" b="b" t="t" l="l"/>
              <a:pathLst>
                <a:path h="256097" w="1386863">
                  <a:moveTo>
                    <a:pt x="74982" y="0"/>
                  </a:moveTo>
                  <a:lnTo>
                    <a:pt x="1311881" y="0"/>
                  </a:lnTo>
                  <a:cubicBezTo>
                    <a:pt x="1353292" y="0"/>
                    <a:pt x="1386863" y="33571"/>
                    <a:pt x="1386863" y="74982"/>
                  </a:cubicBezTo>
                  <a:lnTo>
                    <a:pt x="1386863" y="181114"/>
                  </a:lnTo>
                  <a:cubicBezTo>
                    <a:pt x="1386863" y="222526"/>
                    <a:pt x="1353292" y="256097"/>
                    <a:pt x="1311881" y="256097"/>
                  </a:cubicBezTo>
                  <a:lnTo>
                    <a:pt x="74982" y="256097"/>
                  </a:lnTo>
                  <a:cubicBezTo>
                    <a:pt x="33571" y="256097"/>
                    <a:pt x="0" y="222526"/>
                    <a:pt x="0" y="181114"/>
                  </a:cubicBezTo>
                  <a:lnTo>
                    <a:pt x="0" y="74982"/>
                  </a:lnTo>
                  <a:cubicBezTo>
                    <a:pt x="0" y="33571"/>
                    <a:pt x="33571" y="0"/>
                    <a:pt x="74982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386863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THE CEILING MOVES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9583034" y="5778829"/>
            <a:ext cx="8220910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Rural India: 94.2% have a phone, 4.2% a computer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Not our first user, and we will not pretend it is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It is why the phone has to be the device that works</a:t>
            </a:r>
          </a:p>
          <a:p>
            <a:pPr algn="l">
              <a:lnSpc>
                <a:spcPts val="2749"/>
              </a:lnSpc>
              <a:spcAft>
                <a:spcPts val="900"/>
              </a:spcAft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As open models improve, what it holds matters more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83034" y="4511453"/>
            <a:ext cx="5265746" cy="972367"/>
            <a:chOff x="0" y="0"/>
            <a:chExt cx="1386863" cy="2560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63" cy="256097"/>
            </a:xfrm>
            <a:custGeom>
              <a:avLst/>
              <a:gdLst/>
              <a:ahLst/>
              <a:cxnLst/>
              <a:rect r="r" b="b" t="t" l="l"/>
              <a:pathLst>
                <a:path h="256097" w="1386863">
                  <a:moveTo>
                    <a:pt x="74982" y="0"/>
                  </a:moveTo>
                  <a:lnTo>
                    <a:pt x="1311881" y="0"/>
                  </a:lnTo>
                  <a:cubicBezTo>
                    <a:pt x="1353292" y="0"/>
                    <a:pt x="1386863" y="33571"/>
                    <a:pt x="1386863" y="74982"/>
                  </a:cubicBezTo>
                  <a:lnTo>
                    <a:pt x="1386863" y="181114"/>
                  </a:lnTo>
                  <a:cubicBezTo>
                    <a:pt x="1386863" y="222526"/>
                    <a:pt x="1353292" y="256097"/>
                    <a:pt x="1311881" y="256097"/>
                  </a:cubicBezTo>
                  <a:lnTo>
                    <a:pt x="74982" y="256097"/>
                  </a:lnTo>
                  <a:cubicBezTo>
                    <a:pt x="33571" y="256097"/>
                    <a:pt x="0" y="222526"/>
                    <a:pt x="0" y="181114"/>
                  </a:cubicBezTo>
                  <a:lnTo>
                    <a:pt x="0" y="74982"/>
                  </a:lnTo>
                  <a:cubicBezTo>
                    <a:pt x="0" y="33571"/>
                    <a:pt x="33571" y="0"/>
                    <a:pt x="74982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86863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PHONE FIRST IS NOT A GIMMICK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15" id="15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6" id="16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534103"/>
            <a:ext cx="8671030" cy="5203826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0000"/>
              </a:lnSpc>
              <a:defRPr sz="12000"/>
            </a:pPr>
            <a:r>
              <a:rPr lang="en-US" sz="12000" spc="-440">
                <a:solidFill>
                  <a:srgbClr val="EFEFEC"/>
                </a:solidFill>
                <a:latin typeface="Anton"/>
                <a:ea typeface="Anton"/>
                <a:cs typeface="Anton"/>
                <a:sym typeface="Anton"/>
              </a:rPr>
              <a:t>WHO IT IS FOR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496057" y="1028700"/>
            <a:ext cx="3389640" cy="972367"/>
            <a:chOff x="0" y="0"/>
            <a:chExt cx="892745" cy="2560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DEVELOPERS ON A WEAK LAPTOP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103268" y="1028700"/>
            <a:ext cx="3385712" cy="972367"/>
            <a:chOff x="0" y="0"/>
            <a:chExt cx="891710" cy="25609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91710" cy="256097"/>
            </a:xfrm>
            <a:custGeom>
              <a:avLst/>
              <a:gdLst/>
              <a:ahLst/>
              <a:cxnLst/>
              <a:rect r="r" b="b" t="t" l="l"/>
              <a:pathLst>
                <a:path h="256097" w="891710">
                  <a:moveTo>
                    <a:pt x="116619" y="0"/>
                  </a:moveTo>
                  <a:lnTo>
                    <a:pt x="775091" y="0"/>
                  </a:lnTo>
                  <a:cubicBezTo>
                    <a:pt x="806021" y="0"/>
                    <a:pt x="835683" y="12287"/>
                    <a:pt x="857553" y="34157"/>
                  </a:cubicBezTo>
                  <a:cubicBezTo>
                    <a:pt x="879424" y="56027"/>
                    <a:pt x="891710" y="85690"/>
                    <a:pt x="891710" y="116619"/>
                  </a:cubicBezTo>
                  <a:lnTo>
                    <a:pt x="891710" y="139478"/>
                  </a:lnTo>
                  <a:cubicBezTo>
                    <a:pt x="891710" y="170407"/>
                    <a:pt x="879424" y="200069"/>
                    <a:pt x="857553" y="221940"/>
                  </a:cubicBezTo>
                  <a:cubicBezTo>
                    <a:pt x="835683" y="243810"/>
                    <a:pt x="806021" y="256097"/>
                    <a:pt x="775091" y="256097"/>
                  </a:cubicBezTo>
                  <a:lnTo>
                    <a:pt x="116619" y="256097"/>
                  </a:lnTo>
                  <a:cubicBezTo>
                    <a:pt x="85690" y="256097"/>
                    <a:pt x="56027" y="243810"/>
                    <a:pt x="34157" y="221940"/>
                  </a:cubicBezTo>
                  <a:cubicBezTo>
                    <a:pt x="12287" y="200069"/>
                    <a:pt x="0" y="170407"/>
                    <a:pt x="0" y="139478"/>
                  </a:cubicBezTo>
                  <a:lnTo>
                    <a:pt x="0" y="116619"/>
                  </a:lnTo>
                  <a:cubicBezTo>
                    <a:pt x="0" y="85690"/>
                    <a:pt x="12287" y="56027"/>
                    <a:pt x="34157" y="34157"/>
                  </a:cubicBezTo>
                  <a:cubicBezTo>
                    <a:pt x="56027" y="12287"/>
                    <a:pt x="85690" y="0"/>
                    <a:pt x="116619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91710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TWO PERSON TEAMS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5708055" y="1028700"/>
            <a:ext cx="2095889" cy="972367"/>
            <a:chOff x="0" y="0"/>
            <a:chExt cx="552004" cy="25609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52004" cy="256097"/>
            </a:xfrm>
            <a:custGeom>
              <a:avLst/>
              <a:gdLst/>
              <a:ahLst/>
              <a:cxnLst/>
              <a:rect r="r" b="b" t="t" l="l"/>
              <a:pathLst>
                <a:path h="256097" w="552004">
                  <a:moveTo>
                    <a:pt x="128048" y="0"/>
                  </a:moveTo>
                  <a:lnTo>
                    <a:pt x="423956" y="0"/>
                  </a:lnTo>
                  <a:cubicBezTo>
                    <a:pt x="457916" y="0"/>
                    <a:pt x="490486" y="13491"/>
                    <a:pt x="514499" y="37504"/>
                  </a:cubicBezTo>
                  <a:cubicBezTo>
                    <a:pt x="538513" y="61518"/>
                    <a:pt x="552004" y="94088"/>
                    <a:pt x="552004" y="128048"/>
                  </a:cubicBezTo>
                  <a:lnTo>
                    <a:pt x="552004" y="128048"/>
                  </a:lnTo>
                  <a:cubicBezTo>
                    <a:pt x="552004" y="198767"/>
                    <a:pt x="494675" y="256097"/>
                    <a:pt x="423956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52004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NO-CLOUD WORKPLACES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496057" y="2124892"/>
            <a:ext cx="3389640" cy="972367"/>
            <a:chOff x="0" y="0"/>
            <a:chExt cx="892745" cy="25609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92745" cy="256097"/>
            </a:xfrm>
            <a:custGeom>
              <a:avLst/>
              <a:gdLst/>
              <a:ahLst/>
              <a:cxnLst/>
              <a:rect r="r" b="b" t="t" l="l"/>
              <a:pathLst>
                <a:path h="256097" w="892745">
                  <a:moveTo>
                    <a:pt x="116484" y="0"/>
                  </a:moveTo>
                  <a:lnTo>
                    <a:pt x="776261" y="0"/>
                  </a:lnTo>
                  <a:cubicBezTo>
                    <a:pt x="807154" y="0"/>
                    <a:pt x="836783" y="12272"/>
                    <a:pt x="858627" y="34117"/>
                  </a:cubicBezTo>
                  <a:cubicBezTo>
                    <a:pt x="880472" y="55962"/>
                    <a:pt x="892745" y="85590"/>
                    <a:pt x="892745" y="116484"/>
                  </a:cubicBezTo>
                  <a:lnTo>
                    <a:pt x="892745" y="139613"/>
                  </a:lnTo>
                  <a:cubicBezTo>
                    <a:pt x="892745" y="203945"/>
                    <a:pt x="840593" y="256097"/>
                    <a:pt x="776261" y="256097"/>
                  </a:cubicBezTo>
                  <a:lnTo>
                    <a:pt x="116484" y="256097"/>
                  </a:lnTo>
                  <a:cubicBezTo>
                    <a:pt x="85590" y="256097"/>
                    <a:pt x="55962" y="243824"/>
                    <a:pt x="34117" y="221979"/>
                  </a:cubicBezTo>
                  <a:cubicBezTo>
                    <a:pt x="12272" y="200134"/>
                    <a:pt x="0" y="170506"/>
                    <a:pt x="0" y="139613"/>
                  </a:cubicBezTo>
                  <a:lnTo>
                    <a:pt x="0" y="116484"/>
                  </a:lnTo>
                  <a:cubicBezTo>
                    <a:pt x="0" y="85590"/>
                    <a:pt x="12272" y="55962"/>
                    <a:pt x="34117" y="34117"/>
                  </a:cubicBezTo>
                  <a:cubicBezTo>
                    <a:pt x="55962" y="12272"/>
                    <a:pt x="85590" y="0"/>
                    <a:pt x="116484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892745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STUDENTS WITH A GOOD PHONE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418233" y="2124892"/>
            <a:ext cx="3385712" cy="972367"/>
            <a:chOff x="0" y="0"/>
            <a:chExt cx="891710" cy="25609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91710" cy="256097"/>
            </a:xfrm>
            <a:custGeom>
              <a:avLst/>
              <a:gdLst/>
              <a:ahLst/>
              <a:cxnLst/>
              <a:rect r="r" b="b" t="t" l="l"/>
              <a:pathLst>
                <a:path h="256097" w="891710">
                  <a:moveTo>
                    <a:pt x="116619" y="0"/>
                  </a:moveTo>
                  <a:lnTo>
                    <a:pt x="775091" y="0"/>
                  </a:lnTo>
                  <a:cubicBezTo>
                    <a:pt x="806021" y="0"/>
                    <a:pt x="835683" y="12287"/>
                    <a:pt x="857553" y="34157"/>
                  </a:cubicBezTo>
                  <a:cubicBezTo>
                    <a:pt x="879424" y="56027"/>
                    <a:pt x="891710" y="85690"/>
                    <a:pt x="891710" y="116619"/>
                  </a:cubicBezTo>
                  <a:lnTo>
                    <a:pt x="891710" y="139478"/>
                  </a:lnTo>
                  <a:cubicBezTo>
                    <a:pt x="891710" y="170407"/>
                    <a:pt x="879424" y="200069"/>
                    <a:pt x="857553" y="221940"/>
                  </a:cubicBezTo>
                  <a:cubicBezTo>
                    <a:pt x="835683" y="243810"/>
                    <a:pt x="806021" y="256097"/>
                    <a:pt x="775091" y="256097"/>
                  </a:cubicBezTo>
                  <a:lnTo>
                    <a:pt x="116619" y="256097"/>
                  </a:lnTo>
                  <a:cubicBezTo>
                    <a:pt x="85690" y="256097"/>
                    <a:pt x="56027" y="243810"/>
                    <a:pt x="34157" y="221940"/>
                  </a:cubicBezTo>
                  <a:cubicBezTo>
                    <a:pt x="12287" y="200069"/>
                    <a:pt x="0" y="170407"/>
                    <a:pt x="0" y="139478"/>
                  </a:cubicBezTo>
                  <a:lnTo>
                    <a:pt x="0" y="116619"/>
                  </a:lnTo>
                  <a:cubicBezTo>
                    <a:pt x="0" y="85690"/>
                    <a:pt x="12287" y="56027"/>
                    <a:pt x="34157" y="34157"/>
                  </a:cubicBezTo>
                  <a:cubicBezTo>
                    <a:pt x="56027" y="12287"/>
                    <a:pt x="85690" y="0"/>
                    <a:pt x="116619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891710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FIELD WORK WITH NO SIGNAL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104020" y="2124892"/>
            <a:ext cx="2095889" cy="972367"/>
            <a:chOff x="0" y="0"/>
            <a:chExt cx="552004" cy="25609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52004" cy="256097"/>
            </a:xfrm>
            <a:custGeom>
              <a:avLst/>
              <a:gdLst/>
              <a:ahLst/>
              <a:cxnLst/>
              <a:rect r="r" b="b" t="t" l="l"/>
              <a:pathLst>
                <a:path h="256097" w="552004">
                  <a:moveTo>
                    <a:pt x="128048" y="0"/>
                  </a:moveTo>
                  <a:lnTo>
                    <a:pt x="423956" y="0"/>
                  </a:lnTo>
                  <a:cubicBezTo>
                    <a:pt x="457916" y="0"/>
                    <a:pt x="490486" y="13491"/>
                    <a:pt x="514499" y="37504"/>
                  </a:cubicBezTo>
                  <a:cubicBezTo>
                    <a:pt x="538513" y="61518"/>
                    <a:pt x="552004" y="94088"/>
                    <a:pt x="552004" y="128048"/>
                  </a:cubicBezTo>
                  <a:lnTo>
                    <a:pt x="552004" y="128048"/>
                  </a:lnTo>
                  <a:cubicBezTo>
                    <a:pt x="552004" y="198767"/>
                    <a:pt x="494675" y="256097"/>
                    <a:pt x="423956" y="256097"/>
                  </a:cubicBezTo>
                  <a:lnTo>
                    <a:pt x="128048" y="256097"/>
                  </a:lnTo>
                  <a:cubicBezTo>
                    <a:pt x="94088" y="256097"/>
                    <a:pt x="61518" y="242606"/>
                    <a:pt x="37504" y="218592"/>
                  </a:cubicBezTo>
                  <a:cubicBezTo>
                    <a:pt x="13491" y="194578"/>
                    <a:pt x="0" y="162009"/>
                    <a:pt x="0" y="128048"/>
                  </a:cubicBezTo>
                  <a:lnTo>
                    <a:pt x="0" y="128048"/>
                  </a:lnTo>
                  <a:cubicBezTo>
                    <a:pt x="0" y="94088"/>
                    <a:pt x="13491" y="61518"/>
                    <a:pt x="37504" y="37504"/>
                  </a:cubicBezTo>
                  <a:cubicBezTo>
                    <a:pt x="61518" y="13491"/>
                    <a:pt x="94088" y="0"/>
                    <a:pt x="128048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552004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ANY CAPABLE ANDROID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28" id="28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E4E1DD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29" id="29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E4E1DD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258896" y="1028700"/>
            <a:ext cx="6545048" cy="8229600"/>
            <a:chOff x="0" y="0"/>
            <a:chExt cx="8726731" cy="10972800"/>
          </a:xfrm>
        </p:grpSpPr>
      </p:grpSp>
      <p:sp>
        <p:nvSpPr>
          <p:cNvPr name="TextBox 7" id="7"/>
          <p:cNvSpPr txBox="true"/>
          <p:nvPr/>
        </p:nvSpPr>
        <p:spPr>
          <a:xfrm rot="0">
            <a:off x="475488" y="1060704"/>
            <a:ext cx="16852392" cy="267004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THE EVIDENCE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17" id="17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8" id="18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pic>
        <p:nvPicPr>
          <p:cNvPr id="19" name="Picture 18" descr="accurac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4206240"/>
            <a:ext cx="12344400" cy="52000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2" id="22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pic xmlns:r="http://schemas.openxmlformats.org/officeDocument/2006/relationships">
        <p:nvPicPr>
          <p:cNvPr id="26" name="Picture 25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6642080" cy="86751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15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15" id="15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EFEFEC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pic xmlns:r="http://schemas.openxmlformats.org/officeDocument/2006/relationships">
        <p:nvPicPr>
          <p:cNvPr id="19" name="Picture 18" descr="b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6642080" cy="79669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634102" y="1029098"/>
            <a:ext cx="7169842" cy="972367"/>
            <a:chOff x="0" y="0"/>
            <a:chExt cx="1888354" cy="25609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88354" cy="256097"/>
            </a:xfrm>
            <a:custGeom>
              <a:avLst/>
              <a:gdLst/>
              <a:ahLst/>
              <a:cxnLst/>
              <a:rect r="r" b="b" t="t" l="l"/>
              <a:pathLst>
                <a:path h="256097" w="1888354">
                  <a:moveTo>
                    <a:pt x="55069" y="0"/>
                  </a:moveTo>
                  <a:lnTo>
                    <a:pt x="1833284" y="0"/>
                  </a:lnTo>
                  <a:cubicBezTo>
                    <a:pt x="1863698" y="0"/>
                    <a:pt x="1888354" y="24655"/>
                    <a:pt x="1888354" y="55069"/>
                  </a:cubicBezTo>
                  <a:lnTo>
                    <a:pt x="1888354" y="201027"/>
                  </a:lnTo>
                  <a:cubicBezTo>
                    <a:pt x="1888354" y="231441"/>
                    <a:pt x="1863698" y="256097"/>
                    <a:pt x="1833284" y="256097"/>
                  </a:cubicBezTo>
                  <a:lnTo>
                    <a:pt x="55069" y="256097"/>
                  </a:lnTo>
                  <a:cubicBezTo>
                    <a:pt x="24655" y="256097"/>
                    <a:pt x="0" y="231441"/>
                    <a:pt x="0" y="201027"/>
                  </a:cubicBezTo>
                  <a:lnTo>
                    <a:pt x="0" y="55069"/>
                  </a:lnTo>
                  <a:cubicBezTo>
                    <a:pt x="0" y="24655"/>
                    <a:pt x="24655" y="0"/>
                    <a:pt x="55069" y="0"/>
                  </a:cubicBezTo>
                  <a:close/>
                </a:path>
              </a:pathLst>
            </a:custGeom>
            <a:solidFill>
              <a:srgbClr val="E4E1DD"/>
            </a:solidFill>
            <a:ln w="9525" cap="rnd">
              <a:solidFill>
                <a:srgbClr val="151213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88354" cy="294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  <a:r>
                <a:rPr lang="en-US" sz="2100" spc="-115">
                  <a:solidFill>
                    <a:srgbClr val="151213"/>
                  </a:solidFill>
                  <a:latin typeface="Mukti"/>
                  <a:ea typeface="Mukti"/>
                  <a:cs typeface="Mukti"/>
                  <a:sym typeface="Mukti"/>
                </a:rPr>
                <a:t>TEAM MAYNARDS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06295" y="1234090"/>
            <a:ext cx="6831958" cy="5203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THANK</a:t>
            </a:r>
          </a:p>
          <a:p>
            <a:pPr algn="l">
              <a:lnSpc>
                <a:spcPts val="20000"/>
              </a:lnSpc>
            </a:pPr>
            <a:r>
              <a:rPr lang="en-US" sz="20000" spc="-440">
                <a:solidFill>
                  <a:srgbClr val="151213"/>
                </a:solidFill>
                <a:latin typeface="Anton"/>
                <a:ea typeface="Anton"/>
                <a:cs typeface="Anton"/>
                <a:sym typeface="Anton"/>
              </a:rPr>
              <a:t>YOU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00594" y="2579759"/>
            <a:ext cx="4784764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Prajwal Gunnala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72327" y="3353189"/>
            <a:ext cx="4005121" cy="365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github.com/prajwal-gunnala/maynards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900594" y="4882991"/>
            <a:ext cx="4784764" cy="66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80"/>
              </a:lnSpc>
            </a:pPr>
            <a:r>
              <a:rPr lang="en-US" sz="3600" spc="-19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Yuva Raj Ambati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672327" y="5656421"/>
            <a:ext cx="4005121" cy="365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499" spc="-137">
                <a:solidFill>
                  <a:srgbClr val="151213"/>
                </a:solidFill>
                <a:latin typeface="Public Sans"/>
                <a:ea typeface="Public Sans"/>
                <a:cs typeface="Public Sans"/>
                <a:sym typeface="Public Sans"/>
              </a:rPr>
              <a:t>every number in this deck is in that repository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2970" y="87843"/>
            <a:ext cx="281826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MESH AI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38406" y="87843"/>
            <a:ext cx="636553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IQOO HACKATHON 2026 · DEVELOPER TOOLS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2970" y="9859584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TEAM MAYNARDS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66772" y="9860015"/>
            <a:ext cx="423717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60"/>
              </a:lnSpc>
            </a:pPr>
            <a:r>
              <a:rPr lang="en-US" sz="1900" spc="-104">
                <a:solidFill>
                  <a:srgbClr val="151213"/>
                </a:solidFill>
                <a:latin typeface="Mukti"/>
                <a:ea typeface="Mukti"/>
                <a:cs typeface="Mukti"/>
                <a:sym typeface="Mukti"/>
              </a:rPr>
              <a:t>PRAJWAL GUNNALA · YUVA RAJ AMBATI</a:t>
            </a:r>
          </a:p>
        </p:txBody>
      </p:sp>
      <p:sp>
        <p:nvSpPr>
          <p:cNvPr name="AutoShape 23" id="23"/>
          <p:cNvSpPr/>
          <p:nvPr/>
        </p:nvSpPr>
        <p:spPr>
          <a:xfrm>
            <a:off x="-882858" y="492020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24" id="24"/>
          <p:cNvSpPr/>
          <p:nvPr/>
        </p:nvSpPr>
        <p:spPr>
          <a:xfrm>
            <a:off x="-882858" y="9818891"/>
            <a:ext cx="20053717" cy="0"/>
          </a:xfrm>
          <a:prstGeom prst="line">
            <a:avLst/>
          </a:prstGeom>
          <a:ln cap="flat" w="9525">
            <a:solidFill>
              <a:srgbClr val="151213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DAHWSf4tPws</dc:identifier>
  <dcterms:modified xsi:type="dcterms:W3CDTF">2011-08-01T06:04:30Z</dcterms:modified>
  <cp:revision>1</cp:revision>
  <dc:title>maynards</dc:title>
</cp:coreProperties>
</file>