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3.svg" ContentType="image/svg+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5" r:id="rId15"/>
    <p:sldId id="266" r:id="rId16"/>
    <p:sldId id="267" r:id="rId17"/>
    <p:sldId id="268" r:id="rId18"/>
    <p:sldId id="269" r:id="rId19"/>
    <p:sldId id="270" r:id="rId20"/>
    <p:sldId id="271" r:id="rId21"/>
    <p:sldId id="272" r:id="rId22"/>
    <p:sldId id="274" r:id="rId14"/>
    <p:sldId id="275" r:id="rId27"/>
    <p:sldId id="273" r:id="rId23"/>
  </p:sldIdLst>
  <p:sldSz cx="18288000" cy="10287000"/>
  <p:notesSz cx="6858000" cy="9144000"/>
  <p:embeddedFontLst>
    <p:embeddedFont>
      <p:font typeface="Anton" charset="1" panose="00000500000000000000"/>
      <p:regular r:id="rId24"/>
    </p:embeddedFont>
    <p:embeddedFont>
      <p:font typeface="Public Sans" charset="1" panose="00000000000000000000"/>
      <p:regular r:id="rId25"/>
    </p:embeddedFont>
    <p:embeddedFont>
      <p:font typeface="Mukti"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1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jpeg"/><Relationship Id="rId5"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12.png"/><Relationship Id="rId5" Type="http://schemas.openxmlformats.org/officeDocument/2006/relationships/image" Target="../media/image1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e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 Id="rId5" Type="http://schemas.openxmlformats.org/officeDocument/2006/relationships/image" Target="../media/image19.jpeg"/><Relationship Id="rId6"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20.jpeg"/><Relationship Id="rId5" Type="http://schemas.openxmlformats.org/officeDocument/2006/relationships/image" Target="../media/image21.jpeg"/><Relationship Id="rId6"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TextBox 5" id="5"/>
          <p:cNvSpPr txBox="true"/>
          <p:nvPr/>
        </p:nvSpPr>
        <p:spPr>
          <a:xfrm rot="0">
            <a:off x="387245" y="919765"/>
            <a:ext cx="5469226" cy="1130556"/>
          </a:xfrm>
          <a:prstGeom prst="rect">
            <a:avLst/>
          </a:prstGeom>
        </p:spPr>
        <p:txBody>
          <a:bodyPr anchor="t" rtlCol="false" tIns="0" lIns="0" bIns="0" rIns="0">
            <a:spAutoFit/>
          </a:bodyPr>
          <a:lstStyle/>
          <a:p>
            <a:pPr algn="l">
              <a:lnSpc>
                <a:spcPts val="8418"/>
              </a:lnSpc>
            </a:pPr>
            <a:r>
              <a:rPr lang="en-US" sz="8418" spc="-185">
                <a:solidFill>
                  <a:srgbClr val="151213"/>
                </a:solidFill>
                <a:latin typeface="Anton"/>
                <a:ea typeface="Anton"/>
                <a:cs typeface="Anton"/>
                <a:sym typeface="Anton"/>
              </a:rPr>
              <a:t>maynards</a:t>
            </a:r>
          </a:p>
        </p:txBody>
      </p:sp>
      <p:sp>
        <p:nvSpPr>
          <p:cNvPr name="TextBox 6" id="6"/>
          <p:cNvSpPr txBox="true"/>
          <p:nvPr/>
        </p:nvSpPr>
        <p:spPr>
          <a:xfrm rot="0">
            <a:off x="10737211" y="971550"/>
            <a:ext cx="7066734" cy="1575279"/>
          </a:xfrm>
          <a:prstGeom prst="rect">
            <a:avLst/>
          </a:prstGeom>
        </p:spPr>
        <p:txBody>
          <a:bodyPr anchor="t" rtlCol="false" tIns="0" lIns="0" bIns="0" rIns="0">
            <a:spAutoFit/>
          </a:bodyPr>
          <a:lstStyle/>
          <a:p>
            <a:pPr algn="r">
              <a:lnSpc>
                <a:spcPts val="6108"/>
              </a:lnSpc>
            </a:pPr>
            <a:r>
              <a:rPr lang="en-US" sz="5553" spc="-305">
                <a:solidFill>
                  <a:srgbClr val="151213"/>
                </a:solidFill>
                <a:latin typeface="Public Sans"/>
                <a:ea typeface="Public Sans"/>
                <a:cs typeface="Public Sans"/>
                <a:sym typeface="Public Sans"/>
              </a:rPr>
              <a:t>Prajwal Gunnala</a:t>
            </a:r>
          </a:p>
          <a:p>
            <a:pPr algn="r">
              <a:lnSpc>
                <a:spcPts val="6108"/>
              </a:lnSpc>
            </a:pPr>
            <a:r>
              <a:rPr lang="en-US" sz="5553" spc="-305">
                <a:solidFill>
                  <a:srgbClr val="151213"/>
                </a:solidFill>
                <a:latin typeface="Public Sans"/>
                <a:ea typeface="Public Sans"/>
                <a:cs typeface="Public Sans"/>
                <a:sym typeface="Public Sans"/>
              </a:rPr>
              <a:t>Yuva Raj Ambati</a:t>
            </a:r>
          </a:p>
        </p:txBody>
      </p:sp>
      <p:sp>
        <p:nvSpPr>
          <p:cNvPr name="TextBox 7" id="7"/>
          <p:cNvSpPr txBox="true"/>
          <p:nvPr/>
        </p:nvSpPr>
        <p:spPr>
          <a:xfrm rot="0">
            <a:off x="267618" y="2063989"/>
            <a:ext cx="9423229" cy="2226353"/>
          </a:xfrm>
          <a:prstGeom prst="rect">
            <a:avLst/>
          </a:prstGeom>
        </p:spPr>
        <p:txBody>
          <a:bodyPr anchor="t" rtlCol="false" tIns="0" lIns="0" bIns="0" rIns="0">
            <a:spAutoFit/>
          </a:bodyPr>
          <a:lstStyle/>
          <a:p>
            <a:pPr algn="l">
              <a:lnSpc>
                <a:spcPts val="16805"/>
              </a:lnSpc>
            </a:pPr>
            <a:r>
              <a:rPr lang="en-US" sz="16805" spc="-369">
                <a:solidFill>
                  <a:srgbClr val="151213"/>
                </a:solidFill>
                <a:latin typeface="Anton"/>
                <a:ea typeface="Anton"/>
                <a:cs typeface="Anton"/>
                <a:sym typeface="Anton"/>
              </a:rPr>
              <a:t>MESH AI</a:t>
            </a:r>
          </a:p>
        </p:txBody>
      </p:sp>
      <p:sp>
        <p:nvSpPr>
          <p:cNvPr name="TextBox 8" id="8"/>
          <p:cNvSpPr txBox="true"/>
          <p:nvPr/>
        </p:nvSpPr>
        <p:spPr>
          <a:xfrm rot="0">
            <a:off x="387245" y="9156444"/>
            <a:ext cx="9183976" cy="1130556"/>
          </a:xfrm>
          <a:prstGeom prst="rect">
            <a:avLst/>
          </a:prstGeom>
        </p:spPr>
        <p:txBody>
          <a:bodyPr anchor="t" rtlCol="false" tIns="0" lIns="0" bIns="0" rIns="0">
            <a:spAutoFit/>
          </a:bodyPr>
          <a:lstStyle/>
          <a:p>
            <a:pPr algn="l">
              <a:lnSpc>
                <a:spcPts val="8418"/>
              </a:lnSpc>
            </a:pPr>
            <a:r>
              <a:rPr lang="en-US" sz="8418" spc="-185">
                <a:solidFill>
                  <a:srgbClr val="151213"/>
                </a:solidFill>
                <a:latin typeface="Anton"/>
                <a:ea typeface="Anton"/>
                <a:cs typeface="Anton"/>
                <a:sym typeface="Anton"/>
              </a:rPr>
              <a:t>IQOO Hackathon 2026</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2.xml><?xml version="1.0" encoding="utf-8"?>
<p:sld xmlns:p="http://schemas.openxmlformats.org/presentationml/2006/main" xmlns:a="http://schemas.openxmlformats.org/drawingml/2006/main">
  <p:cSld>
    <p:bg>
      <p:bgPr>
        <a:solidFill>
          <a:srgbClr val="151213"/>
        </a:solidFill>
      </p:bgPr>
    </p:bg>
    <p:spTree>
      <p:nvGrpSpPr>
        <p:cNvPr id="1" name=""/>
        <p:cNvGrpSpPr/>
        <p:nvPr/>
      </p:nvGrpSpPr>
      <p:grpSpPr>
        <a:xfrm>
          <a:off x="0" y="0"/>
          <a:ext cx="0" cy="0"/>
          <a:chOff x="0" y="0"/>
          <a:chExt cx="0" cy="0"/>
        </a:xfrm>
      </p:grpSpPr>
      <p:sp>
        <p:nvSpPr>
          <p:cNvPr name="TextBox 2" id="2"/>
          <p:cNvSpPr txBox="true"/>
          <p:nvPr/>
        </p:nvSpPr>
        <p:spPr>
          <a:xfrm rot="0">
            <a:off x="1028700" y="4429328"/>
            <a:ext cx="14614630" cy="3756660"/>
          </a:xfrm>
          <a:prstGeom prst="rect">
            <a:avLst/>
          </a:prstGeom>
        </p:spPr>
        <p:txBody>
          <a:bodyPr anchor="t" rtlCol="false" tIns="0" lIns="0" bIns="0" rIns="0" wrap="square">
            <a:spAutoFit/>
          </a:bodyPr>
          <a:lstStyle/>
          <a:p>
            <a:pPr algn="l">
              <a:lnSpc>
                <a:spcPts val="14400"/>
              </a:lnSpc>
              <a:defRPr sz="8800"/>
            </a:pPr>
            <a:r>
              <a:rPr lang="en-US" sz="8800" spc="-316">
                <a:solidFill>
                  <a:srgbClr val="EFEFEC"/>
                </a:solidFill>
                <a:latin typeface="Anton"/>
                <a:ea typeface="Anton"/>
                <a:cs typeface="Anton"/>
                <a:sym typeface="Anton"/>
              </a:rPr>
              <a:t>WHAT IF YOU COULD ACTUALLY RUN IT?</a:t>
            </a:r>
          </a:p>
        </p:txBody>
      </p:sp>
      <p:grpSp>
        <p:nvGrpSpPr>
          <p:cNvPr name="Group 3" id="3"/>
          <p:cNvGrpSpPr/>
          <p:nvPr/>
        </p:nvGrpSpPr>
        <p:grpSpPr>
          <a:xfrm rot="0">
            <a:off x="8496057" y="1028700"/>
            <a:ext cx="3389640" cy="972367"/>
            <a:chOff x="0" y="0"/>
            <a:chExt cx="892745" cy="256097"/>
          </a:xfrm>
        </p:grpSpPr>
        <p:sp>
          <p:nvSpPr>
            <p:cNvPr name="Freeform 4" id="4"/>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5" id="5"/>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NO API BILL</a:t>
              </a:r>
            </a:p>
          </p:txBody>
        </p:sp>
      </p:grpSp>
      <p:grpSp>
        <p:nvGrpSpPr>
          <p:cNvPr name="Group 6" id="6"/>
          <p:cNvGrpSpPr/>
          <p:nvPr/>
        </p:nvGrpSpPr>
        <p:grpSpPr>
          <a:xfrm rot="0">
            <a:off x="12103268" y="1028700"/>
            <a:ext cx="3385712" cy="972367"/>
            <a:chOff x="0" y="0"/>
            <a:chExt cx="891710" cy="256097"/>
          </a:xfrm>
        </p:grpSpPr>
        <p:sp>
          <p:nvSpPr>
            <p:cNvPr name="Freeform 7" id="7"/>
            <p:cNvSpPr/>
            <p:nvPr/>
          </p:nvSpPr>
          <p:spPr>
            <a:xfrm flipH="false" flipV="false" rot="0">
              <a:off x="0" y="0"/>
              <a:ext cx="891710" cy="256097"/>
            </a:xfrm>
            <a:custGeom>
              <a:avLst/>
              <a:gdLst/>
              <a:ahLst/>
              <a:cxnLst/>
              <a:rect r="r" b="b" t="t" l="l"/>
              <a:pathLst>
                <a:path h="256097" w="891710">
                  <a:moveTo>
                    <a:pt x="116619" y="0"/>
                  </a:moveTo>
                  <a:lnTo>
                    <a:pt x="775091" y="0"/>
                  </a:lnTo>
                  <a:cubicBezTo>
                    <a:pt x="806021" y="0"/>
                    <a:pt x="835683" y="12287"/>
                    <a:pt x="857553" y="34157"/>
                  </a:cubicBezTo>
                  <a:cubicBezTo>
                    <a:pt x="879424" y="56027"/>
                    <a:pt x="891710" y="85690"/>
                    <a:pt x="891710" y="116619"/>
                  </a:cubicBezTo>
                  <a:lnTo>
                    <a:pt x="891710" y="139478"/>
                  </a:lnTo>
                  <a:cubicBezTo>
                    <a:pt x="891710" y="170407"/>
                    <a:pt x="879424" y="200069"/>
                    <a:pt x="857553" y="221940"/>
                  </a:cubicBezTo>
                  <a:cubicBezTo>
                    <a:pt x="835683" y="243810"/>
                    <a:pt x="806021" y="256097"/>
                    <a:pt x="775091" y="256097"/>
                  </a:cubicBezTo>
                  <a:lnTo>
                    <a:pt x="116619" y="256097"/>
                  </a:lnTo>
                  <a:cubicBezTo>
                    <a:pt x="85690" y="256097"/>
                    <a:pt x="56027" y="243810"/>
                    <a:pt x="34157" y="221940"/>
                  </a:cubicBezTo>
                  <a:cubicBezTo>
                    <a:pt x="12287" y="200069"/>
                    <a:pt x="0" y="170407"/>
                    <a:pt x="0" y="139478"/>
                  </a:cubicBezTo>
                  <a:lnTo>
                    <a:pt x="0" y="116619"/>
                  </a:lnTo>
                  <a:cubicBezTo>
                    <a:pt x="0" y="85690"/>
                    <a:pt x="12287" y="56027"/>
                    <a:pt x="34157" y="34157"/>
                  </a:cubicBezTo>
                  <a:cubicBezTo>
                    <a:pt x="56027" y="12287"/>
                    <a:pt x="85690" y="0"/>
                    <a:pt x="116619" y="0"/>
                  </a:cubicBezTo>
                  <a:close/>
                </a:path>
              </a:pathLst>
            </a:custGeom>
            <a:solidFill>
              <a:srgbClr val="E4E1DD"/>
            </a:solidFill>
            <a:ln w="9525" cap="rnd">
              <a:solidFill>
                <a:srgbClr val="151213"/>
              </a:solidFill>
              <a:prstDash val="solid"/>
              <a:round/>
            </a:ln>
          </p:spPr>
          <p:txBody>
            <a:bodyPr/>
            <a:p/>
          </p:txBody>
        </p:sp>
        <p:sp>
          <p:nvSpPr>
            <p:cNvPr name="TextBox 8" id="8"/>
            <p:cNvSpPr txBox="true"/>
            <p:nvPr/>
          </p:nvSpPr>
          <p:spPr>
            <a:xfrm>
              <a:off x="0" y="-38100"/>
              <a:ext cx="891710"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ON YOUR PHONES</a:t>
              </a:r>
            </a:p>
          </p:txBody>
        </p:sp>
      </p:grpSp>
      <p:grpSp>
        <p:nvGrpSpPr>
          <p:cNvPr name="Group 9" id="9"/>
          <p:cNvGrpSpPr/>
          <p:nvPr/>
        </p:nvGrpSpPr>
        <p:grpSpPr>
          <a:xfrm rot="0">
            <a:off x="15708055" y="1028700"/>
            <a:ext cx="2095889" cy="972367"/>
            <a:chOff x="0" y="0"/>
            <a:chExt cx="552004" cy="256097"/>
          </a:xfrm>
        </p:grpSpPr>
        <p:sp>
          <p:nvSpPr>
            <p:cNvPr name="Freeform 10" id="10"/>
            <p:cNvSpPr/>
            <p:nvPr/>
          </p:nvSpPr>
          <p:spPr>
            <a:xfrm flipH="false" flipV="false" rot="0">
              <a:off x="0" y="0"/>
              <a:ext cx="552004" cy="256097"/>
            </a:xfrm>
            <a:custGeom>
              <a:avLst/>
              <a:gdLst/>
              <a:ahLst/>
              <a:cxnLst/>
              <a:rect r="r" b="b" t="t" l="l"/>
              <a:pathLst>
                <a:path h="256097" w="552004">
                  <a:moveTo>
                    <a:pt x="128048" y="0"/>
                  </a:moveTo>
                  <a:lnTo>
                    <a:pt x="423956" y="0"/>
                  </a:lnTo>
                  <a:cubicBezTo>
                    <a:pt x="457916" y="0"/>
                    <a:pt x="490486" y="13491"/>
                    <a:pt x="514499" y="37504"/>
                  </a:cubicBezTo>
                  <a:cubicBezTo>
                    <a:pt x="538513" y="61518"/>
                    <a:pt x="552004" y="94088"/>
                    <a:pt x="552004" y="128048"/>
                  </a:cubicBezTo>
                  <a:lnTo>
                    <a:pt x="552004" y="128048"/>
                  </a:lnTo>
                  <a:cubicBezTo>
                    <a:pt x="552004" y="198767"/>
                    <a:pt x="494675" y="256097"/>
                    <a:pt x="423956"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11" id="11"/>
            <p:cNvSpPr txBox="true"/>
            <p:nvPr/>
          </p:nvSpPr>
          <p:spPr>
            <a:xfrm>
              <a:off x="0" y="-38100"/>
              <a:ext cx="552004"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30B CODER</a:t>
              </a:r>
            </a:p>
          </p:txBody>
        </p:sp>
      </p:grpSp>
      <p:grpSp>
        <p:nvGrpSpPr>
          <p:cNvPr name="Group 12" id="12"/>
          <p:cNvGrpSpPr/>
          <p:nvPr/>
        </p:nvGrpSpPr>
        <p:grpSpPr>
          <a:xfrm rot="0">
            <a:off x="8496057" y="2124892"/>
            <a:ext cx="3389640" cy="972367"/>
            <a:chOff x="0" y="0"/>
            <a:chExt cx="892745" cy="256097"/>
          </a:xfrm>
        </p:grpSpPr>
        <p:sp>
          <p:nvSpPr>
            <p:cNvPr name="Freeform 13" id="13"/>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14" id="14"/>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REVIEWS YOUR CODE</a:t>
              </a:r>
            </a:p>
          </p:txBody>
        </p:sp>
      </p:grpSp>
      <p:grpSp>
        <p:nvGrpSpPr>
          <p:cNvPr name="Group 15" id="15"/>
          <p:cNvGrpSpPr/>
          <p:nvPr/>
        </p:nvGrpSpPr>
        <p:grpSpPr>
          <a:xfrm rot="0">
            <a:off x="14418233" y="2124892"/>
            <a:ext cx="3385712" cy="972367"/>
            <a:chOff x="0" y="0"/>
            <a:chExt cx="891710" cy="256097"/>
          </a:xfrm>
        </p:grpSpPr>
        <p:sp>
          <p:nvSpPr>
            <p:cNvPr name="Freeform 16" id="16"/>
            <p:cNvSpPr/>
            <p:nvPr/>
          </p:nvSpPr>
          <p:spPr>
            <a:xfrm flipH="false" flipV="false" rot="0">
              <a:off x="0" y="0"/>
              <a:ext cx="891710" cy="256097"/>
            </a:xfrm>
            <a:custGeom>
              <a:avLst/>
              <a:gdLst/>
              <a:ahLst/>
              <a:cxnLst/>
              <a:rect r="r" b="b" t="t" l="l"/>
              <a:pathLst>
                <a:path h="256097" w="891710">
                  <a:moveTo>
                    <a:pt x="116619" y="0"/>
                  </a:moveTo>
                  <a:lnTo>
                    <a:pt x="775091" y="0"/>
                  </a:lnTo>
                  <a:cubicBezTo>
                    <a:pt x="806021" y="0"/>
                    <a:pt x="835683" y="12287"/>
                    <a:pt x="857553" y="34157"/>
                  </a:cubicBezTo>
                  <a:cubicBezTo>
                    <a:pt x="879424" y="56027"/>
                    <a:pt x="891710" y="85690"/>
                    <a:pt x="891710" y="116619"/>
                  </a:cubicBezTo>
                  <a:lnTo>
                    <a:pt x="891710" y="139478"/>
                  </a:lnTo>
                  <a:cubicBezTo>
                    <a:pt x="891710" y="170407"/>
                    <a:pt x="879424" y="200069"/>
                    <a:pt x="857553" y="221940"/>
                  </a:cubicBezTo>
                  <a:cubicBezTo>
                    <a:pt x="835683" y="243810"/>
                    <a:pt x="806021" y="256097"/>
                    <a:pt x="775091" y="256097"/>
                  </a:cubicBezTo>
                  <a:lnTo>
                    <a:pt x="116619" y="256097"/>
                  </a:lnTo>
                  <a:cubicBezTo>
                    <a:pt x="85690" y="256097"/>
                    <a:pt x="56027" y="243810"/>
                    <a:pt x="34157" y="221940"/>
                  </a:cubicBezTo>
                  <a:cubicBezTo>
                    <a:pt x="12287" y="200069"/>
                    <a:pt x="0" y="170407"/>
                    <a:pt x="0" y="139478"/>
                  </a:cubicBezTo>
                  <a:lnTo>
                    <a:pt x="0" y="116619"/>
                  </a:lnTo>
                  <a:cubicBezTo>
                    <a:pt x="0" y="85690"/>
                    <a:pt x="12287" y="56027"/>
                    <a:pt x="34157" y="34157"/>
                  </a:cubicBezTo>
                  <a:cubicBezTo>
                    <a:pt x="56027" y="12287"/>
                    <a:pt x="85690" y="0"/>
                    <a:pt x="116619" y="0"/>
                  </a:cubicBezTo>
                  <a:close/>
                </a:path>
              </a:pathLst>
            </a:custGeom>
            <a:solidFill>
              <a:srgbClr val="E4E1DD"/>
            </a:solidFill>
            <a:ln w="9525" cap="rnd">
              <a:solidFill>
                <a:srgbClr val="151213"/>
              </a:solidFill>
              <a:prstDash val="solid"/>
              <a:round/>
            </a:ln>
          </p:spPr>
          <p:txBody>
            <a:bodyPr/>
            <a:p/>
          </p:txBody>
        </p:sp>
        <p:sp>
          <p:nvSpPr>
            <p:cNvPr name="TextBox 17" id="17"/>
            <p:cNvSpPr txBox="true"/>
            <p:nvPr/>
          </p:nvSpPr>
          <p:spPr>
            <a:xfrm>
              <a:off x="0" y="-38100"/>
              <a:ext cx="891710"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ON A BUDGET LAPTOP</a:t>
              </a:r>
            </a:p>
          </p:txBody>
        </p:sp>
      </p:grpSp>
      <p:grpSp>
        <p:nvGrpSpPr>
          <p:cNvPr name="Group 18" id="18"/>
          <p:cNvGrpSpPr/>
          <p:nvPr/>
        </p:nvGrpSpPr>
        <p:grpSpPr>
          <a:xfrm rot="0">
            <a:off x="12104020" y="2124892"/>
            <a:ext cx="2095889" cy="972367"/>
            <a:chOff x="0" y="0"/>
            <a:chExt cx="552004" cy="256097"/>
          </a:xfrm>
        </p:grpSpPr>
        <p:sp>
          <p:nvSpPr>
            <p:cNvPr name="Freeform 19" id="19"/>
            <p:cNvSpPr/>
            <p:nvPr/>
          </p:nvSpPr>
          <p:spPr>
            <a:xfrm flipH="false" flipV="false" rot="0">
              <a:off x="0" y="0"/>
              <a:ext cx="552004" cy="256097"/>
            </a:xfrm>
            <a:custGeom>
              <a:avLst/>
              <a:gdLst/>
              <a:ahLst/>
              <a:cxnLst/>
              <a:rect r="r" b="b" t="t" l="l"/>
              <a:pathLst>
                <a:path h="256097" w="552004">
                  <a:moveTo>
                    <a:pt x="128048" y="0"/>
                  </a:moveTo>
                  <a:lnTo>
                    <a:pt x="423956" y="0"/>
                  </a:lnTo>
                  <a:cubicBezTo>
                    <a:pt x="457916" y="0"/>
                    <a:pt x="490486" y="13491"/>
                    <a:pt x="514499" y="37504"/>
                  </a:cubicBezTo>
                  <a:cubicBezTo>
                    <a:pt x="538513" y="61518"/>
                    <a:pt x="552004" y="94088"/>
                    <a:pt x="552004" y="128048"/>
                  </a:cubicBezTo>
                  <a:lnTo>
                    <a:pt x="552004" y="128048"/>
                  </a:lnTo>
                  <a:cubicBezTo>
                    <a:pt x="552004" y="198767"/>
                    <a:pt x="494675" y="256097"/>
                    <a:pt x="423956"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20" id="20"/>
            <p:cNvSpPr txBox="true"/>
            <p:nvPr/>
          </p:nvSpPr>
          <p:spPr>
            <a:xfrm>
              <a:off x="0" y="-38100"/>
              <a:ext cx="552004"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OFFLINE</a:t>
              </a:r>
            </a:p>
          </p:txBody>
        </p:sp>
      </p:grpSp>
      <p:sp>
        <p:nvSpPr>
          <p:cNvPr name="TextBox 21" id="21"/>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maynards</a:t>
            </a:r>
          </a:p>
        </p:txBody>
      </p:sp>
      <p:sp>
        <p:nvSpPr>
          <p:cNvPr name="TextBox 22" id="22"/>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IQOO HACKATHON 2026</a:t>
            </a:r>
          </a:p>
        </p:txBody>
      </p:sp>
      <p:sp>
        <p:nvSpPr>
          <p:cNvPr name="AutoShape 23" id="23"/>
          <p:cNvSpPr/>
          <p:nvPr/>
        </p:nvSpPr>
        <p:spPr>
          <a:xfrm>
            <a:off x="-882858" y="492020"/>
            <a:ext cx="20053717" cy="0"/>
          </a:xfrm>
          <a:prstGeom prst="line">
            <a:avLst/>
          </a:prstGeom>
          <a:ln cap="flat" w="9525">
            <a:solidFill>
              <a:srgbClr val="E4E1DD"/>
            </a:solidFill>
            <a:prstDash val="solid"/>
            <a:headEnd type="none" len="sm" w="sm"/>
            <a:tailEnd type="none" len="sm" w="sm"/>
          </a:ln>
        </p:spPr>
        <p:txBody>
          <a:bodyPr/>
          <a:p/>
        </p:txBody>
      </p:sp>
      <p:sp>
        <p:nvSpPr>
          <p:cNvPr name="AutoShape 24" id="24"/>
          <p:cNvSpPr/>
          <p:nvPr/>
        </p:nvSpPr>
        <p:spPr>
          <a:xfrm>
            <a:off x="-882858" y="9818891"/>
            <a:ext cx="20053717" cy="0"/>
          </a:xfrm>
          <a:prstGeom prst="line">
            <a:avLst/>
          </a:prstGeom>
          <a:ln cap="flat" w="9525">
            <a:solidFill>
              <a:srgbClr val="E4E1DD"/>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TextBox 2" id="2"/>
          <p:cNvSpPr txBox="true"/>
          <p:nvPr/>
        </p:nvSpPr>
        <p:spPr>
          <a:xfrm rot="0">
            <a:off x="406295" y="1056137"/>
            <a:ext cx="16853005" cy="2670176"/>
          </a:xfrm>
          <a:prstGeom prst="rect">
            <a:avLst/>
          </a:prstGeom>
        </p:spPr>
        <p:txBody>
          <a:bodyPr anchor="t" rtlCol="false" tIns="0" lIns="0" bIns="0" rIns="0">
            <a:spAutoFit/>
          </a:bodyPr>
          <a:lstStyle/>
          <a:p>
            <a:pPr algn="l">
              <a:lnSpc>
                <a:spcPts val="20000"/>
              </a:lnSpc>
            </a:pPr>
            <a:r>
              <a:rPr lang="en-US" sz="20000" spc="-440">
                <a:solidFill>
                  <a:srgbClr val="151213"/>
                </a:solidFill>
                <a:latin typeface="Anton"/>
                <a:ea typeface="Anton"/>
                <a:cs typeface="Anton"/>
                <a:sym typeface="Anton"/>
              </a:rPr>
              <a:t>PROBLEM</a:t>
            </a:r>
          </a:p>
        </p:txBody>
      </p:sp>
      <p:sp>
        <p:nvSpPr>
          <p:cNvPr name="TextBox 3" id="3"/>
          <p:cNvSpPr txBox="true"/>
          <p:nvPr/>
        </p:nvSpPr>
        <p:spPr>
          <a:xfrm rot="0">
            <a:off x="10323741" y="5089525"/>
            <a:ext cx="7480203" cy="41370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The model decides the answer, and memory decides the model. A 30B coding model needs about 18.6 GB of memory to run. A budget laptop has around 4 GB free once a browser and an editor are open. A phone has 2 to 10 GB. Neither can hold it, so you run a small model instead and you get answers you cannot use.</a:t>
            </a:r>
          </a:p>
          <a:p>
            <a:pPr algn="just">
              <a:lnSpc>
                <a:spcPts val="2749"/>
              </a:lnSpc>
            </a:pPr>
            <a:r>
              <a:rPr lang="en-US" sz="2499" spc="-137">
                <a:solidFill>
                  <a:srgbClr val="151213"/>
                </a:solidFill>
                <a:latin typeface="Public Sans"/>
                <a:ea typeface="Public Sans"/>
                <a:cs typeface="Public Sans"/>
                <a:sym typeface="Public Sans"/>
              </a:rPr>
              <a:t>We measured exactly what that costs. The same 15 coding problems, asked of each setup, scored by running every answer against its own tests. laptop alone, 0.6B passed 2 of 15; laptop alone, 1.7B passed 7 of 15; laptop + laptop helper, 1.7B (split) passed 7 of 15.</a:t>
            </a:r>
          </a:p>
          <a:p>
            <a:pPr algn="just">
              <a:lnSpc>
                <a:spcPts val="2749"/>
              </a:lnSpc>
            </a:pPr>
            <a:r>
              <a:rPr lang="en-US" sz="2499" spc="-137">
                <a:solidFill>
                  <a:srgbClr val="151213"/>
                </a:solidFill>
                <a:latin typeface="Public Sans"/>
                <a:ea typeface="Public Sans"/>
                <a:cs typeface="Public Sans"/>
                <a:sym typeface="Public Sans"/>
              </a:rPr>
              <a:t>Buying a machine that can hold the big model costs more than the laptop. The devices that could hold it together are already on the table.</a:t>
            </a:r>
          </a:p>
        </p:txBody>
      </p:sp>
      <p:sp>
        <p:nvSpPr>
          <p:cNvPr name="TextBox 10" id="10"/>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11" id="11"/>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12" id="12"/>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13" id="13"/>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14" id="14"/>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15" id="15"/>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pic>
        <p:nvPicPr>
          <p:cNvPr id="16" name="Picture 15" descr="fits.png"/>
          <p:cNvPicPr>
            <a:picLocks noChangeAspect="1"/>
          </p:cNvPicPr>
          <p:nvPr/>
        </p:nvPicPr>
        <p:blipFill>
          <a:blip r:embed="rId5"/>
          <a:stretch>
            <a:fillRect/>
          </a:stretch>
        </p:blipFill>
        <p:spPr>
          <a:xfrm>
            <a:off x="402336" y="4892040"/>
            <a:ext cx="9326880" cy="4725619"/>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grpSp>
        <p:nvGrpSpPr>
          <p:cNvPr name="Group 5" id="5"/>
          <p:cNvGrpSpPr/>
          <p:nvPr/>
        </p:nvGrpSpPr>
        <p:grpSpPr>
          <a:xfrm rot="0">
            <a:off x="472970" y="5942783"/>
            <a:ext cx="3389640" cy="972367"/>
            <a:chOff x="0" y="0"/>
            <a:chExt cx="892745" cy="256097"/>
          </a:xfrm>
        </p:grpSpPr>
        <p:sp>
          <p:nvSpPr>
            <p:cNvPr name="Freeform 6" id="6"/>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7" id="7"/>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ONE ENDPOINT</a:t>
              </a:r>
            </a:p>
          </p:txBody>
        </p:sp>
      </p:grpSp>
      <p:grpSp>
        <p:nvGrpSpPr>
          <p:cNvPr name="Group 8" id="8"/>
          <p:cNvGrpSpPr/>
          <p:nvPr/>
        </p:nvGrpSpPr>
        <p:grpSpPr>
          <a:xfrm rot="0">
            <a:off x="3302360" y="7114358"/>
            <a:ext cx="3389640" cy="972367"/>
            <a:chOff x="0" y="0"/>
            <a:chExt cx="892745" cy="256097"/>
          </a:xfrm>
        </p:grpSpPr>
        <p:sp>
          <p:nvSpPr>
            <p:cNvPr name="Freeform 9" id="9"/>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10" id="10"/>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PLANS THE SPLIT</a:t>
              </a:r>
            </a:p>
          </p:txBody>
        </p:sp>
      </p:grpSp>
      <p:grpSp>
        <p:nvGrpSpPr>
          <p:cNvPr name="Group 11" id="11"/>
          <p:cNvGrpSpPr/>
          <p:nvPr/>
        </p:nvGrpSpPr>
        <p:grpSpPr>
          <a:xfrm rot="0">
            <a:off x="472970" y="8285933"/>
            <a:ext cx="3389640" cy="972367"/>
            <a:chOff x="0" y="0"/>
            <a:chExt cx="892745" cy="256097"/>
          </a:xfrm>
        </p:grpSpPr>
        <p:sp>
          <p:nvSpPr>
            <p:cNvPr name="Freeform 12" id="12"/>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13" id="13"/>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REFUSES BAD DEVICES</a:t>
              </a:r>
            </a:p>
          </p:txBody>
        </p:sp>
      </p:grpSp>
      <p:grpSp>
        <p:nvGrpSpPr>
          <p:cNvPr name="Group 14" id="14"/>
          <p:cNvGrpSpPr/>
          <p:nvPr/>
        </p:nvGrpSpPr>
        <p:grpSpPr>
          <a:xfrm rot="0">
            <a:off x="472970" y="7114358"/>
            <a:ext cx="2611818" cy="972367"/>
            <a:chOff x="0" y="0"/>
            <a:chExt cx="687886" cy="256097"/>
          </a:xfrm>
        </p:grpSpPr>
        <p:sp>
          <p:nvSpPr>
            <p:cNvPr name="Freeform 15" id="15"/>
            <p:cNvSpPr/>
            <p:nvPr/>
          </p:nvSpPr>
          <p:spPr>
            <a:xfrm flipH="false" flipV="false" rot="0">
              <a:off x="0" y="0"/>
              <a:ext cx="687886" cy="256097"/>
            </a:xfrm>
            <a:custGeom>
              <a:avLst/>
              <a:gdLst/>
              <a:ahLst/>
              <a:cxnLst/>
              <a:rect r="r" b="b" t="t" l="l"/>
              <a:pathLst>
                <a:path h="256097" w="687886">
                  <a:moveTo>
                    <a:pt x="128048" y="0"/>
                  </a:moveTo>
                  <a:lnTo>
                    <a:pt x="559838" y="0"/>
                  </a:lnTo>
                  <a:cubicBezTo>
                    <a:pt x="593799" y="0"/>
                    <a:pt x="626368" y="13491"/>
                    <a:pt x="650382" y="37504"/>
                  </a:cubicBezTo>
                  <a:cubicBezTo>
                    <a:pt x="674396" y="61518"/>
                    <a:pt x="687886" y="94088"/>
                    <a:pt x="687886" y="128048"/>
                  </a:cubicBezTo>
                  <a:lnTo>
                    <a:pt x="687886" y="128048"/>
                  </a:lnTo>
                  <a:cubicBezTo>
                    <a:pt x="687886" y="198767"/>
                    <a:pt x="630557" y="256097"/>
                    <a:pt x="559838"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16" id="16"/>
            <p:cNvSpPr txBox="true"/>
            <p:nvPr/>
          </p:nvSpPr>
          <p:spPr>
            <a:xfrm>
              <a:off x="0" y="-38100"/>
              <a:ext cx="687886"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MESH REVIEW · TESTS · DIFF</a:t>
              </a:r>
            </a:p>
          </p:txBody>
        </p:sp>
      </p:grpSp>
      <p:grpSp>
        <p:nvGrpSpPr>
          <p:cNvPr name="Group 17" id="17"/>
          <p:cNvGrpSpPr/>
          <p:nvPr/>
        </p:nvGrpSpPr>
        <p:grpSpPr>
          <a:xfrm rot="0">
            <a:off x="4080181" y="8285933"/>
            <a:ext cx="2611818" cy="972367"/>
            <a:chOff x="0" y="0"/>
            <a:chExt cx="687886" cy="256097"/>
          </a:xfrm>
        </p:grpSpPr>
        <p:sp>
          <p:nvSpPr>
            <p:cNvPr name="Freeform 18" id="18"/>
            <p:cNvSpPr/>
            <p:nvPr/>
          </p:nvSpPr>
          <p:spPr>
            <a:xfrm flipH="false" flipV="false" rot="0">
              <a:off x="0" y="0"/>
              <a:ext cx="687886" cy="256097"/>
            </a:xfrm>
            <a:custGeom>
              <a:avLst/>
              <a:gdLst/>
              <a:ahLst/>
              <a:cxnLst/>
              <a:rect r="r" b="b" t="t" l="l"/>
              <a:pathLst>
                <a:path h="256097" w="687886">
                  <a:moveTo>
                    <a:pt x="128048" y="0"/>
                  </a:moveTo>
                  <a:lnTo>
                    <a:pt x="559838" y="0"/>
                  </a:lnTo>
                  <a:cubicBezTo>
                    <a:pt x="593799" y="0"/>
                    <a:pt x="626368" y="13491"/>
                    <a:pt x="650382" y="37504"/>
                  </a:cubicBezTo>
                  <a:cubicBezTo>
                    <a:pt x="674396" y="61518"/>
                    <a:pt x="687886" y="94088"/>
                    <a:pt x="687886" y="128048"/>
                  </a:cubicBezTo>
                  <a:lnTo>
                    <a:pt x="687886" y="128048"/>
                  </a:lnTo>
                  <a:cubicBezTo>
                    <a:pt x="687886" y="198767"/>
                    <a:pt x="630557" y="256097"/>
                    <a:pt x="559838"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19" id="19"/>
            <p:cNvSpPr txBox="true"/>
            <p:nvPr/>
          </p:nvSpPr>
          <p:spPr>
            <a:xfrm>
              <a:off x="0" y="-38100"/>
              <a:ext cx="687886"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GIT PRE-COMMIT HOOK</a:t>
              </a:r>
            </a:p>
          </p:txBody>
        </p:sp>
      </p:grpSp>
      <p:grpSp>
        <p:nvGrpSpPr>
          <p:cNvPr name="Group 20" id="20"/>
          <p:cNvGrpSpPr/>
          <p:nvPr/>
        </p:nvGrpSpPr>
        <p:grpSpPr>
          <a:xfrm rot="0">
            <a:off x="4080181" y="5942783"/>
            <a:ext cx="2611818" cy="972367"/>
            <a:chOff x="0" y="0"/>
            <a:chExt cx="687886" cy="256097"/>
          </a:xfrm>
        </p:grpSpPr>
        <p:sp>
          <p:nvSpPr>
            <p:cNvPr name="Freeform 21" id="21"/>
            <p:cNvSpPr/>
            <p:nvPr/>
          </p:nvSpPr>
          <p:spPr>
            <a:xfrm flipH="false" flipV="false" rot="0">
              <a:off x="0" y="0"/>
              <a:ext cx="687886" cy="256097"/>
            </a:xfrm>
            <a:custGeom>
              <a:avLst/>
              <a:gdLst/>
              <a:ahLst/>
              <a:cxnLst/>
              <a:rect r="r" b="b" t="t" l="l"/>
              <a:pathLst>
                <a:path h="256097" w="687886">
                  <a:moveTo>
                    <a:pt x="128048" y="0"/>
                  </a:moveTo>
                  <a:lnTo>
                    <a:pt x="559838" y="0"/>
                  </a:lnTo>
                  <a:cubicBezTo>
                    <a:pt x="593799" y="0"/>
                    <a:pt x="626368" y="13491"/>
                    <a:pt x="650382" y="37504"/>
                  </a:cubicBezTo>
                  <a:cubicBezTo>
                    <a:pt x="674396" y="61518"/>
                    <a:pt x="687886" y="94088"/>
                    <a:pt x="687886" y="128048"/>
                  </a:cubicBezTo>
                  <a:lnTo>
                    <a:pt x="687886" y="128048"/>
                  </a:lnTo>
                  <a:cubicBezTo>
                    <a:pt x="687886" y="198767"/>
                    <a:pt x="630557" y="256097"/>
                    <a:pt x="559838"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22" id="22"/>
            <p:cNvSpPr txBox="true"/>
            <p:nvPr/>
          </p:nvSpPr>
          <p:spPr>
            <a:xfrm>
              <a:off x="0" y="-38100"/>
              <a:ext cx="687886"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NOTHING LEAVES</a:t>
              </a:r>
            </a:p>
          </p:txBody>
        </p:sp>
      </p:grpSp>
      <p:sp>
        <p:nvSpPr>
          <p:cNvPr name="AutoShape 23" id="23"/>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24" id="24"/>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
        <p:nvSpPr>
          <p:cNvPr name="TextBox 26" id="26"/>
          <p:cNvSpPr txBox="true"/>
          <p:nvPr/>
        </p:nvSpPr>
        <p:spPr>
          <a:xfrm rot="0">
            <a:off x="472970" y="1057274"/>
            <a:ext cx="10213063" cy="2670176"/>
          </a:xfrm>
          <a:prstGeom prst="rect">
            <a:avLst/>
          </a:prstGeom>
        </p:spPr>
        <p:txBody>
          <a:bodyPr anchor="t" rtlCol="false" tIns="0" lIns="0" bIns="0" rIns="0">
            <a:spAutoFit/>
          </a:bodyPr>
          <a:lstStyle/>
          <a:p>
            <a:pPr algn="l">
              <a:lnSpc>
                <a:spcPts val="20000"/>
              </a:lnSpc>
            </a:pPr>
            <a:r>
              <a:rPr lang="en-US" sz="20000" spc="-440">
                <a:solidFill>
                  <a:srgbClr val="151213"/>
                </a:solidFill>
                <a:latin typeface="Anton"/>
                <a:ea typeface="Anton"/>
                <a:cs typeface="Anton"/>
                <a:sym typeface="Anton"/>
              </a:rPr>
              <a:t>THE MESH</a:t>
            </a:r>
          </a:p>
        </p:txBody>
      </p:sp>
      <p:sp>
        <p:nvSpPr>
          <p:cNvPr name="TextBox 27" id="27"/>
          <p:cNvSpPr txBox="true"/>
          <p:nvPr/>
        </p:nvSpPr>
        <p:spPr>
          <a:xfrm rot="0">
            <a:off x="10779052" y="1038225"/>
            <a:ext cx="7024893" cy="24225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MeshAI pools the free memory of the devices you already own. Phones and laptop join over a USB cable, one device plans which layers sit where, and the model runs across all of them behind a single OpenAI compatible endpoint, so the tools you already use do not change.</a:t>
            </a:r>
          </a:p>
          <a:p>
            <a:pPr algn="just">
              <a:lnSpc>
                <a:spcPts val="2749"/>
              </a:lnSpc>
            </a:pPr>
            <a:r>
              <a:rPr lang="en-US" sz="2499" spc="-137">
                <a:solidFill>
                  <a:srgbClr val="151213"/>
                </a:solidFill>
                <a:latin typeface="Public Sans"/>
                <a:ea typeface="Public Sans"/>
                <a:cs typeface="Public Sans"/>
                <a:sym typeface="Public Sans"/>
              </a:rPr>
              <a:t>Only a few kilobytes cross the link for each word, because the embeddings and the output head stay on the host.</a:t>
            </a:r>
          </a:p>
          <a:p>
            <a:pPr algn="just">
              <a:lnSpc>
                <a:spcPts val="2749"/>
              </a:lnSpc>
            </a:pPr>
            <a:r>
              <a:rPr lang="en-US" sz="2499" spc="-137">
                <a:solidFill>
                  <a:srgbClr val="151213"/>
                </a:solidFill>
                <a:latin typeface="Public Sans"/>
                <a:ea typeface="Public Sans"/>
                <a:cs typeface="Public Sans"/>
                <a:sym typeface="Public Sans"/>
              </a:rPr>
              <a:t>On top of it sits the developer tool: mesh review for a file, mesh tests to write tests for one, mesh diff for what you are about to commit, and a git hook that reviews every commit before it lands. All of it against your own devices.</a:t>
            </a:r>
          </a:p>
        </p:txBody>
      </p:sp>
      <p:sp>
        <p:nvSpPr>
          <p:cNvPr name="TextBox 28" id="28"/>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29" id="29"/>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30" id="30"/>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31" id="31"/>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pic>
        <p:nvPicPr>
          <p:cNvPr id="32" name="Picture 31" descr="app-host.png"/>
          <p:cNvPicPr>
            <a:picLocks noChangeAspect="1"/>
          </p:cNvPicPr>
          <p:nvPr/>
        </p:nvPicPr>
        <p:blipFill>
          <a:blip r:embed="rId5"/>
          <a:stretch>
            <a:fillRect/>
          </a:stretch>
        </p:blipFill>
        <p:spPr>
          <a:xfrm>
            <a:off x="14538960" y="3931920"/>
            <a:ext cx="2843784" cy="5055616"/>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5.xml><?xml version="1.0" encoding="utf-8"?>
<p:sld xmlns:p="http://schemas.openxmlformats.org/presentationml/2006/main" xmlns:a="http://schemas.openxmlformats.org/drawingml/2006/main">
  <p:cSld>
    <p:bg>
      <p:bgPr>
        <a:solidFill>
          <a:srgbClr val="E4E1DD"/>
        </a:solidFill>
      </p:bgPr>
    </p:bg>
    <p:spTree>
      <p:nvGrpSpPr>
        <p:cNvPr id="1" name=""/>
        <p:cNvGrpSpPr/>
        <p:nvPr/>
      </p:nvGrpSpPr>
      <p:grpSpPr>
        <a:xfrm>
          <a:off x="0" y="0"/>
          <a:ext cx="0" cy="0"/>
          <a:chOff x="0" y="0"/>
          <a:chExt cx="0" cy="0"/>
        </a:xfrm>
      </p:grpSpPr>
      <p:sp>
        <p:nvSpPr>
          <p:cNvPr name="TextBox 2" id="2"/>
          <p:cNvSpPr txBox="true"/>
          <p:nvPr/>
        </p:nvSpPr>
        <p:spPr>
          <a:xfrm rot="0">
            <a:off x="475488" y="1060704"/>
            <a:ext cx="16852392" cy="2670048"/>
          </a:xfrm>
          <a:prstGeom prst="rect">
            <a:avLst/>
          </a:prstGeom>
        </p:spPr>
        <p:txBody>
          <a:bodyPr anchor="t" rtlCol="false" tIns="0" lIns="0" bIns="0" rIns="0" wrap="square">
            <a:spAutoFit/>
          </a:bodyPr>
          <a:lstStyle/>
          <a:p>
            <a:pPr algn="l">
              <a:lnSpc>
                <a:spcPts val="20000"/>
              </a:lnSpc>
            </a:pPr>
            <a:r>
              <a:rPr lang="en-US" sz="20000" spc="-440">
                <a:solidFill>
                  <a:srgbClr val="151213"/>
                </a:solidFill>
                <a:latin typeface="Anton"/>
                <a:ea typeface="Anton"/>
                <a:cs typeface="Anton"/>
                <a:sym typeface="Anton"/>
              </a:rPr>
              <a:t>WHY NOT BEFORE?</a:t>
            </a:r>
          </a:p>
        </p:txBody>
      </p:sp>
      <p:sp>
        <p:nvSpPr>
          <p:cNvPr name="TextBox 3" id="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4" id="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5" id="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6" id="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7" id="7"/>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8" id="8"/>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
        <p:nvSpPr>
          <p:cNvPr name="TextBox 3" id="3"/>
          <p:cNvSpPr txBox="true"/>
          <p:nvPr/>
        </p:nvSpPr>
        <p:spPr>
          <a:xfrm rot="0">
            <a:off x="475488" y="4023360"/>
            <a:ext cx="17327880" cy="5486400"/>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Splitting a model across machines is not new. Doing it across phones is, and the reasons are physical rather than clever.</a:t>
            </a:r>
          </a:p>
          <a:p>
            <a:pPr algn="just">
              <a:lnSpc>
                <a:spcPts val="2749"/>
              </a:lnSpc>
            </a:pPr>
            <a:r>
              <a:rPr lang="en-US" sz="2499" spc="-137">
                <a:solidFill>
                  <a:srgbClr val="151213"/>
                </a:solidFill>
                <a:latin typeface="Public Sans"/>
                <a:ea typeface="Public Sans"/>
                <a:cs typeface="Public Sans"/>
                <a:sym typeface="Public Sans"/>
              </a:rPr>
              <a:t>Generating a word reads the whole model out of memory, so a device that holds part of the model is asked for it once per word. That makes the link, not the chip, the thing that decides whether a split is usable. Venue Wi-Fi measured 266 to 483 ms round trip and the planner refuses it. A USB cable measures 2 to 3 ms and it works.</a:t>
            </a:r>
          </a:p>
          <a:p>
            <a:pPr algn="just">
              <a:lnSpc>
                <a:spcPts val="2749"/>
              </a:lnSpc>
            </a:pPr>
            <a:r>
              <a:rPr lang="en-US" sz="2499" spc="-137">
                <a:solidFill>
                  <a:srgbClr val="151213"/>
                </a:solidFill>
                <a:latin typeface="Public Sans"/>
                <a:ea typeface="Public Sans"/>
                <a:cs typeface="Public Sans"/>
                <a:sym typeface="Public Sans"/>
              </a:rPr>
              <a:t>Loading was the second wall. The first 30B split took 517 seconds, because the engine read the file in scattered pieces while pushing layers out. Reading it once, front to back, brought that to 70.</a:t>
            </a:r>
          </a:p>
          <a:p>
            <a:pPr algn="just">
              <a:lnSpc>
                <a:spcPts val="2749"/>
              </a:lnSpc>
            </a:pPr>
            <a:r>
              <a:rPr lang="en-US" sz="2499" spc="-137">
                <a:solidFill>
                  <a:srgbClr val="151213"/>
                </a:solidFill>
                <a:latin typeface="Public Sans"/>
                <a:ea typeface="Public Sans"/>
                <a:cs typeface="Public Sans"/>
                <a:sym typeface="Public Sans"/>
              </a:rPr>
              <a:t>The research agrees on where the line falls. Petals, the only peer reviewed system to do this at scale, measured 0.83 tokens per second across two continents. A split is worth it on a link you own and worthless on one you do not, which is exactly where we drew it.</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6.xml><?xml version="1.0" encoding="utf-8"?>
<p:sld xmlns:p="http://schemas.openxmlformats.org/presentationml/2006/main" xmlns:a="http://schemas.openxmlformats.org/drawingml/2006/main">
  <p:cSld>
    <p:bg>
      <p:bgPr>
        <a:solidFill>
          <a:srgbClr val="E4E1DD"/>
        </a:solidFill>
      </p:bgPr>
    </p:bg>
    <p:spTree>
      <p:nvGrpSpPr>
        <p:cNvPr id="1" name=""/>
        <p:cNvGrpSpPr/>
        <p:nvPr/>
      </p:nvGrpSpPr>
      <p:grpSpPr>
        <a:xfrm>
          <a:off x="0" y="0"/>
          <a:ext cx="0" cy="0"/>
          <a:chOff x="0" y="0"/>
          <a:chExt cx="0" cy="0"/>
        </a:xfrm>
      </p:grpSpPr>
      <p:sp>
        <p:nvSpPr>
          <p:cNvPr name="TextBox 2" id="2"/>
          <p:cNvSpPr txBox="true"/>
          <p:nvPr/>
        </p:nvSpPr>
        <p:spPr>
          <a:xfrm rot="0">
            <a:off x="475488" y="1060704"/>
            <a:ext cx="16852392" cy="2670048"/>
          </a:xfrm>
          <a:prstGeom prst="rect">
            <a:avLst/>
          </a:prstGeom>
        </p:spPr>
        <p:txBody>
          <a:bodyPr anchor="t" rtlCol="false" tIns="0" lIns="0" bIns="0" rIns="0" wrap="square">
            <a:spAutoFit/>
          </a:bodyPr>
          <a:lstStyle/>
          <a:p>
            <a:pPr algn="l">
              <a:lnSpc>
                <a:spcPts val="4979"/>
              </a:lnSpc>
            </a:pPr>
            <a:r>
              <a:rPr lang="en-US" sz="4979" spc="-109">
                <a:solidFill>
                  <a:srgbClr val="151213"/>
                </a:solidFill>
                <a:latin typeface="Anton"/>
                <a:ea typeface="Anton"/>
                <a:cs typeface="Anton"/>
                <a:sym typeface="Anton"/>
              </a:rPr>
              <a:t>WHAT YOU DO WITH IT</a:t>
            </a:r>
          </a:p>
        </p:txBody>
      </p:sp>
      <p:sp>
        <p:nvSpPr>
          <p:cNvPr name="TextBox 3" id="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4" id="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5" id="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6" id="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7" id="7"/>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8" id="8"/>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
        <p:nvSpPr>
          <p:cNvPr name="TextBox 3" id="3"/>
          <p:cNvSpPr txBox="true"/>
          <p:nvPr/>
        </p:nvSpPr>
        <p:spPr>
          <a:xfrm rot="0">
            <a:off x="475488" y="4023360"/>
            <a:ext cx="17327880" cy="5486400"/>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You are about to commit. You tap one button on your phone.</a:t>
            </a:r>
          </a:p>
          <a:p>
            <a:pPr algn="just">
              <a:lnSpc>
                <a:spcPts val="2749"/>
              </a:lnSpc>
            </a:pPr>
            <a:r>
              <a:rPr lang="en-US" sz="2499" spc="-137">
                <a:solidFill>
                  <a:srgbClr val="151213"/>
                </a:solidFill>
                <a:latin typeface="Public Sans"/>
                <a:ea typeface="Public Sans"/>
                <a:cs typeface="Public Sans"/>
                <a:sym typeface="Public Sans"/>
              </a:rPr>
              <a:t>The phone asks your laptop what you have changed and not committed. The laptop answers over the cable with the diff. A 30B coding model running across the two phones and the laptop reviews it, and the review appears on the phone. No internet, no account, no API bill, and the code never left the desk.</a:t>
            </a:r>
          </a:p>
          <a:p>
            <a:pPr algn="just">
              <a:lnSpc>
                <a:spcPts val="2749"/>
              </a:lnSpc>
            </a:pPr>
            <a:r>
              <a:rPr lang="en-US" sz="2499" spc="-137">
                <a:solidFill>
                  <a:srgbClr val="151213"/>
                </a:solidFill>
                <a:latin typeface="Public Sans"/>
                <a:ea typeface="Public Sans"/>
                <a:cs typeface="Public Sans"/>
                <a:sym typeface="Public Sans"/>
              </a:rPr>
              <a:t>The same review runs as a git pre-commit hook, so every commit is read before it lands, and as mesh review on a file, or mesh tests to write the tests for one. One command to install, and it costs nothing on the ten thousandth run.</a:t>
            </a:r>
          </a:p>
        </p:txBody>
      </p:sp>
      <p:pic xmlns:r="http://schemas.openxmlformats.org/officeDocument/2006/relationships">
        <p:nvPicPr>
          <p:cNvPr id="9" name="Picture 8" descr="flow.png"/>
          <p:cNvPicPr>
            <a:picLocks noChangeAspect="1"/>
          </p:cNvPicPr>
          <p:nvPr/>
        </p:nvPicPr>
        <p:blipFill>
          <a:blip r:embed="rId2"/>
          <a:stretch>
            <a:fillRect/>
          </a:stretch>
        </p:blipFill>
        <p:spPr>
          <a:xfrm>
            <a:off x="475488" y="6537960"/>
            <a:ext cx="17327880" cy="3009579"/>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7.xml><?xml version="1.0" encoding="utf-8"?>
<p:sld xmlns:p="http://schemas.openxmlformats.org/presentationml/2006/main" xmlns:a="http://schemas.openxmlformats.org/drawingml/2006/main">
  <p:cSld>
    <p:bg>
      <p:bgPr>
        <a:solidFill>
          <a:srgbClr val="E4E1DD"/>
        </a:solidFill>
      </p:bgPr>
    </p:bg>
    <p:spTree>
      <p:nvGrpSpPr>
        <p:cNvPr id="1" name=""/>
        <p:cNvGrpSpPr/>
        <p:nvPr/>
      </p:nvGrpSpPr>
      <p:grpSpPr>
        <a:xfrm>
          <a:off x="0" y="0"/>
          <a:ext cx="0" cy="0"/>
          <a:chOff x="0" y="0"/>
          <a:chExt cx="0" cy="0"/>
        </a:xfrm>
      </p:grpSpPr>
      <p:sp>
        <p:nvSpPr>
          <p:cNvPr name="TextBox 2" id="2"/>
          <p:cNvSpPr txBox="true"/>
          <p:nvPr/>
        </p:nvSpPr>
        <p:spPr>
          <a:xfrm rot="0">
            <a:off x="475488" y="1060704"/>
            <a:ext cx="16852392" cy="2670048"/>
          </a:xfrm>
          <a:prstGeom prst="rect">
            <a:avLst/>
          </a:prstGeom>
        </p:spPr>
        <p:txBody>
          <a:bodyPr anchor="t" rtlCol="false" tIns="0" lIns="0" bIns="0" rIns="0" wrap="square">
            <a:spAutoFit/>
          </a:bodyPr>
          <a:lstStyle/>
          <a:p>
            <a:pPr algn="l">
              <a:lnSpc>
                <a:spcPts val="13342"/>
              </a:lnSpc>
            </a:pPr>
            <a:r>
              <a:rPr lang="en-US" sz="13342" spc="-293">
                <a:solidFill>
                  <a:srgbClr val="151213"/>
                </a:solidFill>
                <a:latin typeface="Anton"/>
                <a:ea typeface="Anton"/>
                <a:cs typeface="Anton"/>
                <a:sym typeface="Anton"/>
              </a:rPr>
              <a:t>HOW IT WORKS</a:t>
            </a:r>
          </a:p>
        </p:txBody>
      </p:sp>
      <p:sp>
        <p:nvSpPr>
          <p:cNvPr name="TextBox 3" id="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4" id="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5" id="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6" id="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7" id="7"/>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8" id="8"/>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
        <p:nvSpPr>
          <p:cNvPr name="TextBox 3" id="3"/>
          <p:cNvSpPr txBox="true"/>
          <p:nvPr/>
        </p:nvSpPr>
        <p:spPr>
          <a:xfrm rot="0">
            <a:off x="475488" y="4023360"/>
            <a:ext cx="17327880" cy="2377440"/>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One device is the host. It reads every device's free memory, heat, battery and round trip time, then gives each one an unbroken run of layers it can actually hold, largest first. The embeddings and the output head stay on the host.</a:t>
            </a:r>
          </a:p>
          <a:p>
            <a:pPr algn="just">
              <a:lnSpc>
                <a:spcPts val="2749"/>
              </a:lnSpc>
            </a:pPr>
            <a:r>
              <a:rPr lang="en-US" sz="2499" spc="-137">
                <a:solidFill>
                  <a:srgbClr val="151213"/>
                </a:solidFill>
                <a:latin typeface="Public Sans"/>
                <a:ea typeface="Public Sans"/>
                <a:cs typeface="Public Sans"/>
                <a:sym typeface="Public Sans"/>
              </a:rPr>
              <a:t>Measured on our own hardware: laptop layers 0 to 22, one phone 23 to 42, the other 43 to 47. The phones hold 9.6 GB of the 18.6. What crosses the cable is one hidden state per word, about 4 KB, read from the model's own header. The 18.6 GB of weights never move, and the app draws that traffic live while it answers.</a:t>
            </a:r>
          </a:p>
        </p:txBody>
      </p:sp>
      <p:pic xmlns:r="http://schemas.openxmlformats.org/officeDocument/2006/relationships">
        <p:nvPicPr>
          <p:cNvPr id="9" name="Picture 8" descr="split.png"/>
          <p:cNvPicPr>
            <a:picLocks noChangeAspect="1"/>
          </p:cNvPicPr>
          <p:nvPr/>
        </p:nvPicPr>
        <p:blipFill>
          <a:blip r:embed="rId2"/>
          <a:stretch>
            <a:fillRect/>
          </a:stretch>
        </p:blipFill>
        <p:spPr>
          <a:xfrm>
            <a:off x="475488" y="6903720"/>
            <a:ext cx="17327880" cy="2735981"/>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8.xml><?xml version="1.0" encoding="utf-8"?>
<p:sld xmlns:p="http://schemas.openxmlformats.org/presentationml/2006/main" xmlns:a="http://schemas.openxmlformats.org/drawingml/2006/main">
  <p:cSld>
    <p:bg>
      <p:bgPr>
        <a:solidFill>
          <a:srgbClr val="E4E1DD"/>
        </a:solidFill>
      </p:bgPr>
    </p:bg>
    <p:spTree>
      <p:nvGrpSpPr>
        <p:cNvPr id="1" name=""/>
        <p:cNvGrpSpPr/>
        <p:nvPr/>
      </p:nvGrpSpPr>
      <p:grpSpPr>
        <a:xfrm>
          <a:off x="0" y="0"/>
          <a:ext cx="0" cy="0"/>
          <a:chOff x="0" y="0"/>
          <a:chExt cx="0" cy="0"/>
        </a:xfrm>
      </p:grpSpPr>
      <p:sp>
        <p:nvSpPr>
          <p:cNvPr name="TextBox 2" id="2"/>
          <p:cNvSpPr txBox="true"/>
          <p:nvPr/>
        </p:nvSpPr>
        <p:spPr>
          <a:xfrm rot="0">
            <a:off x="475488" y="1060704"/>
            <a:ext cx="16852392" cy="2670048"/>
          </a:xfrm>
          <a:prstGeom prst="rect">
            <a:avLst/>
          </a:prstGeom>
        </p:spPr>
        <p:txBody>
          <a:bodyPr anchor="t" rtlCol="false" tIns="0" lIns="0" bIns="0" rIns="0" wrap="square">
            <a:spAutoFit/>
          </a:bodyPr>
          <a:lstStyle/>
          <a:p>
            <a:pPr algn="l">
              <a:lnSpc>
                <a:spcPts val="6835"/>
              </a:lnSpc>
            </a:pPr>
            <a:r>
              <a:rPr lang="en-US" sz="6835" spc="-150">
                <a:solidFill>
                  <a:srgbClr val="151213"/>
                </a:solidFill>
                <a:latin typeface="Anton"/>
                <a:ea typeface="Anton"/>
                <a:cs typeface="Anton"/>
                <a:sym typeface="Anton"/>
              </a:rPr>
              <a:t>WHAT MADE IT WORK</a:t>
            </a:r>
          </a:p>
        </p:txBody>
      </p:sp>
      <p:sp>
        <p:nvSpPr>
          <p:cNvPr name="TextBox 3" id="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4" id="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5" id="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6" id="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7" id="7"/>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8" id="8"/>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
        <p:nvSpPr>
          <p:cNvPr name="TextBox 3" id="3"/>
          <p:cNvSpPr txBox="true"/>
          <p:nvPr/>
        </p:nvSpPr>
        <p:spPr>
          <a:xfrm rot="0">
            <a:off x="475488" y="4023360"/>
            <a:ext cx="17327880" cy="5486400"/>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Read the file once, front to back: load 517 s to 70 s.</a:t>
            </a:r>
          </a:p>
          <a:p>
            <a:pPr algn="just">
              <a:lnSpc>
                <a:spcPts val="2749"/>
              </a:lnSpc>
            </a:pPr>
            <a:r>
              <a:rPr lang="en-US" sz="2499" spc="-137">
                <a:solidFill>
                  <a:srgbClr val="151213"/>
                </a:solidFill>
                <a:latin typeface="Public Sans"/>
                <a:ea typeface="Public Sans"/>
                <a:cs typeface="Public Sans"/>
                <a:sym typeface="Public Sans"/>
              </a:rPr>
              <a:t>Every phone keeps its own layers on its own storage, so a split it has never used before is ready in 70 s instead of 437.</a:t>
            </a:r>
          </a:p>
          <a:p>
            <a:pPr algn="just">
              <a:lnSpc>
                <a:spcPts val="2749"/>
              </a:lnSpc>
            </a:pPr>
            <a:r>
              <a:rPr lang="en-US" sz="2499" spc="-137">
                <a:solidFill>
                  <a:srgbClr val="151213"/>
                </a:solidFill>
                <a:latin typeface="Public Sans"/>
                <a:ea typeface="Public Sans"/>
                <a:cs typeface="Public Sans"/>
                <a:sym typeface="Public Sans"/>
              </a:rPr>
              <a:t>One conversation slot, so a long chat stops falling out of the cache.</a:t>
            </a:r>
          </a:p>
          <a:p>
            <a:pPr algn="just">
              <a:lnSpc>
                <a:spcPts val="2749"/>
              </a:lnSpc>
            </a:pPr>
            <a:r>
              <a:rPr lang="en-US" sz="2499" spc="-137">
                <a:solidFill>
                  <a:srgbClr val="151213"/>
                </a:solidFill>
                <a:latin typeface="Public Sans"/>
                <a:ea typeface="Public Sans"/>
                <a:cs typeface="Public Sans"/>
                <a:sym typeface="Public Sans"/>
              </a:rPr>
              <a:t>The median of ten round trips, not the average, so one Wi-Fi spike does not evict a healthy phone.</a:t>
            </a:r>
          </a:p>
          <a:p>
            <a:pPr algn="just">
              <a:lnSpc>
                <a:spcPts val="2749"/>
              </a:lnSpc>
            </a:pPr>
            <a:r>
              <a:rPr lang="en-US" sz="2499" spc="-137">
                <a:solidFill>
                  <a:srgbClr val="151213"/>
                </a:solidFill>
                <a:latin typeface="Public Sans"/>
                <a:ea typeface="Public Sans"/>
                <a:cs typeface="Public Sans"/>
                <a:sym typeface="Public Sans"/>
              </a:rPr>
              <a:t>And it refuses. Too slow to reach, too hot, nearly flat, or the model already fits one device: it says which, in a sentence you can read.</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E1DD"/>
        </a:solidFill>
      </p:bgPr>
    </p:bg>
    <p:spTree>
      <p:nvGrpSpPr>
        <p:cNvPr id="1" name=""/>
        <p:cNvGrpSpPr/>
        <p:nvPr/>
      </p:nvGrpSpPr>
      <p:grpSpPr>
        <a:xfrm>
          <a:off x="0" y="0"/>
          <a:ext cx="0" cy="0"/>
          <a:chOff x="0" y="0"/>
          <a:chExt cx="0" cy="0"/>
        </a:xfrm>
      </p:grpSpPr>
      <p:sp>
        <p:nvSpPr>
          <p:cNvPr name="TextBox 3" id="3"/>
          <p:cNvSpPr txBox="true"/>
          <p:nvPr/>
        </p:nvSpPr>
        <p:spPr>
          <a:xfrm rot="-5400000">
            <a:off x="-3197542" y="4502468"/>
            <a:ext cx="8229600" cy="1282065"/>
          </a:xfrm>
          <a:prstGeom prst="rect">
            <a:avLst/>
          </a:prstGeom>
        </p:spPr>
        <p:txBody>
          <a:bodyPr anchor="t" rtlCol="false" tIns="0" lIns="0" bIns="0" rIns="0">
            <a:spAutoFit/>
          </a:bodyPr>
          <a:lstStyle/>
          <a:p>
            <a:pPr algn="l">
              <a:lnSpc>
                <a:spcPts val="9600"/>
              </a:lnSpc>
            </a:pPr>
            <a:r>
              <a:rPr lang="en-US" sz="9600" spc="-211">
                <a:solidFill>
                  <a:srgbClr val="151213"/>
                </a:solidFill>
                <a:latin typeface="Anton"/>
                <a:ea typeface="Anton"/>
                <a:cs typeface="Anton"/>
                <a:sym typeface="Anton"/>
              </a:rPr>
              <a:t>TECH STACK</a:t>
            </a:r>
          </a:p>
        </p:txBody>
      </p:sp>
      <p:sp>
        <p:nvSpPr>
          <p:cNvPr name="TextBox 4" id="4"/>
          <p:cNvSpPr txBox="true"/>
          <p:nvPr/>
        </p:nvSpPr>
        <p:spPr>
          <a:xfrm rot="0">
            <a:off x="11400515" y="904875"/>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Any GGUF model</a:t>
            </a:r>
          </a:p>
        </p:txBody>
      </p:sp>
      <p:sp>
        <p:nvSpPr>
          <p:cNvPr name="TextBox 5" id="5"/>
          <p:cNvSpPr txBox="true"/>
          <p:nvPr/>
        </p:nvSpPr>
        <p:spPr>
          <a:xfrm rot="0">
            <a:off x="11400515" y="1593402"/>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Kotlin, Compose</a:t>
            </a:r>
          </a:p>
        </p:txBody>
      </p:sp>
      <p:sp>
        <p:nvSpPr>
          <p:cNvPr name="TextBox 6" id="6"/>
          <p:cNvSpPr txBox="true"/>
          <p:nvPr/>
        </p:nvSpPr>
        <p:spPr>
          <a:xfrm rot="0">
            <a:off x="11400515" y="2281929"/>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Rust agent</a:t>
            </a:r>
          </a:p>
        </p:txBody>
      </p:sp>
      <p:sp>
        <p:nvSpPr>
          <p:cNvPr name="TextBox 7" id="7"/>
          <p:cNvSpPr txBox="true"/>
          <p:nvPr/>
        </p:nvSpPr>
        <p:spPr>
          <a:xfrm rot="0">
            <a:off x="11400515" y="2970456"/>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llama.cpp, ggml RPC</a:t>
            </a:r>
          </a:p>
        </p:txBody>
      </p:sp>
      <p:sp>
        <p:nvSpPr>
          <p:cNvPr name="TextBox 8" id="8"/>
          <p:cNvSpPr txBox="true"/>
          <p:nvPr/>
        </p:nvSpPr>
        <p:spPr>
          <a:xfrm rot="0">
            <a:off x="11400515" y="3658983"/>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USB tethering</a:t>
            </a:r>
          </a:p>
        </p:txBody>
      </p:sp>
      <p:sp>
        <p:nvSpPr>
          <p:cNvPr name="TextBox 9" id="9"/>
          <p:cNvSpPr txBox="true"/>
          <p:nvPr/>
        </p:nvSpPr>
        <p:spPr>
          <a:xfrm rot="0">
            <a:off x="11400515" y="4347510"/>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OpenAI-style API</a:t>
            </a:r>
          </a:p>
        </p:txBody>
      </p:sp>
      <p:sp>
        <p:nvSpPr>
          <p:cNvPr name="TextBox 10" id="10"/>
          <p:cNvSpPr txBox="true"/>
          <p:nvPr/>
        </p:nvSpPr>
        <p:spPr>
          <a:xfrm rot="0">
            <a:off x="11400515" y="5036037"/>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Android NDK arm64</a:t>
            </a:r>
          </a:p>
        </p:txBody>
      </p:sp>
      <p:sp>
        <p:nvSpPr>
          <p:cNvPr name="TextBox 11" id="11"/>
          <p:cNvSpPr txBox="true"/>
          <p:nvPr/>
        </p:nvSpPr>
        <p:spPr>
          <a:xfrm rot="0">
            <a:off x="11400515" y="5724564"/>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CLI and git hook</a:t>
            </a:r>
          </a:p>
        </p:txBody>
      </p:sp>
      <p:sp>
        <p:nvSpPr>
          <p:cNvPr name="TextBox 12" id="12"/>
          <p:cNvSpPr txBox="true"/>
          <p:nvPr/>
        </p:nvSpPr>
        <p:spPr>
          <a:xfrm rot="0">
            <a:off x="11400515" y="6413091"/>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No cloud at all</a:t>
            </a:r>
          </a:p>
        </p:txBody>
      </p:sp>
      <p:sp>
        <p:nvSpPr>
          <p:cNvPr name="TextBox 14" id="14"/>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15" id="15"/>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16" id="16"/>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17" id="17"/>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18" id="18"/>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19" id="19"/>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3" id="3"/>
          <p:cNvSpPr txBox="true"/>
          <p:nvPr/>
        </p:nvSpPr>
        <p:spPr>
          <a:xfrm rot="0">
            <a:off x="475488" y="1060704"/>
            <a:ext cx="16852392" cy="2670048"/>
          </a:xfrm>
          <a:prstGeom prst="rect">
            <a:avLst/>
          </a:prstGeom>
        </p:spPr>
        <p:txBody>
          <a:bodyPr anchor="t" rtlCol="false" tIns="0" lIns="0" bIns="0" rIns="0" wrap="square">
            <a:spAutoFit/>
          </a:bodyPr>
          <a:lstStyle/>
          <a:p>
            <a:pPr algn="l">
              <a:lnSpc>
                <a:spcPts val="20000"/>
              </a:lnSpc>
            </a:pPr>
            <a:r>
              <a:rPr lang="en-US" sz="20000" spc="-440">
                <a:solidFill>
                  <a:srgbClr val="111111"/>
                </a:solidFill>
                <a:latin typeface="Anton"/>
                <a:ea typeface="Anton"/>
                <a:cs typeface="Anton"/>
                <a:sym typeface="Anton"/>
              </a:rPr>
              <a:t>FEASIBILITY</a:t>
            </a:r>
          </a:p>
        </p:txBody>
      </p:sp>
      <p:grpSp>
        <p:nvGrpSpPr>
          <p:cNvPr name="Group 4" id="4"/>
          <p:cNvGrpSpPr/>
          <p:nvPr/>
        </p:nvGrpSpPr>
        <p:grpSpPr>
          <a:xfrm rot="0">
            <a:off x="11081549" y="7199358"/>
            <a:ext cx="6722396" cy="972367"/>
            <a:chOff x="0" y="0"/>
            <a:chExt cx="1770507" cy="256097"/>
          </a:xfrm>
        </p:grpSpPr>
        <p:sp>
          <p:nvSpPr>
            <p:cNvPr name="Freeform 5" id="5"/>
            <p:cNvSpPr/>
            <p:nvPr/>
          </p:nvSpPr>
          <p:spPr>
            <a:xfrm flipH="false" flipV="false" rot="0">
              <a:off x="0" y="0"/>
              <a:ext cx="1770507" cy="256097"/>
            </a:xfrm>
            <a:custGeom>
              <a:avLst/>
              <a:gdLst/>
              <a:ahLst/>
              <a:cxnLst/>
              <a:rect r="r" b="b" t="t" l="l"/>
              <a:pathLst>
                <a:path h="256097" w="1770507">
                  <a:moveTo>
                    <a:pt x="58735" y="0"/>
                  </a:moveTo>
                  <a:lnTo>
                    <a:pt x="1711773" y="0"/>
                  </a:lnTo>
                  <a:cubicBezTo>
                    <a:pt x="1744211" y="0"/>
                    <a:pt x="1770507" y="26296"/>
                    <a:pt x="1770507" y="58735"/>
                  </a:cubicBezTo>
                  <a:lnTo>
                    <a:pt x="1770507" y="197362"/>
                  </a:lnTo>
                  <a:cubicBezTo>
                    <a:pt x="1770507" y="229800"/>
                    <a:pt x="1744211" y="256097"/>
                    <a:pt x="1711773" y="256097"/>
                  </a:cubicBezTo>
                  <a:lnTo>
                    <a:pt x="58735" y="256097"/>
                  </a:lnTo>
                  <a:cubicBezTo>
                    <a:pt x="26296" y="256097"/>
                    <a:pt x="0" y="229800"/>
                    <a:pt x="0" y="197362"/>
                  </a:cubicBezTo>
                  <a:lnTo>
                    <a:pt x="0" y="58735"/>
                  </a:lnTo>
                  <a:cubicBezTo>
                    <a:pt x="0" y="26296"/>
                    <a:pt x="26296" y="0"/>
                    <a:pt x="58735" y="0"/>
                  </a:cubicBezTo>
                  <a:close/>
                </a:path>
              </a:pathLst>
            </a:custGeom>
            <a:solidFill>
              <a:srgbClr val="E4E1DD"/>
            </a:solidFill>
            <a:ln w="9525" cap="rnd">
              <a:solidFill>
                <a:srgbClr val="151213"/>
              </a:solidFill>
              <a:prstDash val="solid"/>
              <a:round/>
            </a:ln>
          </p:spPr>
          <p:txBody>
            <a:bodyPr/>
            <a:p/>
          </p:txBody>
        </p:sp>
        <p:sp>
          <p:nvSpPr>
            <p:cNvPr name="TextBox 6" id="6"/>
            <p:cNvSpPr txBox="true"/>
            <p:nvPr/>
          </p:nvSpPr>
          <p:spPr>
            <a:xfrm>
              <a:off x="0" y="-38100"/>
              <a:ext cx="1770507" cy="294197"/>
            </a:xfrm>
            <a:prstGeom prst="rect">
              <a:avLst/>
            </a:prstGeom>
          </p:spPr>
          <p:txBody>
            <a:bodyPr anchor="ctr" rtlCol="false" tIns="50800" lIns="50800" bIns="50800" rIns="50800"/>
            <a:lstStyle/>
            <a:p>
              <a:pPr algn="ctr">
                <a:lnSpc>
                  <a:spcPts val="2940"/>
                </a:lnSpc>
              </a:pPr>
              <a:r>
                <a:rPr lang="en-US" sz="2100" spc="-115">
                  <a:solidFill>
                    <a:srgbClr val="111111"/>
                  </a:solidFill>
                  <a:latin typeface="Mukti"/>
                  <a:ea typeface="Mukti"/>
                  <a:cs typeface="Mukti"/>
                  <a:sym typeface="Mukti"/>
                </a:rPr>
                <a:t>IT RUNS TODAY: 30B ACROSS A LAPTOP AND TWO PHONES</a:t>
              </a:r>
            </a:p>
          </p:txBody>
        </p:sp>
      </p:grpSp>
      <p:grpSp>
        <p:nvGrpSpPr>
          <p:cNvPr name="Group 7" id="7"/>
          <p:cNvGrpSpPr/>
          <p:nvPr/>
        </p:nvGrpSpPr>
        <p:grpSpPr>
          <a:xfrm rot="0">
            <a:off x="11081549" y="6112782"/>
            <a:ext cx="6722396" cy="972367"/>
            <a:chOff x="0" y="0"/>
            <a:chExt cx="1770507" cy="256097"/>
          </a:xfrm>
        </p:grpSpPr>
        <p:sp>
          <p:nvSpPr>
            <p:cNvPr name="Freeform 8" id="8"/>
            <p:cNvSpPr/>
            <p:nvPr/>
          </p:nvSpPr>
          <p:spPr>
            <a:xfrm flipH="false" flipV="false" rot="0">
              <a:off x="0" y="0"/>
              <a:ext cx="1770507" cy="256097"/>
            </a:xfrm>
            <a:custGeom>
              <a:avLst/>
              <a:gdLst/>
              <a:ahLst/>
              <a:cxnLst/>
              <a:rect r="r" b="b" t="t" l="l"/>
              <a:pathLst>
                <a:path h="256097" w="1770507">
                  <a:moveTo>
                    <a:pt x="58735" y="0"/>
                  </a:moveTo>
                  <a:lnTo>
                    <a:pt x="1711773" y="0"/>
                  </a:lnTo>
                  <a:cubicBezTo>
                    <a:pt x="1744211" y="0"/>
                    <a:pt x="1770507" y="26296"/>
                    <a:pt x="1770507" y="58735"/>
                  </a:cubicBezTo>
                  <a:lnTo>
                    <a:pt x="1770507" y="197362"/>
                  </a:lnTo>
                  <a:cubicBezTo>
                    <a:pt x="1770507" y="229800"/>
                    <a:pt x="1744211" y="256097"/>
                    <a:pt x="1711773" y="256097"/>
                  </a:cubicBezTo>
                  <a:lnTo>
                    <a:pt x="58735" y="256097"/>
                  </a:lnTo>
                  <a:cubicBezTo>
                    <a:pt x="26296" y="256097"/>
                    <a:pt x="0" y="229800"/>
                    <a:pt x="0" y="197362"/>
                  </a:cubicBezTo>
                  <a:lnTo>
                    <a:pt x="0" y="58735"/>
                  </a:lnTo>
                  <a:cubicBezTo>
                    <a:pt x="0" y="26296"/>
                    <a:pt x="26296" y="0"/>
                    <a:pt x="58735" y="0"/>
                  </a:cubicBezTo>
                  <a:close/>
                </a:path>
              </a:pathLst>
            </a:custGeom>
            <a:solidFill>
              <a:srgbClr val="E4E1DD"/>
            </a:solidFill>
            <a:ln w="9525" cap="rnd">
              <a:solidFill>
                <a:srgbClr val="151213"/>
              </a:solidFill>
              <a:prstDash val="solid"/>
              <a:round/>
            </a:ln>
          </p:spPr>
          <p:txBody>
            <a:bodyPr/>
            <a:p/>
          </p:txBody>
        </p:sp>
        <p:sp>
          <p:nvSpPr>
            <p:cNvPr name="TextBox 9" id="9"/>
            <p:cNvSpPr txBox="true"/>
            <p:nvPr/>
          </p:nvSpPr>
          <p:spPr>
            <a:xfrm>
              <a:off x="0" y="-38100"/>
              <a:ext cx="1770507" cy="294197"/>
            </a:xfrm>
            <a:prstGeom prst="rect">
              <a:avLst/>
            </a:prstGeom>
          </p:spPr>
          <p:txBody>
            <a:bodyPr anchor="ctr" rtlCol="false" tIns="50800" lIns="50800" bIns="50800" rIns="50800"/>
            <a:lstStyle/>
            <a:p>
              <a:pPr algn="ctr">
                <a:lnSpc>
                  <a:spcPts val="2940"/>
                </a:lnSpc>
              </a:pPr>
              <a:r>
                <a:rPr lang="en-US" sz="2100" spc="-115">
                  <a:solidFill>
                    <a:srgbClr val="111111"/>
                  </a:solidFill>
                  <a:latin typeface="Mukti"/>
                  <a:ea typeface="Mukti"/>
                  <a:cs typeface="Mukti"/>
                  <a:sym typeface="Mukti"/>
                </a:rPr>
                <a:t>READY IN 70 SECONDS, 6.6 TOKENS PER SECOND</a:t>
              </a:r>
            </a:p>
          </p:txBody>
        </p:sp>
      </p:grpSp>
      <p:grpSp>
        <p:nvGrpSpPr>
          <p:cNvPr name="Group 10" id="10"/>
          <p:cNvGrpSpPr/>
          <p:nvPr/>
        </p:nvGrpSpPr>
        <p:grpSpPr>
          <a:xfrm rot="0">
            <a:off x="11081549" y="8285933"/>
            <a:ext cx="6722396" cy="972367"/>
            <a:chOff x="0" y="0"/>
            <a:chExt cx="1770507" cy="256097"/>
          </a:xfrm>
        </p:grpSpPr>
        <p:sp>
          <p:nvSpPr>
            <p:cNvPr name="Freeform 11" id="11"/>
            <p:cNvSpPr/>
            <p:nvPr/>
          </p:nvSpPr>
          <p:spPr>
            <a:xfrm flipH="false" flipV="false" rot="0">
              <a:off x="0" y="0"/>
              <a:ext cx="1770507" cy="256097"/>
            </a:xfrm>
            <a:custGeom>
              <a:avLst/>
              <a:gdLst/>
              <a:ahLst/>
              <a:cxnLst/>
              <a:rect r="r" b="b" t="t" l="l"/>
              <a:pathLst>
                <a:path h="256097" w="1770507">
                  <a:moveTo>
                    <a:pt x="58735" y="0"/>
                  </a:moveTo>
                  <a:lnTo>
                    <a:pt x="1711773" y="0"/>
                  </a:lnTo>
                  <a:cubicBezTo>
                    <a:pt x="1744211" y="0"/>
                    <a:pt x="1770507" y="26296"/>
                    <a:pt x="1770507" y="58735"/>
                  </a:cubicBezTo>
                  <a:lnTo>
                    <a:pt x="1770507" y="197362"/>
                  </a:lnTo>
                  <a:cubicBezTo>
                    <a:pt x="1770507" y="229800"/>
                    <a:pt x="1744211" y="256097"/>
                    <a:pt x="1711773" y="256097"/>
                  </a:cubicBezTo>
                  <a:lnTo>
                    <a:pt x="58735" y="256097"/>
                  </a:lnTo>
                  <a:cubicBezTo>
                    <a:pt x="26296" y="256097"/>
                    <a:pt x="0" y="229800"/>
                    <a:pt x="0" y="197362"/>
                  </a:cubicBezTo>
                  <a:lnTo>
                    <a:pt x="0" y="58735"/>
                  </a:lnTo>
                  <a:cubicBezTo>
                    <a:pt x="0" y="26296"/>
                    <a:pt x="26296" y="0"/>
                    <a:pt x="58735" y="0"/>
                  </a:cubicBezTo>
                  <a:close/>
                </a:path>
              </a:pathLst>
            </a:custGeom>
            <a:solidFill>
              <a:srgbClr val="E4E1DD"/>
            </a:solidFill>
            <a:ln w="9525" cap="rnd">
              <a:solidFill>
                <a:srgbClr val="151213"/>
              </a:solidFill>
              <a:prstDash val="solid"/>
              <a:round/>
            </a:ln>
          </p:spPr>
          <p:txBody>
            <a:bodyPr/>
            <a:p/>
          </p:txBody>
        </p:sp>
        <p:sp>
          <p:nvSpPr>
            <p:cNvPr name="TextBox 12" id="12"/>
            <p:cNvSpPr txBox="true"/>
            <p:nvPr/>
          </p:nvSpPr>
          <p:spPr>
            <a:xfrm>
              <a:off x="0" y="-38100"/>
              <a:ext cx="1770507" cy="294197"/>
            </a:xfrm>
            <a:prstGeom prst="rect">
              <a:avLst/>
            </a:prstGeom>
          </p:spPr>
          <p:txBody>
            <a:bodyPr anchor="ctr" rtlCol="false" tIns="50800" lIns="50800" bIns="50800" rIns="50800"/>
            <a:lstStyle/>
            <a:p>
              <a:pPr algn="ctr">
                <a:lnSpc>
                  <a:spcPts val="2940"/>
                </a:lnSpc>
              </a:pPr>
              <a:r>
                <a:rPr lang="en-US" sz="2100" spc="-115">
                  <a:solidFill>
                    <a:srgbClr val="111111"/>
                  </a:solidFill>
                  <a:latin typeface="Mukti"/>
                  <a:ea typeface="Mukti"/>
                  <a:cs typeface="Mukti"/>
                  <a:sym typeface="Mukti"/>
                </a:rPr>
                <a:t>BUILT AND MEASURED INSIDE THE EVENT WINDOW</a:t>
              </a:r>
            </a:p>
          </p:txBody>
        </p:sp>
      </p:grpSp>
      <p:sp>
        <p:nvSpPr>
          <p:cNvPr name="TextBox 13" id="1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11111"/>
                </a:solidFill>
                <a:latin typeface="Mukti"/>
                <a:ea typeface="Mukti"/>
                <a:cs typeface="Mukti"/>
                <a:sym typeface="Mukti"/>
              </a:rPr>
              <a:t>MESH AI</a:t>
            </a:r>
          </a:p>
        </p:txBody>
      </p:sp>
      <p:sp>
        <p:nvSpPr>
          <p:cNvPr name="TextBox 14" id="1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11111"/>
                </a:solidFill>
                <a:latin typeface="Mukti"/>
                <a:ea typeface="Mukti"/>
                <a:cs typeface="Mukti"/>
                <a:sym typeface="Mukti"/>
              </a:rPr>
              <a:t>IQOO HACKATHON 2026 · DEVELOPER TOOLS</a:t>
            </a:r>
          </a:p>
        </p:txBody>
      </p:sp>
      <p:sp>
        <p:nvSpPr>
          <p:cNvPr name="TextBox 15" id="1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11111"/>
                </a:solidFill>
                <a:latin typeface="Mukti"/>
                <a:ea typeface="Mukti"/>
                <a:cs typeface="Mukti"/>
                <a:sym typeface="Mukti"/>
              </a:rPr>
              <a:t>TEAM MAYNARDS</a:t>
            </a:r>
          </a:p>
        </p:txBody>
      </p:sp>
      <p:sp>
        <p:nvSpPr>
          <p:cNvPr name="TextBox 16" id="1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11111"/>
                </a:solidFill>
                <a:latin typeface="Mukti"/>
                <a:ea typeface="Mukti"/>
                <a:cs typeface="Mukti"/>
                <a:sym typeface="Mukti"/>
              </a:rPr>
              <a:t>PRAJWAL GUNNALA · YUVA RAJ AMBATI</a:t>
            </a:r>
          </a:p>
        </p:txBody>
      </p:sp>
      <p:sp>
        <p:nvSpPr>
          <p:cNvPr name="AutoShape 17" id="17"/>
          <p:cNvSpPr/>
          <p:nvPr/>
        </p:nvSpPr>
        <p:spPr>
          <a:xfrm>
            <a:off x="-882858" y="492020"/>
            <a:ext cx="20053717" cy="0"/>
          </a:xfrm>
          <a:prstGeom prst="line">
            <a:avLst/>
          </a:prstGeom>
          <a:ln cap="flat" w="9525">
            <a:solidFill>
              <a:srgbClr val="E4E1DD"/>
            </a:solidFill>
            <a:prstDash val="solid"/>
            <a:headEnd type="none" len="sm" w="sm"/>
            <a:tailEnd type="none" len="sm" w="sm"/>
          </a:ln>
        </p:spPr>
        <p:txBody>
          <a:bodyPr/>
          <a:p/>
        </p:txBody>
      </p:sp>
      <p:sp>
        <p:nvSpPr>
          <p:cNvPr name="AutoShape 18" id="18"/>
          <p:cNvSpPr/>
          <p:nvPr/>
        </p:nvSpPr>
        <p:spPr>
          <a:xfrm>
            <a:off x="-882858" y="9818891"/>
            <a:ext cx="20053717" cy="0"/>
          </a:xfrm>
          <a:prstGeom prst="line">
            <a:avLst/>
          </a:prstGeom>
          <a:ln cap="flat" w="9525">
            <a:solidFill>
              <a:srgbClr val="E4E1DD"/>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1.xml><?xml version="1.0" encoding="utf-8"?>
<p:sld xmlns:p="http://schemas.openxmlformats.org/presentationml/2006/main" xmlns:a="http://schemas.openxmlformats.org/drawingml/2006/main">
  <p:cSld>
    <p:bg>
      <p:bgPr>
        <a:solidFill>
          <a:srgbClr val="EFEFEC"/>
        </a:solidFill>
      </p:bgPr>
    </p:bg>
    <p:spTree>
      <p:nvGrpSpPr>
        <p:cNvPr id="1" name=""/>
        <p:cNvGrpSpPr/>
        <p:nvPr/>
      </p:nvGrpSpPr>
      <p:grpSpPr>
        <a:xfrm>
          <a:off x="0" y="0"/>
          <a:ext cx="0" cy="0"/>
          <a:chOff x="0" y="0"/>
          <a:chExt cx="0" cy="0"/>
        </a:xfrm>
      </p:grpSpPr>
      <p:sp>
        <p:nvSpPr>
          <p:cNvPr name="TextBox 2" id="2"/>
          <p:cNvSpPr txBox="true"/>
          <p:nvPr/>
        </p:nvSpPr>
        <p:spPr>
          <a:xfrm rot="0">
            <a:off x="406295" y="1043590"/>
            <a:ext cx="7579360" cy="2670176"/>
          </a:xfrm>
          <a:prstGeom prst="rect">
            <a:avLst/>
          </a:prstGeom>
        </p:spPr>
        <p:txBody>
          <a:bodyPr anchor="t" rtlCol="false" tIns="0" lIns="0" bIns="0" rIns="0" wrap="square">
            <a:spAutoFit/>
          </a:bodyPr>
          <a:lstStyle/>
          <a:p>
            <a:pPr algn="l">
              <a:lnSpc>
                <a:spcPts val="20000"/>
              </a:lnSpc>
              <a:defRPr sz="15000"/>
            </a:pPr>
            <a:r>
              <a:rPr lang="en-US" sz="15000" spc="-440">
                <a:solidFill>
                  <a:srgbClr val="151213"/>
                </a:solidFill>
                <a:latin typeface="Anton"/>
                <a:ea typeface="Anton"/>
                <a:cs typeface="Anton"/>
                <a:sym typeface="Anton"/>
              </a:rPr>
              <a:t>LIMITS</a:t>
            </a:r>
          </a:p>
        </p:txBody>
      </p:sp>
      <p:sp>
        <p:nvSpPr>
          <p:cNvPr name="TextBox 3" id="3"/>
          <p:cNvSpPr txBox="true"/>
          <p:nvPr/>
        </p:nvSpPr>
        <p:spPr>
          <a:xfrm rot="0">
            <a:off x="9583034" y="2296342"/>
            <a:ext cx="8220910" cy="17367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Every word crosses the link once, so a split is slower than one device that can already hold the model. Our own planner will tell you so and refuse to involve your phone. We split only when the model fits nowhere else.</a:t>
            </a:r>
          </a:p>
        </p:txBody>
      </p:sp>
      <p:grpSp>
        <p:nvGrpSpPr>
          <p:cNvPr name="Group 4" id="4"/>
          <p:cNvGrpSpPr/>
          <p:nvPr/>
        </p:nvGrpSpPr>
        <p:grpSpPr>
          <a:xfrm rot="0">
            <a:off x="9583034" y="1028965"/>
            <a:ext cx="5265746" cy="972367"/>
            <a:chOff x="0" y="0"/>
            <a:chExt cx="1386863" cy="256097"/>
          </a:xfrm>
        </p:grpSpPr>
        <p:sp>
          <p:nvSpPr>
            <p:cNvPr name="Freeform 5" id="5"/>
            <p:cNvSpPr/>
            <p:nvPr/>
          </p:nvSpPr>
          <p:spPr>
            <a:xfrm flipH="false" flipV="false" rot="0">
              <a:off x="0" y="0"/>
              <a:ext cx="1386863" cy="256097"/>
            </a:xfrm>
            <a:custGeom>
              <a:avLst/>
              <a:gdLst/>
              <a:ahLst/>
              <a:cxnLst/>
              <a:rect r="r" b="b" t="t" l="l"/>
              <a:pathLst>
                <a:path h="256097" w="1386863">
                  <a:moveTo>
                    <a:pt x="74982" y="0"/>
                  </a:moveTo>
                  <a:lnTo>
                    <a:pt x="1311881" y="0"/>
                  </a:lnTo>
                  <a:cubicBezTo>
                    <a:pt x="1353292" y="0"/>
                    <a:pt x="1386863" y="33571"/>
                    <a:pt x="1386863" y="74982"/>
                  </a:cubicBezTo>
                  <a:lnTo>
                    <a:pt x="1386863" y="181114"/>
                  </a:lnTo>
                  <a:cubicBezTo>
                    <a:pt x="1386863" y="222526"/>
                    <a:pt x="1353292" y="256097"/>
                    <a:pt x="1311881" y="256097"/>
                  </a:cubicBezTo>
                  <a:lnTo>
                    <a:pt x="74982" y="256097"/>
                  </a:lnTo>
                  <a:cubicBezTo>
                    <a:pt x="33571" y="256097"/>
                    <a:pt x="0" y="222526"/>
                    <a:pt x="0" y="181114"/>
                  </a:cubicBezTo>
                  <a:lnTo>
                    <a:pt x="0" y="74982"/>
                  </a:lnTo>
                  <a:cubicBezTo>
                    <a:pt x="0" y="33571"/>
                    <a:pt x="33571" y="0"/>
                    <a:pt x="74982" y="0"/>
                  </a:cubicBezTo>
                  <a:close/>
                </a:path>
              </a:pathLst>
            </a:custGeom>
            <a:solidFill>
              <a:srgbClr val="E4E1DD"/>
            </a:solidFill>
            <a:ln w="9525" cap="rnd">
              <a:solidFill>
                <a:srgbClr val="151213"/>
              </a:solidFill>
              <a:prstDash val="solid"/>
              <a:round/>
            </a:ln>
          </p:spPr>
          <p:txBody>
            <a:bodyPr/>
            <a:p/>
          </p:txBody>
        </p:sp>
        <p:sp>
          <p:nvSpPr>
            <p:cNvPr name="TextBox 6" id="6"/>
            <p:cNvSpPr txBox="true"/>
            <p:nvPr/>
          </p:nvSpPr>
          <p:spPr>
            <a:xfrm>
              <a:off x="0" y="-38100"/>
              <a:ext cx="1386863"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NOT FASTER. IT BUYS MEMORY, NOT SPEED</a:t>
              </a:r>
            </a:p>
          </p:txBody>
        </p:sp>
      </p:grpSp>
      <p:sp>
        <p:nvSpPr>
          <p:cNvPr name="TextBox 7" id="7"/>
          <p:cNvSpPr txBox="true"/>
          <p:nvPr/>
        </p:nvSpPr>
        <p:spPr>
          <a:xfrm rot="0">
            <a:off x="9583034" y="5778829"/>
            <a:ext cx="8220910" cy="17367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Nothing leaves the devices you own, and the demo runs with the internet off. We do not claim that activations sent to someone else's phone are private, because published work turns them back into text.</a:t>
            </a:r>
          </a:p>
        </p:txBody>
      </p:sp>
      <p:grpSp>
        <p:nvGrpSpPr>
          <p:cNvPr name="Group 8" id="8"/>
          <p:cNvGrpSpPr/>
          <p:nvPr/>
        </p:nvGrpSpPr>
        <p:grpSpPr>
          <a:xfrm rot="0">
            <a:off x="9583034" y="4511453"/>
            <a:ext cx="5265746" cy="972367"/>
            <a:chOff x="0" y="0"/>
            <a:chExt cx="1386863" cy="256097"/>
          </a:xfrm>
        </p:grpSpPr>
        <p:sp>
          <p:nvSpPr>
            <p:cNvPr name="Freeform 9" id="9"/>
            <p:cNvSpPr/>
            <p:nvPr/>
          </p:nvSpPr>
          <p:spPr>
            <a:xfrm flipH="false" flipV="false" rot="0">
              <a:off x="0" y="0"/>
              <a:ext cx="1386863" cy="256097"/>
            </a:xfrm>
            <a:custGeom>
              <a:avLst/>
              <a:gdLst/>
              <a:ahLst/>
              <a:cxnLst/>
              <a:rect r="r" b="b" t="t" l="l"/>
              <a:pathLst>
                <a:path h="256097" w="1386863">
                  <a:moveTo>
                    <a:pt x="74982" y="0"/>
                  </a:moveTo>
                  <a:lnTo>
                    <a:pt x="1311881" y="0"/>
                  </a:lnTo>
                  <a:cubicBezTo>
                    <a:pt x="1353292" y="0"/>
                    <a:pt x="1386863" y="33571"/>
                    <a:pt x="1386863" y="74982"/>
                  </a:cubicBezTo>
                  <a:lnTo>
                    <a:pt x="1386863" y="181114"/>
                  </a:lnTo>
                  <a:cubicBezTo>
                    <a:pt x="1386863" y="222526"/>
                    <a:pt x="1353292" y="256097"/>
                    <a:pt x="1311881" y="256097"/>
                  </a:cubicBezTo>
                  <a:lnTo>
                    <a:pt x="74982" y="256097"/>
                  </a:lnTo>
                  <a:cubicBezTo>
                    <a:pt x="33571" y="256097"/>
                    <a:pt x="0" y="222526"/>
                    <a:pt x="0" y="181114"/>
                  </a:cubicBezTo>
                  <a:lnTo>
                    <a:pt x="0" y="74982"/>
                  </a:lnTo>
                  <a:cubicBezTo>
                    <a:pt x="0" y="33571"/>
                    <a:pt x="33571" y="0"/>
                    <a:pt x="74982" y="0"/>
                  </a:cubicBezTo>
                  <a:close/>
                </a:path>
              </a:pathLst>
            </a:custGeom>
            <a:solidFill>
              <a:srgbClr val="E4E1DD"/>
            </a:solidFill>
            <a:ln w="9525" cap="rnd">
              <a:solidFill>
                <a:srgbClr val="151213"/>
              </a:solidFill>
              <a:prstDash val="solid"/>
              <a:round/>
            </a:ln>
          </p:spPr>
          <p:txBody>
            <a:bodyPr/>
            <a:p/>
          </p:txBody>
        </p:sp>
        <p:sp>
          <p:nvSpPr>
            <p:cNvPr name="TextBox 10" id="10"/>
            <p:cNvSpPr txBox="true"/>
            <p:nvPr/>
          </p:nvSpPr>
          <p:spPr>
            <a:xfrm>
              <a:off x="0" y="-38100"/>
              <a:ext cx="1386863"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PRIVATE ACROSS YOUR OWN DEVICES ONLY</a:t>
              </a:r>
            </a:p>
          </p:txBody>
        </p:sp>
      </p:grpSp>
      <p:sp>
        <p:nvSpPr>
          <p:cNvPr name="TextBox 11" id="11"/>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12" id="12"/>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13" id="13"/>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14" id="14"/>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15" id="15"/>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16" id="16"/>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2.xml><?xml version="1.0" encoding="utf-8"?>
<p:sld xmlns:p="http://schemas.openxmlformats.org/presentationml/2006/main" xmlns:a="http://schemas.openxmlformats.org/drawingml/2006/main">
  <p:cSld>
    <p:bg>
      <p:bgPr>
        <a:solidFill>
          <a:srgbClr val="EFEFEC"/>
        </a:solidFill>
      </p:bgPr>
    </p:bg>
    <p:spTree>
      <p:nvGrpSpPr>
        <p:cNvPr id="1" name=""/>
        <p:cNvGrpSpPr/>
        <p:nvPr/>
      </p:nvGrpSpPr>
      <p:grpSpPr>
        <a:xfrm>
          <a:off x="0" y="0"/>
          <a:ext cx="0" cy="0"/>
          <a:chOff x="0" y="0"/>
          <a:chExt cx="0" cy="0"/>
        </a:xfrm>
      </p:grpSpPr>
      <p:sp>
        <p:nvSpPr>
          <p:cNvPr name="TextBox 2" id="2"/>
          <p:cNvSpPr txBox="true"/>
          <p:nvPr/>
        </p:nvSpPr>
        <p:spPr>
          <a:xfrm rot="0">
            <a:off x="406295" y="853090"/>
            <a:ext cx="7579360" cy="2501265"/>
          </a:xfrm>
          <a:prstGeom prst="rect">
            <a:avLst/>
          </a:prstGeom>
        </p:spPr>
        <p:txBody>
          <a:bodyPr anchor="t" rtlCol="false" tIns="0" lIns="0" bIns="0" rIns="0">
            <a:spAutoFit/>
          </a:bodyPr>
          <a:lstStyle/>
          <a:p>
            <a:pPr algn="l">
              <a:lnSpc>
                <a:spcPts val="9600"/>
              </a:lnSpc>
            </a:pPr>
            <a:r>
              <a:rPr lang="en-US" sz="9600" spc="-211">
                <a:solidFill>
                  <a:srgbClr val="151213"/>
                </a:solidFill>
                <a:latin typeface="Anton"/>
                <a:ea typeface="Anton"/>
                <a:cs typeface="Anton"/>
                <a:sym typeface="Anton"/>
              </a:rPr>
              <a:t>IMPACT</a:t>
            </a:r>
          </a:p>
        </p:txBody>
      </p:sp>
      <p:sp>
        <p:nvSpPr>
          <p:cNvPr name="TextBox 3" id="3"/>
          <p:cNvSpPr txBox="true"/>
          <p:nvPr/>
        </p:nvSpPr>
        <p:spPr>
          <a:xfrm rot="0">
            <a:off x="9583034" y="2296342"/>
            <a:ext cx="8220910" cy="17367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The quality of AI you can run on your own hardware is set by memory. Pool the memory and the ceiling moves: the same devices that could only hold a small model now hold a 30B coding model, and the answers change accordingly.</a:t>
            </a:r>
          </a:p>
        </p:txBody>
      </p:sp>
      <p:grpSp>
        <p:nvGrpSpPr>
          <p:cNvPr name="Group 4" id="4"/>
          <p:cNvGrpSpPr/>
          <p:nvPr/>
        </p:nvGrpSpPr>
        <p:grpSpPr>
          <a:xfrm rot="0">
            <a:off x="9583034" y="1028965"/>
            <a:ext cx="5265746" cy="972367"/>
            <a:chOff x="0" y="0"/>
            <a:chExt cx="1386863" cy="256097"/>
          </a:xfrm>
        </p:grpSpPr>
        <p:sp>
          <p:nvSpPr>
            <p:cNvPr name="Freeform 5" id="5"/>
            <p:cNvSpPr/>
            <p:nvPr/>
          </p:nvSpPr>
          <p:spPr>
            <a:xfrm flipH="false" flipV="false" rot="0">
              <a:off x="0" y="0"/>
              <a:ext cx="1386863" cy="256097"/>
            </a:xfrm>
            <a:custGeom>
              <a:avLst/>
              <a:gdLst/>
              <a:ahLst/>
              <a:cxnLst/>
              <a:rect r="r" b="b" t="t" l="l"/>
              <a:pathLst>
                <a:path h="256097" w="1386863">
                  <a:moveTo>
                    <a:pt x="74982" y="0"/>
                  </a:moveTo>
                  <a:lnTo>
                    <a:pt x="1311881" y="0"/>
                  </a:lnTo>
                  <a:cubicBezTo>
                    <a:pt x="1353292" y="0"/>
                    <a:pt x="1386863" y="33571"/>
                    <a:pt x="1386863" y="74982"/>
                  </a:cubicBezTo>
                  <a:lnTo>
                    <a:pt x="1386863" y="181114"/>
                  </a:lnTo>
                  <a:cubicBezTo>
                    <a:pt x="1386863" y="222526"/>
                    <a:pt x="1353292" y="256097"/>
                    <a:pt x="1311881" y="256097"/>
                  </a:cubicBezTo>
                  <a:lnTo>
                    <a:pt x="74982" y="256097"/>
                  </a:lnTo>
                  <a:cubicBezTo>
                    <a:pt x="33571" y="256097"/>
                    <a:pt x="0" y="222526"/>
                    <a:pt x="0" y="181114"/>
                  </a:cubicBezTo>
                  <a:lnTo>
                    <a:pt x="0" y="74982"/>
                  </a:lnTo>
                  <a:cubicBezTo>
                    <a:pt x="0" y="33571"/>
                    <a:pt x="33571" y="0"/>
                    <a:pt x="74982" y="0"/>
                  </a:cubicBezTo>
                  <a:close/>
                </a:path>
              </a:pathLst>
            </a:custGeom>
            <a:solidFill>
              <a:srgbClr val="E4E1DD"/>
            </a:solidFill>
            <a:ln w="9525" cap="rnd">
              <a:solidFill>
                <a:srgbClr val="151213"/>
              </a:solidFill>
              <a:prstDash val="solid"/>
              <a:round/>
            </a:ln>
          </p:spPr>
          <p:txBody>
            <a:bodyPr/>
            <a:p/>
          </p:txBody>
        </p:sp>
        <p:sp>
          <p:nvSpPr>
            <p:cNvPr name="TextBox 6" id="6"/>
            <p:cNvSpPr txBox="true"/>
            <p:nvPr/>
          </p:nvSpPr>
          <p:spPr>
            <a:xfrm>
              <a:off x="0" y="-38100"/>
              <a:ext cx="1386863"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THE CEILING MOVES</a:t>
              </a:r>
            </a:p>
          </p:txBody>
        </p:sp>
      </p:grpSp>
      <p:sp>
        <p:nvSpPr>
          <p:cNvPr name="TextBox 7" id="7"/>
          <p:cNvSpPr txBox="true"/>
          <p:nvPr/>
        </p:nvSpPr>
        <p:spPr>
          <a:xfrm rot="0">
            <a:off x="9583034" y="5778829"/>
            <a:ext cx="8220910" cy="17367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In rural India 94.2% of households have a phone and 4.2% have a computer (MoSPI, 2022-23). That is not our first user and we will not pretend it is. It is why the phone has to be the device that works rather than the accessory: for most people it is the only computer in the house, and as open models improve at a given size, what it can hold matters more every year.</a:t>
            </a:r>
          </a:p>
        </p:txBody>
      </p:sp>
      <p:grpSp>
        <p:nvGrpSpPr>
          <p:cNvPr name="Group 8" id="8"/>
          <p:cNvGrpSpPr/>
          <p:nvPr/>
        </p:nvGrpSpPr>
        <p:grpSpPr>
          <a:xfrm rot="0">
            <a:off x="9583034" y="4511453"/>
            <a:ext cx="5265746" cy="972367"/>
            <a:chOff x="0" y="0"/>
            <a:chExt cx="1386863" cy="256097"/>
          </a:xfrm>
        </p:grpSpPr>
        <p:sp>
          <p:nvSpPr>
            <p:cNvPr name="Freeform 9" id="9"/>
            <p:cNvSpPr/>
            <p:nvPr/>
          </p:nvSpPr>
          <p:spPr>
            <a:xfrm flipH="false" flipV="false" rot="0">
              <a:off x="0" y="0"/>
              <a:ext cx="1386863" cy="256097"/>
            </a:xfrm>
            <a:custGeom>
              <a:avLst/>
              <a:gdLst/>
              <a:ahLst/>
              <a:cxnLst/>
              <a:rect r="r" b="b" t="t" l="l"/>
              <a:pathLst>
                <a:path h="256097" w="1386863">
                  <a:moveTo>
                    <a:pt x="74982" y="0"/>
                  </a:moveTo>
                  <a:lnTo>
                    <a:pt x="1311881" y="0"/>
                  </a:lnTo>
                  <a:cubicBezTo>
                    <a:pt x="1353292" y="0"/>
                    <a:pt x="1386863" y="33571"/>
                    <a:pt x="1386863" y="74982"/>
                  </a:cubicBezTo>
                  <a:lnTo>
                    <a:pt x="1386863" y="181114"/>
                  </a:lnTo>
                  <a:cubicBezTo>
                    <a:pt x="1386863" y="222526"/>
                    <a:pt x="1353292" y="256097"/>
                    <a:pt x="1311881" y="256097"/>
                  </a:cubicBezTo>
                  <a:lnTo>
                    <a:pt x="74982" y="256097"/>
                  </a:lnTo>
                  <a:cubicBezTo>
                    <a:pt x="33571" y="256097"/>
                    <a:pt x="0" y="222526"/>
                    <a:pt x="0" y="181114"/>
                  </a:cubicBezTo>
                  <a:lnTo>
                    <a:pt x="0" y="74982"/>
                  </a:lnTo>
                  <a:cubicBezTo>
                    <a:pt x="0" y="33571"/>
                    <a:pt x="33571" y="0"/>
                    <a:pt x="74982" y="0"/>
                  </a:cubicBezTo>
                  <a:close/>
                </a:path>
              </a:pathLst>
            </a:custGeom>
            <a:solidFill>
              <a:srgbClr val="E4E1DD"/>
            </a:solidFill>
            <a:ln w="9525" cap="rnd">
              <a:solidFill>
                <a:srgbClr val="151213"/>
              </a:solidFill>
              <a:prstDash val="solid"/>
              <a:round/>
            </a:ln>
          </p:spPr>
          <p:txBody>
            <a:bodyPr/>
            <a:p/>
          </p:txBody>
        </p:sp>
        <p:sp>
          <p:nvSpPr>
            <p:cNvPr name="TextBox 10" id="10"/>
            <p:cNvSpPr txBox="true"/>
            <p:nvPr/>
          </p:nvSpPr>
          <p:spPr>
            <a:xfrm>
              <a:off x="0" y="-38100"/>
              <a:ext cx="1386863"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PHONE FIRST IS NOT A GIMMICK HERE</a:t>
              </a:r>
            </a:p>
          </p:txBody>
        </p:sp>
      </p:grpSp>
      <p:sp>
        <p:nvSpPr>
          <p:cNvPr name="TextBox 11" id="11"/>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12" id="12"/>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13" id="13"/>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14" id="14"/>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15" id="15"/>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16" id="16"/>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51213"/>
        </a:solidFill>
      </p:bgPr>
    </p:bg>
    <p:spTree>
      <p:nvGrpSpPr>
        <p:cNvPr id="1" name=""/>
        <p:cNvGrpSpPr/>
        <p:nvPr/>
      </p:nvGrpSpPr>
      <p:grpSpPr>
        <a:xfrm>
          <a:off x="0" y="0"/>
          <a:ext cx="0" cy="0"/>
          <a:chOff x="0" y="0"/>
          <a:chExt cx="0" cy="0"/>
        </a:xfrm>
      </p:grpSpPr>
      <p:sp>
        <p:nvSpPr>
          <p:cNvPr name="TextBox 2" id="2"/>
          <p:cNvSpPr txBox="true"/>
          <p:nvPr/>
        </p:nvSpPr>
        <p:spPr>
          <a:xfrm rot="0">
            <a:off x="1028700" y="4534103"/>
            <a:ext cx="8671030" cy="5203826"/>
          </a:xfrm>
          <a:prstGeom prst="rect">
            <a:avLst/>
          </a:prstGeom>
        </p:spPr>
        <p:txBody>
          <a:bodyPr anchor="t" rtlCol="false" tIns="0" lIns="0" bIns="0" rIns="0" wrap="square">
            <a:spAutoFit/>
          </a:bodyPr>
          <a:lstStyle/>
          <a:p>
            <a:pPr algn="l">
              <a:lnSpc>
                <a:spcPts val="20000"/>
              </a:lnSpc>
              <a:defRPr sz="12000"/>
            </a:pPr>
            <a:r>
              <a:rPr lang="en-US" sz="12000" spc="-440">
                <a:solidFill>
                  <a:srgbClr val="EFEFEC"/>
                </a:solidFill>
                <a:latin typeface="Anton"/>
                <a:ea typeface="Anton"/>
                <a:cs typeface="Anton"/>
                <a:sym typeface="Anton"/>
              </a:rPr>
              <a:t>WHO IT IS FOR</a:t>
            </a:r>
          </a:p>
        </p:txBody>
      </p:sp>
      <p:grpSp>
        <p:nvGrpSpPr>
          <p:cNvPr name="Group 6" id="6"/>
          <p:cNvGrpSpPr/>
          <p:nvPr/>
        </p:nvGrpSpPr>
        <p:grpSpPr>
          <a:xfrm rot="0">
            <a:off x="8496057" y="1028700"/>
            <a:ext cx="3389640" cy="972367"/>
            <a:chOff x="0" y="0"/>
            <a:chExt cx="892745" cy="256097"/>
          </a:xfrm>
        </p:grpSpPr>
        <p:sp>
          <p:nvSpPr>
            <p:cNvPr name="Freeform 7" id="7"/>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8" id="8"/>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DEVELOPERS ON A WEAK LAPTOP</a:t>
              </a:r>
            </a:p>
          </p:txBody>
        </p:sp>
      </p:grpSp>
      <p:grpSp>
        <p:nvGrpSpPr>
          <p:cNvPr name="Group 9" id="9"/>
          <p:cNvGrpSpPr/>
          <p:nvPr/>
        </p:nvGrpSpPr>
        <p:grpSpPr>
          <a:xfrm rot="0">
            <a:off x="12103268" y="1028700"/>
            <a:ext cx="3385712" cy="972367"/>
            <a:chOff x="0" y="0"/>
            <a:chExt cx="891710" cy="256097"/>
          </a:xfrm>
        </p:grpSpPr>
        <p:sp>
          <p:nvSpPr>
            <p:cNvPr name="Freeform 10" id="10"/>
            <p:cNvSpPr/>
            <p:nvPr/>
          </p:nvSpPr>
          <p:spPr>
            <a:xfrm flipH="false" flipV="false" rot="0">
              <a:off x="0" y="0"/>
              <a:ext cx="891710" cy="256097"/>
            </a:xfrm>
            <a:custGeom>
              <a:avLst/>
              <a:gdLst/>
              <a:ahLst/>
              <a:cxnLst/>
              <a:rect r="r" b="b" t="t" l="l"/>
              <a:pathLst>
                <a:path h="256097" w="891710">
                  <a:moveTo>
                    <a:pt x="116619" y="0"/>
                  </a:moveTo>
                  <a:lnTo>
                    <a:pt x="775091" y="0"/>
                  </a:lnTo>
                  <a:cubicBezTo>
                    <a:pt x="806021" y="0"/>
                    <a:pt x="835683" y="12287"/>
                    <a:pt x="857553" y="34157"/>
                  </a:cubicBezTo>
                  <a:cubicBezTo>
                    <a:pt x="879424" y="56027"/>
                    <a:pt x="891710" y="85690"/>
                    <a:pt x="891710" y="116619"/>
                  </a:cubicBezTo>
                  <a:lnTo>
                    <a:pt x="891710" y="139478"/>
                  </a:lnTo>
                  <a:cubicBezTo>
                    <a:pt x="891710" y="170407"/>
                    <a:pt x="879424" y="200069"/>
                    <a:pt x="857553" y="221940"/>
                  </a:cubicBezTo>
                  <a:cubicBezTo>
                    <a:pt x="835683" y="243810"/>
                    <a:pt x="806021" y="256097"/>
                    <a:pt x="775091" y="256097"/>
                  </a:cubicBezTo>
                  <a:lnTo>
                    <a:pt x="116619" y="256097"/>
                  </a:lnTo>
                  <a:cubicBezTo>
                    <a:pt x="85690" y="256097"/>
                    <a:pt x="56027" y="243810"/>
                    <a:pt x="34157" y="221940"/>
                  </a:cubicBezTo>
                  <a:cubicBezTo>
                    <a:pt x="12287" y="200069"/>
                    <a:pt x="0" y="170407"/>
                    <a:pt x="0" y="139478"/>
                  </a:cubicBezTo>
                  <a:lnTo>
                    <a:pt x="0" y="116619"/>
                  </a:lnTo>
                  <a:cubicBezTo>
                    <a:pt x="0" y="85690"/>
                    <a:pt x="12287" y="56027"/>
                    <a:pt x="34157" y="34157"/>
                  </a:cubicBezTo>
                  <a:cubicBezTo>
                    <a:pt x="56027" y="12287"/>
                    <a:pt x="85690" y="0"/>
                    <a:pt x="116619" y="0"/>
                  </a:cubicBezTo>
                  <a:close/>
                </a:path>
              </a:pathLst>
            </a:custGeom>
            <a:solidFill>
              <a:srgbClr val="E4E1DD"/>
            </a:solidFill>
            <a:ln w="9525" cap="rnd">
              <a:solidFill>
                <a:srgbClr val="151213"/>
              </a:solidFill>
              <a:prstDash val="solid"/>
              <a:round/>
            </a:ln>
          </p:spPr>
          <p:txBody>
            <a:bodyPr/>
            <a:p/>
          </p:txBody>
        </p:sp>
        <p:sp>
          <p:nvSpPr>
            <p:cNvPr name="TextBox 11" id="11"/>
            <p:cNvSpPr txBox="true"/>
            <p:nvPr/>
          </p:nvSpPr>
          <p:spPr>
            <a:xfrm>
              <a:off x="0" y="-38100"/>
              <a:ext cx="891710"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TWO PERSON TEAMS</a:t>
              </a:r>
            </a:p>
          </p:txBody>
        </p:sp>
      </p:grpSp>
      <p:grpSp>
        <p:nvGrpSpPr>
          <p:cNvPr name="Group 12" id="12"/>
          <p:cNvGrpSpPr/>
          <p:nvPr/>
        </p:nvGrpSpPr>
        <p:grpSpPr>
          <a:xfrm rot="0">
            <a:off x="15708055" y="1028700"/>
            <a:ext cx="2095889" cy="972367"/>
            <a:chOff x="0" y="0"/>
            <a:chExt cx="552004" cy="256097"/>
          </a:xfrm>
        </p:grpSpPr>
        <p:sp>
          <p:nvSpPr>
            <p:cNvPr name="Freeform 13" id="13"/>
            <p:cNvSpPr/>
            <p:nvPr/>
          </p:nvSpPr>
          <p:spPr>
            <a:xfrm flipH="false" flipV="false" rot="0">
              <a:off x="0" y="0"/>
              <a:ext cx="552004" cy="256097"/>
            </a:xfrm>
            <a:custGeom>
              <a:avLst/>
              <a:gdLst/>
              <a:ahLst/>
              <a:cxnLst/>
              <a:rect r="r" b="b" t="t" l="l"/>
              <a:pathLst>
                <a:path h="256097" w="552004">
                  <a:moveTo>
                    <a:pt x="128048" y="0"/>
                  </a:moveTo>
                  <a:lnTo>
                    <a:pt x="423956" y="0"/>
                  </a:lnTo>
                  <a:cubicBezTo>
                    <a:pt x="457916" y="0"/>
                    <a:pt x="490486" y="13491"/>
                    <a:pt x="514499" y="37504"/>
                  </a:cubicBezTo>
                  <a:cubicBezTo>
                    <a:pt x="538513" y="61518"/>
                    <a:pt x="552004" y="94088"/>
                    <a:pt x="552004" y="128048"/>
                  </a:cubicBezTo>
                  <a:lnTo>
                    <a:pt x="552004" y="128048"/>
                  </a:lnTo>
                  <a:cubicBezTo>
                    <a:pt x="552004" y="198767"/>
                    <a:pt x="494675" y="256097"/>
                    <a:pt x="423956"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14" id="14"/>
            <p:cNvSpPr txBox="true"/>
            <p:nvPr/>
          </p:nvSpPr>
          <p:spPr>
            <a:xfrm>
              <a:off x="0" y="-38100"/>
              <a:ext cx="552004"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NO-CLOUD WORKPLACES</a:t>
              </a:r>
            </a:p>
          </p:txBody>
        </p:sp>
      </p:grpSp>
      <p:grpSp>
        <p:nvGrpSpPr>
          <p:cNvPr name="Group 15" id="15"/>
          <p:cNvGrpSpPr/>
          <p:nvPr/>
        </p:nvGrpSpPr>
        <p:grpSpPr>
          <a:xfrm rot="0">
            <a:off x="8496057" y="2124892"/>
            <a:ext cx="3389640" cy="972367"/>
            <a:chOff x="0" y="0"/>
            <a:chExt cx="892745" cy="256097"/>
          </a:xfrm>
        </p:grpSpPr>
        <p:sp>
          <p:nvSpPr>
            <p:cNvPr name="Freeform 16" id="16"/>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17" id="17"/>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STUDENTS WITH A GOOD PHONE</a:t>
              </a:r>
            </a:p>
          </p:txBody>
        </p:sp>
      </p:grpSp>
      <p:grpSp>
        <p:nvGrpSpPr>
          <p:cNvPr name="Group 18" id="18"/>
          <p:cNvGrpSpPr/>
          <p:nvPr/>
        </p:nvGrpSpPr>
        <p:grpSpPr>
          <a:xfrm rot="0">
            <a:off x="14418233" y="2124892"/>
            <a:ext cx="3385712" cy="972367"/>
            <a:chOff x="0" y="0"/>
            <a:chExt cx="891710" cy="256097"/>
          </a:xfrm>
        </p:grpSpPr>
        <p:sp>
          <p:nvSpPr>
            <p:cNvPr name="Freeform 19" id="19"/>
            <p:cNvSpPr/>
            <p:nvPr/>
          </p:nvSpPr>
          <p:spPr>
            <a:xfrm flipH="false" flipV="false" rot="0">
              <a:off x="0" y="0"/>
              <a:ext cx="891710" cy="256097"/>
            </a:xfrm>
            <a:custGeom>
              <a:avLst/>
              <a:gdLst/>
              <a:ahLst/>
              <a:cxnLst/>
              <a:rect r="r" b="b" t="t" l="l"/>
              <a:pathLst>
                <a:path h="256097" w="891710">
                  <a:moveTo>
                    <a:pt x="116619" y="0"/>
                  </a:moveTo>
                  <a:lnTo>
                    <a:pt x="775091" y="0"/>
                  </a:lnTo>
                  <a:cubicBezTo>
                    <a:pt x="806021" y="0"/>
                    <a:pt x="835683" y="12287"/>
                    <a:pt x="857553" y="34157"/>
                  </a:cubicBezTo>
                  <a:cubicBezTo>
                    <a:pt x="879424" y="56027"/>
                    <a:pt x="891710" y="85690"/>
                    <a:pt x="891710" y="116619"/>
                  </a:cubicBezTo>
                  <a:lnTo>
                    <a:pt x="891710" y="139478"/>
                  </a:lnTo>
                  <a:cubicBezTo>
                    <a:pt x="891710" y="170407"/>
                    <a:pt x="879424" y="200069"/>
                    <a:pt x="857553" y="221940"/>
                  </a:cubicBezTo>
                  <a:cubicBezTo>
                    <a:pt x="835683" y="243810"/>
                    <a:pt x="806021" y="256097"/>
                    <a:pt x="775091" y="256097"/>
                  </a:cubicBezTo>
                  <a:lnTo>
                    <a:pt x="116619" y="256097"/>
                  </a:lnTo>
                  <a:cubicBezTo>
                    <a:pt x="85690" y="256097"/>
                    <a:pt x="56027" y="243810"/>
                    <a:pt x="34157" y="221940"/>
                  </a:cubicBezTo>
                  <a:cubicBezTo>
                    <a:pt x="12287" y="200069"/>
                    <a:pt x="0" y="170407"/>
                    <a:pt x="0" y="139478"/>
                  </a:cubicBezTo>
                  <a:lnTo>
                    <a:pt x="0" y="116619"/>
                  </a:lnTo>
                  <a:cubicBezTo>
                    <a:pt x="0" y="85690"/>
                    <a:pt x="12287" y="56027"/>
                    <a:pt x="34157" y="34157"/>
                  </a:cubicBezTo>
                  <a:cubicBezTo>
                    <a:pt x="56027" y="12287"/>
                    <a:pt x="85690" y="0"/>
                    <a:pt x="116619" y="0"/>
                  </a:cubicBezTo>
                  <a:close/>
                </a:path>
              </a:pathLst>
            </a:custGeom>
            <a:solidFill>
              <a:srgbClr val="E4E1DD"/>
            </a:solidFill>
            <a:ln w="9525" cap="rnd">
              <a:solidFill>
                <a:srgbClr val="151213"/>
              </a:solidFill>
              <a:prstDash val="solid"/>
              <a:round/>
            </a:ln>
          </p:spPr>
          <p:txBody>
            <a:bodyPr/>
            <a:p/>
          </p:txBody>
        </p:sp>
        <p:sp>
          <p:nvSpPr>
            <p:cNvPr name="TextBox 20" id="20"/>
            <p:cNvSpPr txBox="true"/>
            <p:nvPr/>
          </p:nvSpPr>
          <p:spPr>
            <a:xfrm>
              <a:off x="0" y="-38100"/>
              <a:ext cx="891710"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FIELD WORK WITH NO SIGNAL</a:t>
              </a:r>
            </a:p>
          </p:txBody>
        </p:sp>
      </p:grpSp>
      <p:grpSp>
        <p:nvGrpSpPr>
          <p:cNvPr name="Group 21" id="21"/>
          <p:cNvGrpSpPr/>
          <p:nvPr/>
        </p:nvGrpSpPr>
        <p:grpSpPr>
          <a:xfrm rot="0">
            <a:off x="12104020" y="2124892"/>
            <a:ext cx="2095889" cy="972367"/>
            <a:chOff x="0" y="0"/>
            <a:chExt cx="552004" cy="256097"/>
          </a:xfrm>
        </p:grpSpPr>
        <p:sp>
          <p:nvSpPr>
            <p:cNvPr name="Freeform 22" id="22"/>
            <p:cNvSpPr/>
            <p:nvPr/>
          </p:nvSpPr>
          <p:spPr>
            <a:xfrm flipH="false" flipV="false" rot="0">
              <a:off x="0" y="0"/>
              <a:ext cx="552004" cy="256097"/>
            </a:xfrm>
            <a:custGeom>
              <a:avLst/>
              <a:gdLst/>
              <a:ahLst/>
              <a:cxnLst/>
              <a:rect r="r" b="b" t="t" l="l"/>
              <a:pathLst>
                <a:path h="256097" w="552004">
                  <a:moveTo>
                    <a:pt x="128048" y="0"/>
                  </a:moveTo>
                  <a:lnTo>
                    <a:pt x="423956" y="0"/>
                  </a:lnTo>
                  <a:cubicBezTo>
                    <a:pt x="457916" y="0"/>
                    <a:pt x="490486" y="13491"/>
                    <a:pt x="514499" y="37504"/>
                  </a:cubicBezTo>
                  <a:cubicBezTo>
                    <a:pt x="538513" y="61518"/>
                    <a:pt x="552004" y="94088"/>
                    <a:pt x="552004" y="128048"/>
                  </a:cubicBezTo>
                  <a:lnTo>
                    <a:pt x="552004" y="128048"/>
                  </a:lnTo>
                  <a:cubicBezTo>
                    <a:pt x="552004" y="198767"/>
                    <a:pt x="494675" y="256097"/>
                    <a:pt x="423956"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23" id="23"/>
            <p:cNvSpPr txBox="true"/>
            <p:nvPr/>
          </p:nvSpPr>
          <p:spPr>
            <a:xfrm>
              <a:off x="0" y="-38100"/>
              <a:ext cx="552004"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ANY CAPABLE ANDROID</a:t>
              </a:r>
            </a:p>
          </p:txBody>
        </p:sp>
      </p:grpSp>
      <p:sp>
        <p:nvSpPr>
          <p:cNvPr name="TextBox 24" id="24"/>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MESH AI</a:t>
            </a:r>
          </a:p>
        </p:txBody>
      </p:sp>
      <p:sp>
        <p:nvSpPr>
          <p:cNvPr name="TextBox 25" id="25"/>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EFEFEC"/>
                </a:solidFill>
                <a:latin typeface="Mukti"/>
                <a:ea typeface="Mukti"/>
                <a:cs typeface="Mukti"/>
                <a:sym typeface="Mukti"/>
              </a:rPr>
              <a:t>IQOO HACKATHON 2026 · DEVELOPER TOOLS</a:t>
            </a:r>
          </a:p>
        </p:txBody>
      </p:sp>
      <p:sp>
        <p:nvSpPr>
          <p:cNvPr name="TextBox 26" id="26"/>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TEAM MAYNARDS</a:t>
            </a:r>
          </a:p>
        </p:txBody>
      </p:sp>
      <p:sp>
        <p:nvSpPr>
          <p:cNvPr name="TextBox 27" id="27"/>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EFEFEC"/>
                </a:solidFill>
                <a:latin typeface="Mukti"/>
                <a:ea typeface="Mukti"/>
                <a:cs typeface="Mukti"/>
                <a:sym typeface="Mukti"/>
              </a:rPr>
              <a:t>PRAJWAL GUNNALA · YUVA RAJ AMBATI</a:t>
            </a:r>
          </a:p>
        </p:txBody>
      </p:sp>
      <p:sp>
        <p:nvSpPr>
          <p:cNvPr name="AutoShape 28" id="28"/>
          <p:cNvSpPr/>
          <p:nvPr/>
        </p:nvSpPr>
        <p:spPr>
          <a:xfrm>
            <a:off x="-882858" y="492020"/>
            <a:ext cx="20053717" cy="0"/>
          </a:xfrm>
          <a:prstGeom prst="line">
            <a:avLst/>
          </a:prstGeom>
          <a:ln cap="flat" w="9525">
            <a:solidFill>
              <a:srgbClr val="E4E1DD"/>
            </a:solidFill>
            <a:prstDash val="solid"/>
            <a:headEnd type="none" len="sm" w="sm"/>
            <a:tailEnd type="none" len="sm" w="sm"/>
          </a:ln>
        </p:spPr>
        <p:txBody>
          <a:bodyPr/>
          <a:p/>
        </p:txBody>
      </p:sp>
      <p:sp>
        <p:nvSpPr>
          <p:cNvPr name="AutoShape 29" id="29"/>
          <p:cNvSpPr/>
          <p:nvPr/>
        </p:nvSpPr>
        <p:spPr>
          <a:xfrm>
            <a:off x="-882858" y="9818891"/>
            <a:ext cx="20053717" cy="0"/>
          </a:xfrm>
          <a:prstGeom prst="line">
            <a:avLst/>
          </a:prstGeom>
          <a:ln cap="flat" w="9525">
            <a:solidFill>
              <a:srgbClr val="E4E1DD"/>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grpSp>
        <p:nvGrpSpPr>
          <p:cNvPr name="Group 2" id="2"/>
          <p:cNvGrpSpPr/>
          <p:nvPr/>
        </p:nvGrpSpPr>
        <p:grpSpPr>
          <a:xfrm rot="0">
            <a:off x="11258896" y="1028700"/>
            <a:ext cx="6545048" cy="8229600"/>
            <a:chOff x="0" y="0"/>
            <a:chExt cx="8726731" cy="10972800"/>
          </a:xfrm>
        </p:grpSpPr>
      </p:grpSp>
      <p:sp>
        <p:nvSpPr>
          <p:cNvPr name="TextBox 7" id="7"/>
          <p:cNvSpPr txBox="true"/>
          <p:nvPr/>
        </p:nvSpPr>
        <p:spPr>
          <a:xfrm rot="0">
            <a:off x="475488" y="1060704"/>
            <a:ext cx="16852392" cy="2670048"/>
          </a:xfrm>
          <a:prstGeom prst="rect">
            <a:avLst/>
          </a:prstGeom>
        </p:spPr>
        <p:txBody>
          <a:bodyPr anchor="t" rtlCol="false" tIns="0" lIns="0" bIns="0" rIns="0" wrap="square">
            <a:spAutoFit/>
          </a:bodyPr>
          <a:lstStyle/>
          <a:p>
            <a:pPr algn="l">
              <a:lnSpc>
                <a:spcPts val="20000"/>
              </a:lnSpc>
            </a:pPr>
            <a:r>
              <a:rPr lang="en-US" sz="20000" spc="-440">
                <a:solidFill>
                  <a:srgbClr val="151213"/>
                </a:solidFill>
                <a:latin typeface="Anton"/>
                <a:ea typeface="Anton"/>
                <a:cs typeface="Anton"/>
                <a:sym typeface="Anton"/>
              </a:rPr>
              <a:t>THE EVIDENCE</a:t>
            </a:r>
          </a:p>
        </p:txBody>
      </p:sp>
      <p:sp>
        <p:nvSpPr>
          <p:cNvPr name="TextBox 13" id="1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14" id="1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15" id="1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16" id="1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17" id="17"/>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18" id="18"/>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pic>
        <p:nvPicPr>
          <p:cNvPr id="19" name="Picture 18" descr="accuracy.png"/>
          <p:cNvPicPr>
            <a:picLocks noChangeAspect="1"/>
          </p:cNvPicPr>
          <p:nvPr/>
        </p:nvPicPr>
        <p:blipFill>
          <a:blip r:embed="rId6"/>
          <a:stretch>
            <a:fillRect/>
          </a:stretch>
        </p:blipFill>
        <p:spPr>
          <a:xfrm>
            <a:off x="2971800" y="4206240"/>
            <a:ext cx="12344400" cy="5200078"/>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5.xml><?xml version="1.0" encoding="utf-8"?>
<p:sld xmlns:p="http://schemas.openxmlformats.org/presentationml/2006/main" xmlns:a="http://schemas.openxmlformats.org/drawingml/2006/main">
  <p:cSld>
    <p:bg>
      <p:bgPr>
        <a:solidFill>
          <a:srgbClr val="EFEFEC"/>
        </a:solidFill>
      </p:bgPr>
    </p:bg>
    <p:spTree>
      <p:nvGrpSpPr>
        <p:cNvPr id="1" name=""/>
        <p:cNvGrpSpPr/>
        <p:nvPr/>
      </p:nvGrpSpPr>
      <p:grpSpPr>
        <a:xfrm>
          <a:off x="0" y="0"/>
          <a:ext cx="0" cy="0"/>
          <a:chOff x="0" y="0"/>
          <a:chExt cx="0" cy="0"/>
        </a:xfrm>
      </p:grpSpPr>
      <p:sp>
        <p:nvSpPr>
          <p:cNvPr name="TextBox 22" id="22"/>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23" id="23"/>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24" id="24"/>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25" id="25"/>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pic xmlns:r="http://schemas.openxmlformats.org/officeDocument/2006/relationships">
        <p:nvPicPr>
          <p:cNvPr id="26" name="Picture 25" descr="compare.png"/>
          <p:cNvPicPr>
            <a:picLocks noChangeAspect="1"/>
          </p:cNvPicPr>
          <p:nvPr/>
        </p:nvPicPr>
        <p:blipFill>
          <a:blip r:embed="rId2"/>
          <a:stretch>
            <a:fillRect/>
          </a:stretch>
        </p:blipFill>
        <p:spPr>
          <a:xfrm>
            <a:off x="822960" y="914400"/>
            <a:ext cx="16642080" cy="8675127"/>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6.xml><?xml version="1.0" encoding="utf-8"?>
<p:sld xmlns:p="http://schemas.openxmlformats.org/presentationml/2006/main" xmlns:a="http://schemas.openxmlformats.org/drawingml/2006/main">
  <p:cSld>
    <p:bg>
      <p:bgPr>
        <a:solidFill>
          <a:srgbClr val="151213"/>
        </a:solidFill>
      </p:bgPr>
    </p:bg>
    <p:spTree>
      <p:nvGrpSpPr>
        <p:cNvPr id="1" name=""/>
        <p:cNvGrpSpPr/>
        <p:nvPr/>
      </p:nvGrpSpPr>
      <p:grpSpPr>
        <a:xfrm>
          <a:off x="0" y="0"/>
          <a:ext cx="0" cy="0"/>
          <a:chOff x="0" y="0"/>
          <a:chExt cx="0" cy="0"/>
        </a:xfrm>
      </p:grpSpPr>
      <p:sp>
        <p:nvSpPr>
          <p:cNvPr name="TextBox 2" id="2"/>
          <p:cNvSpPr txBox="true"/>
          <p:nvPr/>
        </p:nvSpPr>
        <p:spPr>
          <a:xfrm rot="0">
            <a:off x="475488" y="1060704"/>
            <a:ext cx="16852392" cy="2670048"/>
          </a:xfrm>
          <a:prstGeom prst="rect">
            <a:avLst/>
          </a:prstGeom>
        </p:spPr>
        <p:txBody>
          <a:bodyPr anchor="t" rtlCol="false" tIns="0" lIns="0" bIns="0" rIns="0" wrap="square">
            <a:spAutoFit/>
          </a:bodyPr>
          <a:lstStyle/>
          <a:p>
            <a:pPr algn="l">
              <a:lnSpc>
                <a:spcPts val="20000"/>
              </a:lnSpc>
              <a:defRPr sz="8800"/>
            </a:pPr>
            <a:r>
              <a:rPr lang="en-US" sz="8800" spc="-440">
                <a:solidFill>
                  <a:srgbClr val="EFEFEC"/>
                </a:solidFill>
                <a:latin typeface="Anton"/>
                <a:ea typeface="Anton"/>
                <a:cs typeface="Anton"/>
                <a:sym typeface="Anton"/>
              </a:rPr>
              <a:t>THE NUMBERS</a:t>
            </a:r>
          </a:p>
        </p:txBody>
      </p:sp>
      <p:grpSp>
        <p:nvGrpSpPr>
          <p:cNvPr name="Group 3" id="3"/>
          <p:cNvGrpSpPr/>
          <p:nvPr/>
        </p:nvGrpSpPr>
        <p:grpSpPr>
          <a:xfrm rot="0">
            <a:off x="5590299" y="6497802"/>
            <a:ext cx="2760498" cy="276049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B2A4"/>
            </a:solidFill>
            <a:ln w="9525" cap="sq">
              <a:solidFill>
                <a:srgbClr val="151213"/>
              </a:solidFill>
              <a:prstDash val="solid"/>
              <a:miter/>
            </a:ln>
          </p:spPr>
          <p:txBody>
            <a:bodyPr/>
            <a:p/>
          </p:txBody>
        </p:sp>
        <p:sp>
          <p:nvSpPr>
            <p:cNvPr name="TextBox 5" id="5"/>
            <p:cNvSpPr txBox="true"/>
            <p:nvPr/>
          </p:nvSpPr>
          <p:spPr>
            <a:xfrm>
              <a:off x="76200" y="38100"/>
              <a:ext cx="660400" cy="698500"/>
            </a:xfrm>
            <a:prstGeom prst="rect">
              <a:avLst/>
            </a:prstGeom>
          </p:spPr>
          <p:txBody>
            <a:bodyPr anchor="ctr" rtlCol="false" tIns="190500" lIns="190500" bIns="190500" rIns="190500"/>
            <a:lstStyle/>
            <a:p>
              <a:pPr algn="ctr">
                <a:lnSpc>
                  <a:spcPts val="2800"/>
                </a:lnSpc>
              </a:pPr>
              <a:r>
                <a:rPr lang="en-US" sz="2000" spc="-110">
                  <a:solidFill>
                    <a:srgbClr val="EFEFEC"/>
                  </a:solidFill>
                  <a:latin typeface="Mukti"/>
                  <a:ea typeface="Mukti"/>
                  <a:cs typeface="Mukti"/>
                  <a:sym typeface="Mukti"/>
                </a:rPr>
                <a:t>30B RUNNING ACROSS THREE DEVICES, 18.6 GB POOLED</a:t>
              </a:r>
            </a:p>
          </p:txBody>
        </p:sp>
      </p:grpSp>
      <p:grpSp>
        <p:nvGrpSpPr>
          <p:cNvPr name="Group 6" id="6"/>
          <p:cNvGrpSpPr/>
          <p:nvPr/>
        </p:nvGrpSpPr>
        <p:grpSpPr>
          <a:xfrm rot="0">
            <a:off x="8741348" y="6497802"/>
            <a:ext cx="2760498" cy="276049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1DD"/>
            </a:solidFill>
            <a:ln w="9525" cap="sq">
              <a:solidFill>
                <a:srgbClr val="151213"/>
              </a:solidFill>
              <a:prstDash val="solid"/>
              <a:miter/>
            </a:ln>
          </p:spPr>
          <p:txBody>
            <a:bodyPr/>
            <a:p/>
          </p:txBody>
        </p:sp>
        <p:sp>
          <p:nvSpPr>
            <p:cNvPr name="TextBox 8" id="8"/>
            <p:cNvSpPr txBox="true"/>
            <p:nvPr/>
          </p:nvSpPr>
          <p:spPr>
            <a:xfrm>
              <a:off x="76200" y="38100"/>
              <a:ext cx="660400" cy="698500"/>
            </a:xfrm>
            <a:prstGeom prst="rect">
              <a:avLst/>
            </a:prstGeom>
          </p:spPr>
          <p:txBody>
            <a:bodyPr anchor="ctr" rtlCol="false" tIns="190500" lIns="190500" bIns="190500" rIns="190500"/>
            <a:lstStyle/>
            <a:p>
              <a:pPr algn="ctr">
                <a:lnSpc>
                  <a:spcPts val="2800"/>
                </a:lnSpc>
              </a:pPr>
              <a:r>
                <a:rPr lang="en-US" sz="2000" spc="-110">
                  <a:solidFill>
                    <a:srgbClr val="151213"/>
                  </a:solidFill>
                  <a:latin typeface="Mukti"/>
                  <a:ea typeface="Mukti"/>
                  <a:cs typeface="Mukti"/>
                  <a:sym typeface="Mukti"/>
                </a:rPr>
                <a:t>PHONES HOLD 9.6 GB OF IT, THE LAPTOP HOLDS THE HEAD</a:t>
              </a:r>
            </a:p>
          </p:txBody>
        </p:sp>
      </p:grpSp>
      <p:grpSp>
        <p:nvGrpSpPr>
          <p:cNvPr name="Group 9" id="9"/>
          <p:cNvGrpSpPr/>
          <p:nvPr/>
        </p:nvGrpSpPr>
        <p:grpSpPr>
          <a:xfrm rot="0">
            <a:off x="11892397" y="6497802"/>
            <a:ext cx="2760498" cy="276049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B2A4"/>
            </a:solidFill>
            <a:ln w="9525" cap="sq">
              <a:solidFill>
                <a:srgbClr val="151213"/>
              </a:solidFill>
              <a:prstDash val="solid"/>
              <a:miter/>
            </a:ln>
          </p:spPr>
          <p:txBody>
            <a:bodyPr/>
            <a:p/>
          </p:txBody>
        </p:sp>
        <p:sp>
          <p:nvSpPr>
            <p:cNvPr name="TextBox 11" id="11"/>
            <p:cNvSpPr txBox="true"/>
            <p:nvPr/>
          </p:nvSpPr>
          <p:spPr>
            <a:xfrm>
              <a:off x="76200" y="38100"/>
              <a:ext cx="660400" cy="698500"/>
            </a:xfrm>
            <a:prstGeom prst="rect">
              <a:avLst/>
            </a:prstGeom>
          </p:spPr>
          <p:txBody>
            <a:bodyPr anchor="ctr" rtlCol="false" tIns="190500" lIns="190500" bIns="190500" rIns="190500"/>
            <a:lstStyle/>
            <a:p>
              <a:pPr algn="ctr">
                <a:lnSpc>
                  <a:spcPts val="2800"/>
                </a:lnSpc>
              </a:pPr>
              <a:r>
                <a:rPr lang="en-US" sz="2000" spc="-110">
                  <a:solidFill>
                    <a:srgbClr val="EFEFEC"/>
                  </a:solidFill>
                  <a:latin typeface="Mukti"/>
                  <a:ea typeface="Mukti"/>
                  <a:cs typeface="Mukti"/>
                  <a:sym typeface="Mukti"/>
                </a:rPr>
                <a:t>READY IN 70 SECONDS, 6.6 TOKENS PER SECOND</a:t>
              </a:r>
            </a:p>
          </p:txBody>
        </p:sp>
      </p:grpSp>
      <p:grpSp>
        <p:nvGrpSpPr>
          <p:cNvPr name="Group 12" id="12"/>
          <p:cNvGrpSpPr/>
          <p:nvPr/>
        </p:nvGrpSpPr>
        <p:grpSpPr>
          <a:xfrm rot="0">
            <a:off x="15043447" y="6497802"/>
            <a:ext cx="2760498" cy="276049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1DD"/>
            </a:solidFill>
            <a:ln w="9525" cap="sq">
              <a:solidFill>
                <a:srgbClr val="151213"/>
              </a:solidFill>
              <a:prstDash val="solid"/>
              <a:miter/>
            </a:ln>
          </p:spPr>
          <p:txBody>
            <a:bodyPr/>
            <a:p/>
          </p:txBody>
        </p:sp>
        <p:sp>
          <p:nvSpPr>
            <p:cNvPr name="TextBox 14" id="14"/>
            <p:cNvSpPr txBox="true"/>
            <p:nvPr/>
          </p:nvSpPr>
          <p:spPr>
            <a:xfrm>
              <a:off x="76200" y="38100"/>
              <a:ext cx="660400" cy="698500"/>
            </a:xfrm>
            <a:prstGeom prst="rect">
              <a:avLst/>
            </a:prstGeom>
          </p:spPr>
          <p:txBody>
            <a:bodyPr anchor="ctr" rtlCol="false" tIns="190500" lIns="190500" bIns="190500" rIns="190500"/>
            <a:lstStyle/>
            <a:p>
              <a:pPr algn="ctr">
                <a:lnSpc>
                  <a:spcPts val="2800"/>
                </a:lnSpc>
              </a:pPr>
              <a:r>
                <a:rPr lang="en-US" sz="2000" spc="-110">
                  <a:solidFill>
                    <a:srgbClr val="151213"/>
                  </a:solidFill>
                  <a:latin typeface="Mukti"/>
                  <a:ea typeface="Mukti"/>
                  <a:cs typeface="Mukti"/>
                  <a:sym typeface="Mukti"/>
                </a:rPr>
                <a:t>4 KB CROSSES PER WORD, 18.6 GB NEVER MOVES</a:t>
              </a:r>
            </a:p>
          </p:txBody>
        </p:sp>
      </p:grpSp>
      <p:sp>
        <p:nvSpPr>
          <p:cNvPr name="TextBox 15" id="15"/>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MESH AI</a:t>
            </a:r>
          </a:p>
        </p:txBody>
      </p:sp>
      <p:sp>
        <p:nvSpPr>
          <p:cNvPr name="TextBox 16" id="16"/>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EFEFEC"/>
                </a:solidFill>
                <a:latin typeface="Mukti"/>
                <a:ea typeface="Mukti"/>
                <a:cs typeface="Mukti"/>
                <a:sym typeface="Mukti"/>
              </a:rPr>
              <a:t>IQOO HACKATHON 2026 · DEVELOPER TOOLS</a:t>
            </a:r>
          </a:p>
        </p:txBody>
      </p:sp>
      <p:sp>
        <p:nvSpPr>
          <p:cNvPr name="TextBox 17" id="17"/>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TEAM MAYNARDS</a:t>
            </a:r>
          </a:p>
        </p:txBody>
      </p:sp>
      <p:sp>
        <p:nvSpPr>
          <p:cNvPr name="TextBox 18" id="18"/>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EFEFEC"/>
                </a:solidFill>
                <a:latin typeface="Mukti"/>
                <a:ea typeface="Mukti"/>
                <a:cs typeface="Mukti"/>
                <a:sym typeface="Mukti"/>
              </a:rPr>
              <a:t>PRAJWAL GUNNALA · YUVA RAJ AMBATI</a:t>
            </a:r>
          </a:p>
        </p:txBody>
      </p:sp>
      <p:sp>
        <p:nvSpPr>
          <p:cNvPr name="AutoShape 19" id="19"/>
          <p:cNvSpPr/>
          <p:nvPr/>
        </p:nvSpPr>
        <p:spPr>
          <a:xfrm>
            <a:off x="-882858" y="492020"/>
            <a:ext cx="20053717" cy="0"/>
          </a:xfrm>
          <a:prstGeom prst="line">
            <a:avLst/>
          </a:prstGeom>
          <a:ln cap="flat" w="9525">
            <a:solidFill>
              <a:srgbClr val="EFEFEC"/>
            </a:solidFill>
            <a:prstDash val="solid"/>
            <a:headEnd type="none" len="sm" w="sm"/>
            <a:tailEnd type="none" len="sm" w="sm"/>
          </a:ln>
        </p:spPr>
        <p:txBody>
          <a:bodyPr/>
          <a:p/>
        </p:txBody>
      </p:sp>
      <p:sp>
        <p:nvSpPr>
          <p:cNvPr name="AutoShape 20" id="20"/>
          <p:cNvSpPr/>
          <p:nvPr/>
        </p:nvSpPr>
        <p:spPr>
          <a:xfrm>
            <a:off x="-882858" y="9818891"/>
            <a:ext cx="20053717" cy="0"/>
          </a:xfrm>
          <a:prstGeom prst="line">
            <a:avLst/>
          </a:prstGeom>
          <a:ln cap="flat" w="9525">
            <a:solidFill>
              <a:srgbClr val="E4E1DD"/>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grpSp>
        <p:nvGrpSpPr>
          <p:cNvPr name="Group 3" id="3"/>
          <p:cNvGrpSpPr/>
          <p:nvPr/>
        </p:nvGrpSpPr>
        <p:grpSpPr>
          <a:xfrm rot="0">
            <a:off x="10634102" y="1029098"/>
            <a:ext cx="7169842" cy="972367"/>
            <a:chOff x="0" y="0"/>
            <a:chExt cx="1888354" cy="256097"/>
          </a:xfrm>
        </p:grpSpPr>
        <p:sp>
          <p:nvSpPr>
            <p:cNvPr name="Freeform 4" id="4"/>
            <p:cNvSpPr/>
            <p:nvPr/>
          </p:nvSpPr>
          <p:spPr>
            <a:xfrm flipH="false" flipV="false" rot="0">
              <a:off x="0" y="0"/>
              <a:ext cx="1888354" cy="256097"/>
            </a:xfrm>
            <a:custGeom>
              <a:avLst/>
              <a:gdLst/>
              <a:ahLst/>
              <a:cxnLst/>
              <a:rect r="r" b="b" t="t" l="l"/>
              <a:pathLst>
                <a:path h="256097" w="1888354">
                  <a:moveTo>
                    <a:pt x="55069" y="0"/>
                  </a:moveTo>
                  <a:lnTo>
                    <a:pt x="1833284" y="0"/>
                  </a:lnTo>
                  <a:cubicBezTo>
                    <a:pt x="1863698" y="0"/>
                    <a:pt x="1888354" y="24655"/>
                    <a:pt x="1888354" y="55069"/>
                  </a:cubicBezTo>
                  <a:lnTo>
                    <a:pt x="1888354" y="201027"/>
                  </a:lnTo>
                  <a:cubicBezTo>
                    <a:pt x="1888354" y="231441"/>
                    <a:pt x="1863698" y="256097"/>
                    <a:pt x="1833284" y="256097"/>
                  </a:cubicBezTo>
                  <a:lnTo>
                    <a:pt x="55069" y="256097"/>
                  </a:lnTo>
                  <a:cubicBezTo>
                    <a:pt x="24655" y="256097"/>
                    <a:pt x="0" y="231441"/>
                    <a:pt x="0" y="201027"/>
                  </a:cubicBezTo>
                  <a:lnTo>
                    <a:pt x="0" y="55069"/>
                  </a:lnTo>
                  <a:cubicBezTo>
                    <a:pt x="0" y="24655"/>
                    <a:pt x="24655" y="0"/>
                    <a:pt x="55069" y="0"/>
                  </a:cubicBezTo>
                  <a:close/>
                </a:path>
              </a:pathLst>
            </a:custGeom>
            <a:solidFill>
              <a:srgbClr val="E4E1DD"/>
            </a:solidFill>
            <a:ln w="9525" cap="rnd">
              <a:solidFill>
                <a:srgbClr val="151213"/>
              </a:solidFill>
              <a:prstDash val="solid"/>
              <a:round/>
            </a:ln>
          </p:spPr>
          <p:txBody>
            <a:bodyPr/>
            <a:p/>
          </p:txBody>
        </p:sp>
        <p:sp>
          <p:nvSpPr>
            <p:cNvPr name="TextBox 5" id="5"/>
            <p:cNvSpPr txBox="true"/>
            <p:nvPr/>
          </p:nvSpPr>
          <p:spPr>
            <a:xfrm>
              <a:off x="0" y="-38100"/>
              <a:ext cx="1888354"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TEAM MAYNARDS</a:t>
              </a:r>
            </a:p>
          </p:txBody>
        </p:sp>
      </p:grpSp>
      <p:sp>
        <p:nvSpPr>
          <p:cNvPr name="TextBox 8" id="8"/>
          <p:cNvSpPr txBox="true"/>
          <p:nvPr/>
        </p:nvSpPr>
        <p:spPr>
          <a:xfrm rot="0">
            <a:off x="406295" y="1234090"/>
            <a:ext cx="6831958" cy="5203826"/>
          </a:xfrm>
          <a:prstGeom prst="rect">
            <a:avLst/>
          </a:prstGeom>
        </p:spPr>
        <p:txBody>
          <a:bodyPr anchor="t" rtlCol="false" tIns="0" lIns="0" bIns="0" rIns="0">
            <a:spAutoFit/>
          </a:bodyPr>
          <a:lstStyle/>
          <a:p>
            <a:pPr algn="l">
              <a:lnSpc>
                <a:spcPts val="20000"/>
              </a:lnSpc>
            </a:pPr>
            <a:r>
              <a:rPr lang="en-US" sz="20000" spc="-440">
                <a:solidFill>
                  <a:srgbClr val="151213"/>
                </a:solidFill>
                <a:latin typeface="Anton"/>
                <a:ea typeface="Anton"/>
                <a:cs typeface="Anton"/>
                <a:sym typeface="Anton"/>
              </a:rPr>
              <a:t>THANK</a:t>
            </a:r>
          </a:p>
          <a:p>
            <a:pPr algn="l">
              <a:lnSpc>
                <a:spcPts val="20000"/>
              </a:lnSpc>
            </a:pPr>
            <a:r>
              <a:rPr lang="en-US" sz="20000" spc="-440">
                <a:solidFill>
                  <a:srgbClr val="151213"/>
                </a:solidFill>
                <a:latin typeface="Anton"/>
                <a:ea typeface="Anton"/>
                <a:cs typeface="Anton"/>
                <a:sym typeface="Anton"/>
              </a:rPr>
              <a:t>YOU</a:t>
            </a:r>
          </a:p>
        </p:txBody>
      </p:sp>
      <p:sp>
        <p:nvSpPr>
          <p:cNvPr name="TextBox 9" id="9"/>
          <p:cNvSpPr txBox="true"/>
          <p:nvPr/>
        </p:nvSpPr>
        <p:spPr>
          <a:xfrm rot="0">
            <a:off x="10900594" y="2579759"/>
            <a:ext cx="4784764"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Prajwal Gunnala</a:t>
            </a:r>
          </a:p>
        </p:txBody>
      </p:sp>
      <p:sp>
        <p:nvSpPr>
          <p:cNvPr name="TextBox 10" id="10"/>
          <p:cNvSpPr txBox="true"/>
          <p:nvPr/>
        </p:nvSpPr>
        <p:spPr>
          <a:xfrm rot="0">
            <a:off x="11672327" y="3353189"/>
            <a:ext cx="4005121" cy="365125"/>
          </a:xfrm>
          <a:prstGeom prst="rect">
            <a:avLst/>
          </a:prstGeom>
        </p:spPr>
        <p:txBody>
          <a:bodyPr anchor="t" rtlCol="false" tIns="0" lIns="0" bIns="0" rIns="0">
            <a:spAutoFit/>
          </a:bodyPr>
          <a:lstStyle/>
          <a:p>
            <a:pPr algn="r">
              <a:lnSpc>
                <a:spcPts val="2749"/>
              </a:lnSpc>
            </a:pPr>
            <a:r>
              <a:rPr lang="en-US" sz="2499" spc="-137">
                <a:solidFill>
                  <a:srgbClr val="151213"/>
                </a:solidFill>
                <a:latin typeface="Public Sans"/>
                <a:ea typeface="Public Sans"/>
                <a:cs typeface="Public Sans"/>
                <a:sym typeface="Public Sans"/>
              </a:rPr>
              <a:t>github.com/prajwal-gunnala/maynards</a:t>
            </a:r>
          </a:p>
        </p:txBody>
      </p:sp>
      <p:sp>
        <p:nvSpPr>
          <p:cNvPr name="TextBox 13" id="13"/>
          <p:cNvSpPr txBox="true"/>
          <p:nvPr/>
        </p:nvSpPr>
        <p:spPr>
          <a:xfrm rot="0">
            <a:off x="10900594" y="4882991"/>
            <a:ext cx="4784764"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Yuva Raj Ambati</a:t>
            </a:r>
          </a:p>
        </p:txBody>
      </p:sp>
      <p:sp>
        <p:nvSpPr>
          <p:cNvPr name="TextBox 14" id="14"/>
          <p:cNvSpPr txBox="true"/>
          <p:nvPr/>
        </p:nvSpPr>
        <p:spPr>
          <a:xfrm rot="0">
            <a:off x="11672327" y="5656421"/>
            <a:ext cx="4005121" cy="365125"/>
          </a:xfrm>
          <a:prstGeom prst="rect">
            <a:avLst/>
          </a:prstGeom>
        </p:spPr>
        <p:txBody>
          <a:bodyPr anchor="t" rtlCol="false" tIns="0" lIns="0" bIns="0" rIns="0">
            <a:spAutoFit/>
          </a:bodyPr>
          <a:lstStyle/>
          <a:p>
            <a:pPr algn="r">
              <a:lnSpc>
                <a:spcPts val="2749"/>
              </a:lnSpc>
            </a:pPr>
            <a:r>
              <a:rPr lang="en-US" sz="2499" spc="-137">
                <a:solidFill>
                  <a:srgbClr val="151213"/>
                </a:solidFill>
                <a:latin typeface="Public Sans"/>
                <a:ea typeface="Public Sans"/>
                <a:cs typeface="Public Sans"/>
                <a:sym typeface="Public Sans"/>
              </a:rPr>
              <a:t>every number in this deck is in that repository</a:t>
            </a:r>
          </a:p>
        </p:txBody>
      </p:sp>
      <p:sp>
        <p:nvSpPr>
          <p:cNvPr name="TextBox 19" id="19"/>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20" id="20"/>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21" id="21"/>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22" id="22"/>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23" id="23"/>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24" id="24"/>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FEFEC"/>
        </a:solidFill>
      </p:bgPr>
    </p:bg>
    <p:spTree>
      <p:nvGrpSpPr>
        <p:cNvPr id="1" name=""/>
        <p:cNvGrpSpPr/>
        <p:nvPr/>
      </p:nvGrpSpPr>
      <p:grpSpPr/>
      <p:sp>
        <p:nvSpPr>
          <p:cNvPr name="TextBox 22" id="22"/>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23" id="23"/>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24" id="24"/>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25" id="25"/>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TextBox 2" id="2"/>
          <p:cNvSpPr txBox="true"/>
          <p:nvPr/>
        </p:nvSpPr>
        <p:spPr>
          <a:xfrm rot="0">
            <a:off x="475488" y="868680"/>
            <a:ext cx="16852392" cy="1188720"/>
          </a:xfrm>
          <a:prstGeom prst="rect">
            <a:avLst/>
          </a:prstGeom>
        </p:spPr>
        <p:txBody>
          <a:bodyPr anchor="t" rtlCol="false" tIns="0" lIns="0" bIns="0" rIns="0" wrap="square">
            <a:spAutoFit/>
          </a:bodyPr>
          <a:lstStyle/>
          <a:p>
            <a:pPr algn="l">
              <a:lnSpc>
                <a:spcPts val="8800"/>
              </a:lnSpc>
              <a:defRPr sz="8800"/>
            </a:pPr>
            <a:r>
              <a:rPr lang="en-US" sz="8800" spc="-150">
                <a:solidFill>
                  <a:srgbClr val="151213"/>
                </a:solidFill>
                <a:latin typeface="Anton"/>
                <a:ea typeface="Anton"/>
                <a:cs typeface="Anton"/>
                <a:sym typeface="Anton"/>
              </a:rPr>
              <a:t>MILESTONES</a:t>
            </a:r>
          </a:p>
        </p:txBody>
      </p:sp>
      <p:pic>
        <p:nvPicPr>
          <p:cNvPr id="26" name="Picture 25" descr="milestones.png"/>
          <p:cNvPicPr>
            <a:picLocks noChangeAspect="1"/>
          </p:cNvPicPr>
          <p:nvPr/>
        </p:nvPicPr>
        <p:blipFill>
          <a:blip r:embed="rId2"/>
          <a:stretch>
            <a:fillRect/>
          </a:stretch>
        </p:blipFill>
        <p:spPr>
          <a:xfrm>
            <a:off x="475488" y="2240280"/>
            <a:ext cx="17327880" cy="7223760"/>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FEFEC"/>
        </a:solidFill>
      </p:bgPr>
    </p:bg>
    <p:spTree>
      <p:nvGrpSpPr>
        <p:cNvPr id="1" name=""/>
        <p:cNvGrpSpPr/>
        <p:nvPr/>
      </p:nvGrpSpPr>
      <p:grpSpPr/>
      <p:sp>
        <p:nvSpPr>
          <p:cNvPr name="TextBox 22" id="22"/>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23" id="23"/>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24" id="24"/>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25" id="25"/>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TextBox 2" id="2"/>
          <p:cNvSpPr txBox="true"/>
          <p:nvPr/>
        </p:nvSpPr>
        <p:spPr>
          <a:xfrm rot="0">
            <a:off x="475488" y="868680"/>
            <a:ext cx="16852392" cy="1188720"/>
          </a:xfrm>
          <a:prstGeom prst="rect">
            <a:avLst/>
          </a:prstGeom>
        </p:spPr>
        <p:txBody>
          <a:bodyPr anchor="t" rtlCol="false" tIns="0" lIns="0" bIns="0" rIns="0" wrap="square">
            <a:spAutoFit/>
          </a:bodyPr>
          <a:lstStyle/>
          <a:p>
            <a:pPr algn="l">
              <a:lnSpc>
                <a:spcPts val="8800"/>
              </a:lnSpc>
              <a:defRPr sz="8800"/>
            </a:pPr>
            <a:r>
              <a:rPr lang="en-US" sz="8800" spc="-150">
                <a:solidFill>
                  <a:srgbClr val="151213"/>
                </a:solidFill>
                <a:latin typeface="Anton"/>
                <a:ea typeface="Anton"/>
                <a:cs typeface="Anton"/>
                <a:sym typeface="Anton"/>
              </a:rPr>
              <a:t>WHERE WE STAND</a:t>
            </a:r>
          </a:p>
        </p:txBody>
      </p:sp>
      <p:pic>
        <p:nvPicPr>
          <p:cNvPr id="26" name="Picture 25" descr="standing.png"/>
          <p:cNvPicPr>
            <a:picLocks noChangeAspect="1"/>
          </p:cNvPicPr>
          <p:nvPr/>
        </p:nvPicPr>
        <p:blipFill>
          <a:blip r:embed="rId2"/>
          <a:stretch>
            <a:fillRect/>
          </a:stretch>
        </p:blipFill>
        <p:spPr>
          <a:xfrm>
            <a:off x="475488" y="2103120"/>
            <a:ext cx="17327880" cy="7589520"/>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DAHWSf4tPws</dc:identifier>
  <dcterms:modified xsi:type="dcterms:W3CDTF">2011-08-01T06:04:30Z</dcterms:modified>
  <cp:revision>1</cp:revision>
  <dc:title>maynards</dc:title>
</cp:coreProperties>
</file>